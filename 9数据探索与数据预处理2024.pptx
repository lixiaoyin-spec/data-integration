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394" r:id="rId3"/>
    <p:sldId id="1712" r:id="rId4"/>
    <p:sldId id="257" r:id="rId5"/>
    <p:sldId id="1714" r:id="rId6"/>
    <p:sldId id="1713" r:id="rId7"/>
    <p:sldId id="1715" r:id="rId8"/>
    <p:sldId id="1708" r:id="rId9"/>
    <p:sldId id="1716" r:id="rId10"/>
    <p:sldId id="1720" r:id="rId11"/>
    <p:sldId id="1749" r:id="rId12"/>
    <p:sldId id="1721" r:id="rId13"/>
    <p:sldId id="1722" r:id="rId14"/>
    <p:sldId id="1717" r:id="rId15"/>
    <p:sldId id="1718" r:id="rId16"/>
    <p:sldId id="1725" r:id="rId17"/>
    <p:sldId id="1726" r:id="rId18"/>
    <p:sldId id="1723" r:id="rId19"/>
    <p:sldId id="1727" r:id="rId20"/>
    <p:sldId id="1731" r:id="rId21"/>
    <p:sldId id="1732" r:id="rId22"/>
    <p:sldId id="1750" r:id="rId23"/>
    <p:sldId id="1733" r:id="rId24"/>
    <p:sldId id="267" r:id="rId25"/>
    <p:sldId id="1734" r:id="rId26"/>
    <p:sldId id="1735" r:id="rId27"/>
    <p:sldId id="1724" r:id="rId28"/>
    <p:sldId id="1736" r:id="rId29"/>
    <p:sldId id="1737" r:id="rId30"/>
    <p:sldId id="270" r:id="rId31"/>
    <p:sldId id="1738" r:id="rId32"/>
    <p:sldId id="1739" r:id="rId33"/>
    <p:sldId id="1728" r:id="rId34"/>
    <p:sldId id="1740" r:id="rId35"/>
    <p:sldId id="1741" r:id="rId36"/>
    <p:sldId id="1742" r:id="rId37"/>
    <p:sldId id="1743" r:id="rId38"/>
    <p:sldId id="1744" r:id="rId39"/>
    <p:sldId id="1745" r:id="rId40"/>
    <p:sldId id="1746" r:id="rId41"/>
    <p:sldId id="1747" r:id="rId42"/>
    <p:sldId id="1748" r:id="rId43"/>
    <p:sldId id="271" r:id="rId44"/>
    <p:sldId id="1706" r:id="rId45"/>
    <p:sldId id="268" r:id="rId46"/>
    <p:sldId id="1704" r:id="rId47"/>
    <p:sldId id="1705" r:id="rId48"/>
    <p:sldId id="1710" r:id="rId49"/>
    <p:sldId id="1707"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2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F8AE07-971D-4EDB-9DAA-4058B9F7A04A}" type="datetimeFigureOut">
              <a:rPr lang="zh-CN" altLang="en-US" smtClean="0"/>
              <a:t>2024/5/28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6F2AFB-A386-4BE2-A2D2-87324AF64A45}" type="slidenum">
              <a:rPr lang="zh-CN" altLang="en-US" smtClean="0"/>
              <a:t>‹#›</a:t>
            </a:fld>
            <a:endParaRPr lang="zh-CN" altLang="en-US"/>
          </a:p>
        </p:txBody>
      </p:sp>
    </p:spTree>
    <p:extLst>
      <p:ext uri="{BB962C8B-B14F-4D97-AF65-F5344CB8AC3E}">
        <p14:creationId xmlns:p14="http://schemas.microsoft.com/office/powerpoint/2010/main" val="554566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乙方在开始真正的数据挖掘工作之前，需要和需求方（甲方）反复确认，预测结果会怎么在业务中被使用，甲方期待获得怎样的效果（通常是这个使用会不会对业务产生提升，必如银行信贷违约预测）。如果你发现提升本身是很难的，那这本身就是个伪需求。然后你还需要思考，现在没有用机器学习的业务，它是用了什么方法和数据，现在的方法和数据有什么缺陷，哪些是机器学习可以帮到的。</a:t>
            </a:r>
            <a:endParaRPr lang="zh-CN" altLang="en-US" dirty="0"/>
          </a:p>
        </p:txBody>
      </p:sp>
      <p:sp>
        <p:nvSpPr>
          <p:cNvPr id="4" name="灯片编号占位符 3"/>
          <p:cNvSpPr>
            <a:spLocks noGrp="1"/>
          </p:cNvSpPr>
          <p:nvPr>
            <p:ph type="sldNum" sz="quarter" idx="10"/>
          </p:nvPr>
        </p:nvSpPr>
        <p:spPr/>
        <p:txBody>
          <a:bodyPr/>
          <a:lstStyle/>
          <a:p>
            <a:fld id="{9F382A82-EC4B-4A04-9C3B-9FD8FA144028}" type="slidenum">
              <a:rPr lang="zh-CN" altLang="en-US" smtClean="0"/>
              <a:t>2</a:t>
            </a:fld>
            <a:endParaRPr lang="zh-CN" altLang="en-US"/>
          </a:p>
        </p:txBody>
      </p:sp>
    </p:spTree>
    <p:extLst>
      <p:ext uri="{BB962C8B-B14F-4D97-AF65-F5344CB8AC3E}">
        <p14:creationId xmlns:p14="http://schemas.microsoft.com/office/powerpoint/2010/main" val="2315939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。最简单的多变量探索就是分析 </a:t>
            </a:r>
            <a:r>
              <a:rPr lang="en-US" altLang="zh-CN" sz="1200" dirty="0"/>
              <a:t>2 </a:t>
            </a:r>
            <a:r>
              <a:rPr lang="zh-CN" altLang="en-US" sz="1200" dirty="0"/>
              <a:t>个变量之间的相关性。在单变量探索中不同类型的变量探索方法是不一样的，例如类别型变量适合做频数统计，而数值型变量适合做描述性分析</a:t>
            </a:r>
            <a:endParaRPr lang="zh-CN" altLang="en-US" dirty="0"/>
          </a:p>
        </p:txBody>
      </p:sp>
      <p:sp>
        <p:nvSpPr>
          <p:cNvPr id="4" name="灯片编号占位符 3"/>
          <p:cNvSpPr>
            <a:spLocks noGrp="1"/>
          </p:cNvSpPr>
          <p:nvPr>
            <p:ph type="sldNum" sz="quarter" idx="5"/>
          </p:nvPr>
        </p:nvSpPr>
        <p:spPr/>
        <p:txBody>
          <a:bodyPr/>
          <a:lstStyle/>
          <a:p>
            <a:fld id="{4A6F2AFB-A386-4BE2-A2D2-87324AF64A45}" type="slidenum">
              <a:rPr lang="zh-CN" altLang="en-US" smtClean="0"/>
              <a:t>18</a:t>
            </a:fld>
            <a:endParaRPr lang="zh-CN" altLang="en-US"/>
          </a:p>
        </p:txBody>
      </p:sp>
    </p:spTree>
    <p:extLst>
      <p:ext uri="{BB962C8B-B14F-4D97-AF65-F5344CB8AC3E}">
        <p14:creationId xmlns:p14="http://schemas.microsoft.com/office/powerpoint/2010/main" val="2392755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平均数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反映了一组数据的平均大小</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常用来一代表数据的总体 “平均水平”</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中位数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像一条分界线</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将数据分成前半部分和后半部分</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因此用来代表一组数据的“中等水平”</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众数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反映了出现次数最多的数据</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用来代表一组数据的“多数水平”</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t>25</a:t>
            </a:fld>
            <a:endParaRPr lang="zh-CN" altLang="en-US"/>
          </a:p>
        </p:txBody>
      </p:sp>
    </p:spTree>
    <p:extLst>
      <p:ext uri="{BB962C8B-B14F-4D97-AF65-F5344CB8AC3E}">
        <p14:creationId xmlns:p14="http://schemas.microsoft.com/office/powerpoint/2010/main" val="3838617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FE8F6-BBF0-4885-A586-545BD776B3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B683597-DDFA-4ED2-A904-89FE1AFCD4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93B7A2F-F66C-4880-8E32-82DB44DED720}"/>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5" name="页脚占位符 4">
            <a:extLst>
              <a:ext uri="{FF2B5EF4-FFF2-40B4-BE49-F238E27FC236}">
                <a16:creationId xmlns:a16="http://schemas.microsoft.com/office/drawing/2014/main" id="{6279AD96-D804-48BE-AE6D-E2B964FF44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57067FA-4ED1-4093-A3CE-B7D267471189}"/>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2517218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E90D2A-DB5A-49D0-BE80-907EB6711C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116FF58-3CF2-4E8B-BC6B-688E87FB244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047BB16-6B5B-4FBB-8E70-272E3E3BBB57}"/>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5" name="页脚占位符 4">
            <a:extLst>
              <a:ext uri="{FF2B5EF4-FFF2-40B4-BE49-F238E27FC236}">
                <a16:creationId xmlns:a16="http://schemas.microsoft.com/office/drawing/2014/main" id="{A7E0994F-E76B-4307-91B9-9B0BC0DF56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985F6EF-A05B-4954-AB6D-AB31985BC5A1}"/>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1213300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DED555-EDF1-4B11-9963-D517D0B3114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CB95755-7B3E-4E0B-8186-CB2CAC816C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E097B0A-468E-4684-B198-9DA06AC6DE62}"/>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5" name="页脚占位符 4">
            <a:extLst>
              <a:ext uri="{FF2B5EF4-FFF2-40B4-BE49-F238E27FC236}">
                <a16:creationId xmlns:a16="http://schemas.microsoft.com/office/drawing/2014/main" id="{DC90D81F-10BE-4D1F-8919-31EEF1BB4A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85AB346-DE1F-478B-B649-36E8F9C45FB5}"/>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268373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827C38-159C-456B-9C73-D0B1E27DE2E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50D4B53-76D9-4752-B6D7-514581ACDD4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6BA97F7-8657-4E57-B721-8A2B9CDB90E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DF23B16-8EAD-49B0-90BA-30CB97E1DD8B}"/>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6" name="页脚占位符 5">
            <a:extLst>
              <a:ext uri="{FF2B5EF4-FFF2-40B4-BE49-F238E27FC236}">
                <a16:creationId xmlns:a16="http://schemas.microsoft.com/office/drawing/2014/main" id="{BABCCB38-6EC2-4645-A1CD-4CB7AAA35B8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9A3C02D-466C-4952-97DB-F99D0D81C7DB}"/>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3199415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A75CC1-6738-4D77-A62A-A454A46A0EB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57C4AA5-0EAB-47FB-A0EA-AF6E755402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704E1C9-AF4E-4D6C-A5A7-F16C73E8054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7F6A091-CFB7-4EDD-AF9D-8995813BEB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83DF477-D2CB-493E-8FCB-89766EA6654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8CC73B3-5068-4121-9D7E-F39C06A771E9}"/>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8" name="页脚占位符 7">
            <a:extLst>
              <a:ext uri="{FF2B5EF4-FFF2-40B4-BE49-F238E27FC236}">
                <a16:creationId xmlns:a16="http://schemas.microsoft.com/office/drawing/2014/main" id="{531495A7-C9D4-42E8-8132-9B586F2406E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DA1EDB2-3C0A-4F43-A27E-E97B26714A9C}"/>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1550627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029BB8-78F2-4301-A575-5CE5259426D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E4A68C0-B26A-4E57-8268-3C1DFA253D65}"/>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4" name="页脚占位符 3">
            <a:extLst>
              <a:ext uri="{FF2B5EF4-FFF2-40B4-BE49-F238E27FC236}">
                <a16:creationId xmlns:a16="http://schemas.microsoft.com/office/drawing/2014/main" id="{73CC19F1-2556-4C7A-B0D9-7C398E68292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3F3F5A6-A654-40EE-9B3E-C51A9419D8EA}"/>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3958411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4A647F2-530A-40E0-BE1F-2CC93F0DFB7D}"/>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3" name="页脚占位符 2">
            <a:extLst>
              <a:ext uri="{FF2B5EF4-FFF2-40B4-BE49-F238E27FC236}">
                <a16:creationId xmlns:a16="http://schemas.microsoft.com/office/drawing/2014/main" id="{E53EFA37-A334-42D8-AAC7-091ED3FB153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3FEBF66-265F-4A9D-B3DC-87ED9EC91B36}"/>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86523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17354C-A873-4BBE-89F1-85F986A2EBD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1FD4E8D-C657-4EB4-9D62-6A9C3F723D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A2F77FE-F689-4415-A4F7-26889D7932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C50A256-061C-4530-9C8F-D96D13537660}"/>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6" name="页脚占位符 5">
            <a:extLst>
              <a:ext uri="{FF2B5EF4-FFF2-40B4-BE49-F238E27FC236}">
                <a16:creationId xmlns:a16="http://schemas.microsoft.com/office/drawing/2014/main" id="{0F608405-963F-4693-929A-49D09081E9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03C039E-7145-4661-A954-1804E315288C}"/>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2983254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48E166-80D1-481C-9DBC-82D118B30B3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AA2656F-D630-4078-B1F6-9DF3DE8B5B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E0BB6E9-72AC-4A20-9DCB-8462008CC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1F8F91C-DF71-42DF-85E3-3B38740FCE39}"/>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6" name="页脚占位符 5">
            <a:extLst>
              <a:ext uri="{FF2B5EF4-FFF2-40B4-BE49-F238E27FC236}">
                <a16:creationId xmlns:a16="http://schemas.microsoft.com/office/drawing/2014/main" id="{AA4BFFFA-1B9B-4401-901F-BE291668F6C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8A2567-518D-46E8-AFE6-36AB2627293D}"/>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454183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7A082-C796-458E-9B30-19808799D4C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66AEC2E-8B47-4DB0-84F8-3F425071397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AEE32DF-56CF-4DD4-8894-5F11826EAC55}"/>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5" name="页脚占位符 4">
            <a:extLst>
              <a:ext uri="{FF2B5EF4-FFF2-40B4-BE49-F238E27FC236}">
                <a16:creationId xmlns:a16="http://schemas.microsoft.com/office/drawing/2014/main" id="{184D4096-53D7-494D-85F1-074DEF207C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819860B-42A1-4D0C-B3DA-A07FF5379390}"/>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3977250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AF2AEA7-893E-451A-A231-2CC7F8FD6CC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62ED114-86A1-44C8-8E6F-06481D451F6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06807B0-7F00-4F56-BB18-92BE3816BBC5}"/>
              </a:ext>
            </a:extLst>
          </p:cNvPr>
          <p:cNvSpPr>
            <a:spLocks noGrp="1"/>
          </p:cNvSpPr>
          <p:nvPr>
            <p:ph type="dt" sz="half" idx="10"/>
          </p:nvPr>
        </p:nvSpPr>
        <p:spPr/>
        <p:txBody>
          <a:bodyPr/>
          <a:lstStyle/>
          <a:p>
            <a:fld id="{C9A01423-0DDC-4AA2-94A3-3598A5FB1B83}" type="datetimeFigureOut">
              <a:rPr lang="zh-CN" altLang="en-US" smtClean="0"/>
              <a:t>2024/5/28</a:t>
            </a:fld>
            <a:endParaRPr lang="zh-CN" altLang="en-US"/>
          </a:p>
        </p:txBody>
      </p:sp>
      <p:sp>
        <p:nvSpPr>
          <p:cNvPr id="5" name="页脚占位符 4">
            <a:extLst>
              <a:ext uri="{FF2B5EF4-FFF2-40B4-BE49-F238E27FC236}">
                <a16:creationId xmlns:a16="http://schemas.microsoft.com/office/drawing/2014/main" id="{A72991C2-B8E7-46B0-81B0-A739D526355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6ADD1C-2BAA-4244-BEBB-8DDB703FCD6C}"/>
              </a:ext>
            </a:extLst>
          </p:cNvPr>
          <p:cNvSpPr>
            <a:spLocks noGrp="1"/>
          </p:cNvSpPr>
          <p:nvPr>
            <p:ph type="sldNum" sz="quarter" idx="12"/>
          </p:nvPr>
        </p:nvSpPr>
        <p:spPr/>
        <p:txBody>
          <a:body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3442664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06B650D-ACB9-4D13-906C-3D838FAB2A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B94050E-7CBB-4FC8-A2D9-F03D74D752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136E1B8-2A3E-4C16-ADB6-6A81D8C87B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A01423-0DDC-4AA2-94A3-3598A5FB1B83}" type="datetimeFigureOut">
              <a:rPr lang="zh-CN" altLang="en-US" smtClean="0"/>
              <a:t>2024/5/28</a:t>
            </a:fld>
            <a:endParaRPr lang="zh-CN" altLang="en-US"/>
          </a:p>
        </p:txBody>
      </p:sp>
      <p:sp>
        <p:nvSpPr>
          <p:cNvPr id="5" name="页脚占位符 4">
            <a:extLst>
              <a:ext uri="{FF2B5EF4-FFF2-40B4-BE49-F238E27FC236}">
                <a16:creationId xmlns:a16="http://schemas.microsoft.com/office/drawing/2014/main" id="{4C1E3ABD-9E14-47E1-96E3-2EE421A3F5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95CC829-5C90-4FF7-9D5C-37531CBEB6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4C85C9-9B36-45D3-98AB-0F173E4FA050}" type="slidenum">
              <a:rPr lang="zh-CN" altLang="en-US" smtClean="0"/>
              <a:t>‹#›</a:t>
            </a:fld>
            <a:endParaRPr lang="zh-CN" altLang="en-US"/>
          </a:p>
        </p:txBody>
      </p:sp>
    </p:spTree>
    <p:extLst>
      <p:ext uri="{BB962C8B-B14F-4D97-AF65-F5344CB8AC3E}">
        <p14:creationId xmlns:p14="http://schemas.microsoft.com/office/powerpoint/2010/main" val="1343505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4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1892F9-5AFE-4E31-86C9-27B3F00DDE48}"/>
              </a:ext>
            </a:extLst>
          </p:cNvPr>
          <p:cNvSpPr>
            <a:spLocks noGrp="1"/>
          </p:cNvSpPr>
          <p:nvPr>
            <p:ph type="ctrTitle"/>
          </p:nvPr>
        </p:nvSpPr>
        <p:spPr/>
        <p:txBody>
          <a:bodyPr/>
          <a:lstStyle/>
          <a:p>
            <a:r>
              <a:rPr lang="zh-CN" altLang="en-US" dirty="0"/>
              <a:t>数据探索与预处理</a:t>
            </a:r>
          </a:p>
        </p:txBody>
      </p:sp>
      <p:sp>
        <p:nvSpPr>
          <p:cNvPr id="3" name="副标题 2">
            <a:extLst>
              <a:ext uri="{FF2B5EF4-FFF2-40B4-BE49-F238E27FC236}">
                <a16:creationId xmlns:a16="http://schemas.microsoft.com/office/drawing/2014/main" id="{AE0819D9-F804-479F-ADEF-B34952A2DFE5}"/>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96594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大数据分析流程</a:t>
            </a:r>
          </a:p>
        </p:txBody>
      </p:sp>
      <p:pic>
        <p:nvPicPr>
          <p:cNvPr id="6" name="图片 5">
            <a:extLst>
              <a:ext uri="{FF2B5EF4-FFF2-40B4-BE49-F238E27FC236}">
                <a16:creationId xmlns:a16="http://schemas.microsoft.com/office/drawing/2014/main" id="{0C1784BA-CCE3-4603-89A5-25DCE217B63B}"/>
              </a:ext>
            </a:extLst>
          </p:cNvPr>
          <p:cNvPicPr>
            <a:picLocks noChangeAspect="1"/>
          </p:cNvPicPr>
          <p:nvPr/>
        </p:nvPicPr>
        <p:blipFill>
          <a:blip r:embed="rId3"/>
          <a:stretch>
            <a:fillRect/>
          </a:stretch>
        </p:blipFill>
        <p:spPr>
          <a:xfrm>
            <a:off x="838200" y="1385888"/>
            <a:ext cx="10515600" cy="4962773"/>
          </a:xfrm>
          <a:prstGeom prst="rect">
            <a:avLst/>
          </a:prstGeom>
        </p:spPr>
      </p:pic>
    </p:spTree>
    <p:extLst>
      <p:ext uri="{BB962C8B-B14F-4D97-AF65-F5344CB8AC3E}">
        <p14:creationId xmlns:p14="http://schemas.microsoft.com/office/powerpoint/2010/main" val="3536099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F6B3E5-563C-4108-931B-1894A9EAE195}"/>
              </a:ext>
            </a:extLst>
          </p:cNvPr>
          <p:cNvSpPr>
            <a:spLocks noGrp="1"/>
          </p:cNvSpPr>
          <p:nvPr>
            <p:ph type="title"/>
          </p:nvPr>
        </p:nvSpPr>
        <p:spPr/>
        <p:txBody>
          <a:bodyPr/>
          <a:lstStyle/>
          <a:p>
            <a:r>
              <a:rPr lang="zh-CN" altLang="en-US" dirty="0"/>
              <a:t>数据质量意义</a:t>
            </a:r>
          </a:p>
        </p:txBody>
      </p:sp>
      <p:sp>
        <p:nvSpPr>
          <p:cNvPr id="3" name="内容占位符 2">
            <a:extLst>
              <a:ext uri="{FF2B5EF4-FFF2-40B4-BE49-F238E27FC236}">
                <a16:creationId xmlns:a16="http://schemas.microsoft.com/office/drawing/2014/main" id="{0A9D9C4E-1556-4C5D-858A-61D519D094F4}"/>
              </a:ext>
            </a:extLst>
          </p:cNvPr>
          <p:cNvSpPr>
            <a:spLocks noGrp="1"/>
          </p:cNvSpPr>
          <p:nvPr>
            <p:ph idx="1"/>
          </p:nvPr>
        </p:nvSpPr>
        <p:spPr/>
        <p:txBody>
          <a:bodyPr/>
          <a:lstStyle/>
          <a:p>
            <a:r>
              <a:rPr lang="zh-CN" altLang="en-US" dirty="0"/>
              <a:t>做机器学习第一件事情就是 理解数据，数据是机器学习之本，没有数据再好的算法也出不来效果</a:t>
            </a:r>
            <a:endParaRPr lang="en-US" altLang="zh-CN" dirty="0"/>
          </a:p>
          <a:p>
            <a:r>
              <a:rPr lang="zh-CN" altLang="en-US" dirty="0"/>
              <a:t>人工智能工作者达</a:t>
            </a:r>
            <a:r>
              <a:rPr lang="en-US" altLang="zh-CN" dirty="0"/>
              <a:t>80%</a:t>
            </a:r>
            <a:r>
              <a:rPr lang="zh-CN" altLang="en-US" dirty="0"/>
              <a:t>左右的时间在数据的获取、清洗、转换与处理及特征工程的提取上</a:t>
            </a:r>
            <a:endParaRPr lang="en-US" altLang="zh-CN" dirty="0"/>
          </a:p>
          <a:p>
            <a:r>
              <a:rPr lang="zh-CN" altLang="en-US" dirty="0"/>
              <a:t>人工智能行业流传这么一句话：数据决定了模型的上限，算法只不过是无限逼近这个上限而已</a:t>
            </a:r>
          </a:p>
        </p:txBody>
      </p:sp>
    </p:spTree>
    <p:extLst>
      <p:ext uri="{BB962C8B-B14F-4D97-AF65-F5344CB8AC3E}">
        <p14:creationId xmlns:p14="http://schemas.microsoft.com/office/powerpoint/2010/main" val="1623843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65DF88-218E-4B73-8BAE-E1F9A1403D88}"/>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C1B8992D-ACC8-41B4-8001-3A6559455B1B}"/>
              </a:ext>
            </a:extLst>
          </p:cNvPr>
          <p:cNvSpPr>
            <a:spLocks noGrp="1"/>
          </p:cNvSpPr>
          <p:nvPr>
            <p:ph idx="1"/>
          </p:nvPr>
        </p:nvSpPr>
        <p:spPr>
          <a:xfrm>
            <a:off x="838200" y="2370221"/>
            <a:ext cx="10515600" cy="3806742"/>
          </a:xfrm>
        </p:spPr>
        <p:txBody>
          <a:bodyPr/>
          <a:lstStyle/>
          <a:p>
            <a:r>
              <a:rPr lang="zh-CN" altLang="en-US" dirty="0">
                <a:solidFill>
                  <a:srgbClr val="FF0000"/>
                </a:solidFill>
              </a:rPr>
              <a:t>数据理解</a:t>
            </a:r>
            <a:endParaRPr lang="en-US" altLang="zh-CN" dirty="0">
              <a:solidFill>
                <a:srgbClr val="FF0000"/>
              </a:solidFill>
            </a:endParaRPr>
          </a:p>
          <a:p>
            <a:r>
              <a:rPr lang="zh-CN" altLang="en-US" dirty="0"/>
              <a:t>数据探索</a:t>
            </a:r>
            <a:endParaRPr lang="en-US" altLang="zh-CN" dirty="0"/>
          </a:p>
          <a:p>
            <a:r>
              <a:rPr lang="zh-CN" altLang="en-US" dirty="0"/>
              <a:t>数据预处理</a:t>
            </a:r>
            <a:endParaRPr lang="en-US" altLang="zh-CN" dirty="0"/>
          </a:p>
        </p:txBody>
      </p:sp>
    </p:spTree>
    <p:extLst>
      <p:ext uri="{BB962C8B-B14F-4D97-AF65-F5344CB8AC3E}">
        <p14:creationId xmlns:p14="http://schemas.microsoft.com/office/powerpoint/2010/main" val="2791205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92D7-F79F-4C4E-B8BC-72518E595A39}"/>
              </a:ext>
            </a:extLst>
          </p:cNvPr>
          <p:cNvSpPr>
            <a:spLocks noGrp="1"/>
          </p:cNvSpPr>
          <p:nvPr>
            <p:ph type="title"/>
          </p:nvPr>
        </p:nvSpPr>
        <p:spPr/>
        <p:txBody>
          <a:bodyPr/>
          <a:lstStyle/>
          <a:p>
            <a:r>
              <a:rPr lang="zh-CN" altLang="en-US" dirty="0"/>
              <a:t>案例说明</a:t>
            </a:r>
          </a:p>
        </p:txBody>
      </p:sp>
      <p:sp>
        <p:nvSpPr>
          <p:cNvPr id="3" name="内容占位符 2">
            <a:extLst>
              <a:ext uri="{FF2B5EF4-FFF2-40B4-BE49-F238E27FC236}">
                <a16:creationId xmlns:a16="http://schemas.microsoft.com/office/drawing/2014/main" id="{9A97E189-819A-4D44-98EA-712F25E53957}"/>
              </a:ext>
            </a:extLst>
          </p:cNvPr>
          <p:cNvSpPr>
            <a:spLocks noGrp="1"/>
          </p:cNvSpPr>
          <p:nvPr>
            <p:ph idx="1"/>
          </p:nvPr>
        </p:nvSpPr>
        <p:spPr/>
        <p:txBody>
          <a:bodyPr/>
          <a:lstStyle/>
          <a:p>
            <a:r>
              <a:rPr lang="zh-CN" altLang="en-US" dirty="0"/>
              <a:t>泰坦尼克号幸存者预测分析</a:t>
            </a:r>
            <a:endParaRPr lang="en-US" altLang="zh-CN" dirty="0"/>
          </a:p>
          <a:p>
            <a:pPr lvl="1"/>
            <a:r>
              <a:rPr lang="zh-CN" altLang="en-US" dirty="0"/>
              <a:t>著名的数据科学竞赛平台</a:t>
            </a:r>
            <a:r>
              <a:rPr lang="en-US" altLang="zh-CN" dirty="0"/>
              <a:t>Kaggle</a:t>
            </a:r>
          </a:p>
          <a:p>
            <a:pPr lvl="1"/>
            <a:r>
              <a:rPr lang="zh-CN" altLang="en-US" dirty="0"/>
              <a:t>非常适合机器学习练手的赛题</a:t>
            </a:r>
            <a:endParaRPr lang="en-US" altLang="zh-CN" dirty="0"/>
          </a:p>
          <a:p>
            <a:r>
              <a:rPr lang="zh-CN" altLang="en-US" dirty="0"/>
              <a:t>通过对训练数据集的学习来构建一个分 类预测模型</a:t>
            </a:r>
            <a:endParaRPr lang="en-US" altLang="zh-CN" dirty="0"/>
          </a:p>
          <a:p>
            <a:pPr lvl="1"/>
            <a:r>
              <a:rPr lang="zh-CN" altLang="en-US" dirty="0"/>
              <a:t>比赛提供了 </a:t>
            </a:r>
            <a:r>
              <a:rPr lang="en-US" altLang="zh-CN" dirty="0"/>
              <a:t>891 </a:t>
            </a:r>
            <a:r>
              <a:rPr lang="zh-CN" altLang="en-US" dirty="0"/>
              <a:t>名泰坦尼克号的乘客 数据，包含乘客的姓名，性别，年龄，客 舱等级等信息，乘客是否生还</a:t>
            </a:r>
            <a:endParaRPr lang="en-US" altLang="zh-CN" dirty="0"/>
          </a:p>
          <a:p>
            <a:pPr lvl="1"/>
            <a:r>
              <a:rPr lang="zh-CN" altLang="en-US" dirty="0"/>
              <a:t>对测试数据集中的 </a:t>
            </a:r>
            <a:r>
              <a:rPr lang="en-US" altLang="zh-CN" dirty="0"/>
              <a:t>418 </a:t>
            </a:r>
            <a:r>
              <a:rPr lang="zh-CN" altLang="en-US" dirty="0"/>
              <a:t>名 乘客 生存情况 进行预测。</a:t>
            </a:r>
          </a:p>
        </p:txBody>
      </p:sp>
    </p:spTree>
    <p:extLst>
      <p:ext uri="{BB962C8B-B14F-4D97-AF65-F5344CB8AC3E}">
        <p14:creationId xmlns:p14="http://schemas.microsoft.com/office/powerpoint/2010/main" val="2309973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877244-813C-4AC1-8FEE-E9C4D0170085}"/>
              </a:ext>
            </a:extLst>
          </p:cNvPr>
          <p:cNvSpPr>
            <a:spLocks noGrp="1"/>
          </p:cNvSpPr>
          <p:nvPr>
            <p:ph type="title"/>
          </p:nvPr>
        </p:nvSpPr>
        <p:spPr/>
        <p:txBody>
          <a:bodyPr/>
          <a:lstStyle/>
          <a:p>
            <a:r>
              <a:rPr lang="zh-CN" altLang="en-US" dirty="0"/>
              <a:t>数据理解任务</a:t>
            </a:r>
          </a:p>
        </p:txBody>
      </p:sp>
      <p:sp>
        <p:nvSpPr>
          <p:cNvPr id="3" name="内容占位符 2">
            <a:extLst>
              <a:ext uri="{FF2B5EF4-FFF2-40B4-BE49-F238E27FC236}">
                <a16:creationId xmlns:a16="http://schemas.microsoft.com/office/drawing/2014/main" id="{15D1C466-FCC3-4F01-BAD4-635CA3DBF6F7}"/>
              </a:ext>
            </a:extLst>
          </p:cNvPr>
          <p:cNvSpPr>
            <a:spLocks noGrp="1"/>
          </p:cNvSpPr>
          <p:nvPr>
            <p:ph idx="1"/>
          </p:nvPr>
        </p:nvSpPr>
        <p:spPr/>
        <p:txBody>
          <a:bodyPr/>
          <a:lstStyle/>
          <a:p>
            <a:r>
              <a:rPr lang="zh-CN" altLang="en-US" dirty="0"/>
              <a:t>机器学习的任务是什么？是监督学习还是非监督学习？</a:t>
            </a:r>
            <a:endParaRPr lang="en-US" altLang="zh-CN" dirty="0"/>
          </a:p>
          <a:p>
            <a:r>
              <a:rPr lang="zh-CN" altLang="en-US" dirty="0"/>
              <a:t> 数据的存储格式是什么？是 </a:t>
            </a:r>
            <a:r>
              <a:rPr lang="en-US" altLang="zh-CN" dirty="0"/>
              <a:t>csv </a:t>
            </a:r>
            <a:r>
              <a:rPr lang="zh-CN" altLang="en-US" dirty="0"/>
              <a:t>文件还是其他格式？ </a:t>
            </a:r>
            <a:endParaRPr lang="en-US" altLang="zh-CN" dirty="0"/>
          </a:p>
          <a:p>
            <a:r>
              <a:rPr lang="zh-CN" altLang="en-US" dirty="0"/>
              <a:t> 每一个字段的含义和描述 </a:t>
            </a:r>
            <a:endParaRPr lang="en-US" altLang="zh-CN" dirty="0"/>
          </a:p>
          <a:p>
            <a:r>
              <a:rPr lang="zh-CN" altLang="en-US" dirty="0"/>
              <a:t> 每一个字段的变量类型：数值型还是类别型？ </a:t>
            </a:r>
            <a:endParaRPr lang="en-US" altLang="zh-CN" dirty="0"/>
          </a:p>
          <a:p>
            <a:r>
              <a:rPr lang="zh-CN" altLang="en-US" dirty="0"/>
              <a:t> 数据的规模：有多少行多少列？ </a:t>
            </a:r>
            <a:endParaRPr lang="en-US" altLang="zh-CN" dirty="0"/>
          </a:p>
          <a:p>
            <a:r>
              <a:rPr lang="zh-CN" altLang="en-US" dirty="0"/>
              <a:t> 数据的质量：有多少缺失数据？多少重复记录？</a:t>
            </a:r>
          </a:p>
        </p:txBody>
      </p:sp>
    </p:spTree>
    <p:extLst>
      <p:ext uri="{BB962C8B-B14F-4D97-AF65-F5344CB8AC3E}">
        <p14:creationId xmlns:p14="http://schemas.microsoft.com/office/powerpoint/2010/main" val="3285659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微软雅黑" panose="020B0503020204020204" pitchFamily="34" charset="-122"/>
                <a:ea typeface="微软雅黑" panose="020B0503020204020204" pitchFamily="34" charset="-122"/>
                <a:cs typeface="Arial" panose="020B0604020202020204" pitchFamily="34" charset="0"/>
              </a:rPr>
              <a:t>数据特征分析</a:t>
            </a:r>
            <a:endParaRPr lang="zh-CN" altLang="en-US" dirty="0">
              <a:ea typeface="思源黑体 CN ExtraLight" panose="020B0200000000000000" charset="-122"/>
            </a:endParaRP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pPr/>
              <a:t>7</a:t>
            </a:fld>
            <a:endParaRPr lang="zh-CN" altLang="en-US" dirty="0"/>
          </a:p>
        </p:txBody>
      </p:sp>
      <p:sp>
        <p:nvSpPr>
          <p:cNvPr id="5" name="文本框 4">
            <a:extLst>
              <a:ext uri="{FF2B5EF4-FFF2-40B4-BE49-F238E27FC236}">
                <a16:creationId xmlns:a16="http://schemas.microsoft.com/office/drawing/2014/main" id="{C59E49E0-6DE0-4F6D-8800-3B2C6F2579FF}"/>
              </a:ext>
            </a:extLst>
          </p:cNvPr>
          <p:cNvSpPr txBox="1"/>
          <p:nvPr/>
        </p:nvSpPr>
        <p:spPr>
          <a:xfrm>
            <a:off x="669925" y="1858757"/>
            <a:ext cx="4801314" cy="369332"/>
          </a:xfrm>
          <a:prstGeom prst="rect">
            <a:avLst/>
          </a:prstGeom>
          <a:noFill/>
        </p:spPr>
        <p:txBody>
          <a:bodyPr wrap="none" rtlCol="0">
            <a:spAutoFit/>
          </a:bodyPr>
          <a:lstStyle/>
          <a:p>
            <a:r>
              <a:rPr lang="zh-CN" altLang="en-US" dirty="0"/>
              <a:t>利用以下命令可以快速查看前几行数据情况：</a:t>
            </a:r>
          </a:p>
        </p:txBody>
      </p:sp>
      <p:pic>
        <p:nvPicPr>
          <p:cNvPr id="6" name="图片 5">
            <a:extLst>
              <a:ext uri="{FF2B5EF4-FFF2-40B4-BE49-F238E27FC236}">
                <a16:creationId xmlns:a16="http://schemas.microsoft.com/office/drawing/2014/main" id="{F56FA774-DDD5-4D38-ACE8-44B14F1E3FE9}"/>
              </a:ext>
            </a:extLst>
          </p:cNvPr>
          <p:cNvPicPr>
            <a:picLocks noChangeAspect="1"/>
          </p:cNvPicPr>
          <p:nvPr/>
        </p:nvPicPr>
        <p:blipFill>
          <a:blip r:embed="rId2"/>
          <a:stretch>
            <a:fillRect/>
          </a:stretch>
        </p:blipFill>
        <p:spPr>
          <a:xfrm>
            <a:off x="1097864" y="2412755"/>
            <a:ext cx="3550053" cy="1083458"/>
          </a:xfrm>
          <a:prstGeom prst="rect">
            <a:avLst/>
          </a:prstGeom>
        </p:spPr>
      </p:pic>
      <p:pic>
        <p:nvPicPr>
          <p:cNvPr id="7" name="图片 6">
            <a:extLst>
              <a:ext uri="{FF2B5EF4-FFF2-40B4-BE49-F238E27FC236}">
                <a16:creationId xmlns:a16="http://schemas.microsoft.com/office/drawing/2014/main" id="{3A1E01B4-6E07-4156-9F11-A30DB96E7B96}"/>
              </a:ext>
            </a:extLst>
          </p:cNvPr>
          <p:cNvPicPr>
            <a:picLocks noChangeAspect="1"/>
          </p:cNvPicPr>
          <p:nvPr/>
        </p:nvPicPr>
        <p:blipFill>
          <a:blip r:embed="rId3"/>
          <a:stretch>
            <a:fillRect/>
          </a:stretch>
        </p:blipFill>
        <p:spPr>
          <a:xfrm>
            <a:off x="1264133" y="4372333"/>
            <a:ext cx="9351547" cy="1506083"/>
          </a:xfrm>
          <a:prstGeom prst="rect">
            <a:avLst/>
          </a:prstGeom>
        </p:spPr>
      </p:pic>
      <p:sp>
        <p:nvSpPr>
          <p:cNvPr id="8" name="文本框 7">
            <a:extLst>
              <a:ext uri="{FF2B5EF4-FFF2-40B4-BE49-F238E27FC236}">
                <a16:creationId xmlns:a16="http://schemas.microsoft.com/office/drawing/2014/main" id="{87550D74-1D1E-45F1-BC8D-50848CAE4827}"/>
              </a:ext>
            </a:extLst>
          </p:cNvPr>
          <p:cNvSpPr txBox="1"/>
          <p:nvPr/>
        </p:nvSpPr>
        <p:spPr>
          <a:xfrm>
            <a:off x="669925" y="1304759"/>
            <a:ext cx="2627642" cy="369332"/>
          </a:xfrm>
          <a:prstGeom prst="rect">
            <a:avLst/>
          </a:prstGeom>
          <a:noFill/>
        </p:spPr>
        <p:txBody>
          <a:bodyPr wrap="none" rtlCol="0">
            <a:spAutoFit/>
          </a:bodyPr>
          <a:lstStyle/>
          <a:p>
            <a:r>
              <a:rPr lang="zh-CN" altLang="en-US" dirty="0"/>
              <a:t>用</a:t>
            </a:r>
            <a:r>
              <a:rPr lang="en-US" altLang="zh-CN" dirty="0"/>
              <a:t>titanic</a:t>
            </a:r>
            <a:r>
              <a:rPr lang="zh-CN" altLang="en-US" dirty="0"/>
              <a:t>数据来做分析：</a:t>
            </a:r>
          </a:p>
        </p:txBody>
      </p:sp>
    </p:spTree>
    <p:extLst>
      <p:ext uri="{BB962C8B-B14F-4D97-AF65-F5344CB8AC3E}">
        <p14:creationId xmlns:p14="http://schemas.microsoft.com/office/powerpoint/2010/main" val="1895103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微软雅黑" panose="020B0503020204020204" pitchFamily="34" charset="-122"/>
                <a:ea typeface="微软雅黑" panose="020B0503020204020204" pitchFamily="34" charset="-122"/>
                <a:cs typeface="Arial" panose="020B0604020202020204" pitchFamily="34" charset="0"/>
              </a:rPr>
              <a:t>数据特征分析</a:t>
            </a:r>
            <a:endParaRPr lang="zh-CN" altLang="en-US" dirty="0">
              <a:ea typeface="思源黑体 CN ExtraLight" panose="020B0200000000000000" charset="-122"/>
            </a:endParaRP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pPr/>
              <a:t>8</a:t>
            </a:fld>
            <a:endParaRPr lang="zh-CN" altLang="en-US" dirty="0"/>
          </a:p>
        </p:txBody>
      </p:sp>
      <p:sp>
        <p:nvSpPr>
          <p:cNvPr id="5" name="矩形 4">
            <a:extLst>
              <a:ext uri="{FF2B5EF4-FFF2-40B4-BE49-F238E27FC236}">
                <a16:creationId xmlns:a16="http://schemas.microsoft.com/office/drawing/2014/main" id="{FE6F6D23-E9D2-4041-B9C6-B616013EC421}"/>
              </a:ext>
            </a:extLst>
          </p:cNvPr>
          <p:cNvSpPr/>
          <p:nvPr/>
        </p:nvSpPr>
        <p:spPr>
          <a:xfrm>
            <a:off x="590690" y="1147386"/>
            <a:ext cx="6815868" cy="369332"/>
          </a:xfrm>
          <a:prstGeom prst="rect">
            <a:avLst/>
          </a:prstGeom>
        </p:spPr>
        <p:txBody>
          <a:bodyPr wrap="square">
            <a:spAutoFit/>
          </a:bodyPr>
          <a:lstStyle/>
          <a:p>
            <a:r>
              <a:rPr lang="zh-CN" altLang="en-US" dirty="0"/>
              <a:t>数据集总共有 </a:t>
            </a:r>
            <a:r>
              <a:rPr lang="en-US" altLang="zh-CN" dirty="0"/>
              <a:t>12 </a:t>
            </a:r>
            <a:r>
              <a:rPr lang="zh-CN" altLang="en-US" dirty="0"/>
              <a:t>个变量，每一个变量的名称和含义如下</a:t>
            </a:r>
          </a:p>
        </p:txBody>
      </p:sp>
      <p:sp>
        <p:nvSpPr>
          <p:cNvPr id="6" name="矩形 5">
            <a:extLst>
              <a:ext uri="{FF2B5EF4-FFF2-40B4-BE49-F238E27FC236}">
                <a16:creationId xmlns:a16="http://schemas.microsoft.com/office/drawing/2014/main" id="{BDDA4B94-98B2-445F-8C93-E41CBD755B99}"/>
              </a:ext>
            </a:extLst>
          </p:cNvPr>
          <p:cNvSpPr/>
          <p:nvPr/>
        </p:nvSpPr>
        <p:spPr>
          <a:xfrm>
            <a:off x="1430197" y="2117078"/>
            <a:ext cx="3684104" cy="4052456"/>
          </a:xfrm>
          <a:prstGeom prst="rect">
            <a:avLst/>
          </a:prstGeom>
        </p:spPr>
        <p:txBody>
          <a:bodyPr wrap="square">
            <a:spAutoFit/>
          </a:bodyPr>
          <a:lstStyle/>
          <a:p>
            <a:pPr>
              <a:lnSpc>
                <a:spcPct val="120000"/>
              </a:lnSpc>
            </a:pPr>
            <a:r>
              <a:rPr lang="en-US" altLang="zh-CN" dirty="0" err="1"/>
              <a:t>PassengerId</a:t>
            </a:r>
            <a:r>
              <a:rPr lang="zh-CN" altLang="en-US" dirty="0"/>
              <a:t>：乘客 </a:t>
            </a:r>
            <a:r>
              <a:rPr lang="en-US" altLang="zh-CN" dirty="0"/>
              <a:t>ID</a:t>
            </a:r>
          </a:p>
          <a:p>
            <a:pPr>
              <a:lnSpc>
                <a:spcPct val="120000"/>
              </a:lnSpc>
            </a:pPr>
            <a:r>
              <a:rPr lang="en-US" altLang="zh-CN" dirty="0"/>
              <a:t>Survived</a:t>
            </a:r>
            <a:r>
              <a:rPr lang="zh-CN" altLang="en-US" dirty="0"/>
              <a:t>：是否生存</a:t>
            </a:r>
            <a:endParaRPr lang="en-US" altLang="zh-CN" dirty="0"/>
          </a:p>
          <a:p>
            <a:pPr>
              <a:lnSpc>
                <a:spcPct val="120000"/>
              </a:lnSpc>
            </a:pPr>
            <a:r>
              <a:rPr lang="en-US" altLang="zh-CN" dirty="0" err="1"/>
              <a:t>Pclass</a:t>
            </a:r>
            <a:r>
              <a:rPr lang="zh-CN" altLang="en-US" dirty="0"/>
              <a:t>：客舱等级</a:t>
            </a:r>
            <a:endParaRPr lang="en-US" altLang="zh-CN" dirty="0"/>
          </a:p>
          <a:p>
            <a:pPr>
              <a:lnSpc>
                <a:spcPct val="120000"/>
              </a:lnSpc>
            </a:pPr>
            <a:r>
              <a:rPr lang="en-US" altLang="zh-CN" dirty="0"/>
              <a:t>Name</a:t>
            </a:r>
            <a:r>
              <a:rPr lang="zh-CN" altLang="en-US" dirty="0"/>
              <a:t>：乘客姓名</a:t>
            </a:r>
            <a:endParaRPr lang="en-US" altLang="zh-CN" dirty="0"/>
          </a:p>
          <a:p>
            <a:pPr>
              <a:lnSpc>
                <a:spcPct val="120000"/>
              </a:lnSpc>
            </a:pPr>
            <a:r>
              <a:rPr lang="en-US" altLang="zh-CN" dirty="0"/>
              <a:t>Sex</a:t>
            </a:r>
            <a:r>
              <a:rPr lang="zh-CN" altLang="en-US" dirty="0"/>
              <a:t>：性别</a:t>
            </a:r>
            <a:endParaRPr lang="en-US" altLang="zh-CN" dirty="0"/>
          </a:p>
          <a:p>
            <a:pPr>
              <a:lnSpc>
                <a:spcPct val="120000"/>
              </a:lnSpc>
            </a:pPr>
            <a:r>
              <a:rPr lang="en-US" altLang="zh-CN" dirty="0"/>
              <a:t>Age</a:t>
            </a:r>
            <a:r>
              <a:rPr lang="zh-CN" altLang="en-US" dirty="0"/>
              <a:t>：年龄</a:t>
            </a:r>
            <a:endParaRPr lang="en-US" altLang="zh-CN" dirty="0"/>
          </a:p>
          <a:p>
            <a:pPr>
              <a:lnSpc>
                <a:spcPct val="120000"/>
              </a:lnSpc>
            </a:pPr>
            <a:r>
              <a:rPr lang="en-US" altLang="zh-CN" dirty="0" err="1"/>
              <a:t>SibSp</a:t>
            </a:r>
            <a:r>
              <a:rPr lang="zh-CN" altLang="en-US" dirty="0"/>
              <a:t>：在船兄弟姐妹数</a:t>
            </a:r>
            <a:r>
              <a:rPr lang="en-US" altLang="zh-CN" dirty="0"/>
              <a:t>/</a:t>
            </a:r>
            <a:r>
              <a:rPr lang="zh-CN" altLang="en-US" dirty="0"/>
              <a:t>配偶数</a:t>
            </a:r>
            <a:endParaRPr lang="en-US" altLang="zh-CN" dirty="0"/>
          </a:p>
          <a:p>
            <a:pPr>
              <a:lnSpc>
                <a:spcPct val="120000"/>
              </a:lnSpc>
            </a:pPr>
            <a:r>
              <a:rPr lang="en-US" altLang="zh-CN" dirty="0"/>
              <a:t>Parch</a:t>
            </a:r>
            <a:r>
              <a:rPr lang="zh-CN" altLang="en-US" dirty="0"/>
              <a:t>：在船父母数</a:t>
            </a:r>
            <a:r>
              <a:rPr lang="en-US" altLang="zh-CN" dirty="0"/>
              <a:t>/</a:t>
            </a:r>
            <a:r>
              <a:rPr lang="zh-CN" altLang="en-US" dirty="0"/>
              <a:t>子女数</a:t>
            </a:r>
            <a:endParaRPr lang="en-US" altLang="zh-CN" dirty="0"/>
          </a:p>
          <a:p>
            <a:pPr>
              <a:lnSpc>
                <a:spcPct val="120000"/>
              </a:lnSpc>
            </a:pPr>
            <a:r>
              <a:rPr lang="en-US" altLang="zh-CN" dirty="0"/>
              <a:t>Ticket</a:t>
            </a:r>
            <a:r>
              <a:rPr lang="zh-CN" altLang="en-US" dirty="0"/>
              <a:t>：船票编号</a:t>
            </a:r>
            <a:endParaRPr lang="en-US" altLang="zh-CN" dirty="0"/>
          </a:p>
          <a:p>
            <a:pPr>
              <a:lnSpc>
                <a:spcPct val="120000"/>
              </a:lnSpc>
            </a:pPr>
            <a:r>
              <a:rPr lang="en-US" altLang="zh-CN" dirty="0"/>
              <a:t>Fare</a:t>
            </a:r>
            <a:r>
              <a:rPr lang="zh-CN" altLang="en-US" dirty="0"/>
              <a:t>：船票价格</a:t>
            </a:r>
            <a:endParaRPr lang="en-US" altLang="zh-CN" dirty="0"/>
          </a:p>
          <a:p>
            <a:pPr>
              <a:lnSpc>
                <a:spcPct val="120000"/>
              </a:lnSpc>
            </a:pPr>
            <a:r>
              <a:rPr lang="en-US" altLang="zh-CN" dirty="0"/>
              <a:t>Cabin</a:t>
            </a:r>
            <a:r>
              <a:rPr lang="zh-CN" altLang="en-US" dirty="0"/>
              <a:t>：客舱号</a:t>
            </a:r>
            <a:endParaRPr lang="en-US" altLang="zh-CN" dirty="0"/>
          </a:p>
          <a:p>
            <a:pPr>
              <a:lnSpc>
                <a:spcPct val="120000"/>
              </a:lnSpc>
            </a:pPr>
            <a:r>
              <a:rPr lang="en-US" altLang="zh-CN" dirty="0"/>
              <a:t>Embarked</a:t>
            </a:r>
            <a:r>
              <a:rPr lang="zh-CN" altLang="en-US" dirty="0"/>
              <a:t>：登船港口</a:t>
            </a:r>
          </a:p>
        </p:txBody>
      </p:sp>
      <p:pic>
        <p:nvPicPr>
          <p:cNvPr id="7" name="图片 6">
            <a:extLst>
              <a:ext uri="{FF2B5EF4-FFF2-40B4-BE49-F238E27FC236}">
                <a16:creationId xmlns:a16="http://schemas.microsoft.com/office/drawing/2014/main" id="{435BA6AD-BA4E-4585-8F99-66F0B3764FF5}"/>
              </a:ext>
            </a:extLst>
          </p:cNvPr>
          <p:cNvPicPr>
            <a:picLocks noChangeAspect="1"/>
          </p:cNvPicPr>
          <p:nvPr/>
        </p:nvPicPr>
        <p:blipFill>
          <a:blip r:embed="rId2"/>
          <a:stretch>
            <a:fillRect/>
          </a:stretch>
        </p:blipFill>
        <p:spPr>
          <a:xfrm>
            <a:off x="5899730" y="2757794"/>
            <a:ext cx="3381003" cy="3411740"/>
          </a:xfrm>
          <a:prstGeom prst="rect">
            <a:avLst/>
          </a:prstGeom>
        </p:spPr>
      </p:pic>
    </p:spTree>
    <p:extLst>
      <p:ext uri="{BB962C8B-B14F-4D97-AF65-F5344CB8AC3E}">
        <p14:creationId xmlns:p14="http://schemas.microsoft.com/office/powerpoint/2010/main" val="1102950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微软雅黑" panose="020B0503020204020204" pitchFamily="34" charset="-122"/>
                <a:ea typeface="微软雅黑" panose="020B0503020204020204" pitchFamily="34" charset="-122"/>
                <a:cs typeface="Arial" panose="020B0604020202020204" pitchFamily="34" charset="0"/>
              </a:rPr>
              <a:t>数据特征分析</a:t>
            </a:r>
            <a:endParaRPr lang="zh-CN" altLang="en-US" dirty="0">
              <a:ea typeface="思源黑体 CN ExtraLight" panose="020B0200000000000000" charset="-122"/>
            </a:endParaRP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pPr/>
              <a:t>9</a:t>
            </a:fld>
            <a:endParaRPr lang="zh-CN" altLang="en-US" dirty="0"/>
          </a:p>
        </p:txBody>
      </p:sp>
      <p:pic>
        <p:nvPicPr>
          <p:cNvPr id="6" name="图片 5">
            <a:extLst>
              <a:ext uri="{FF2B5EF4-FFF2-40B4-BE49-F238E27FC236}">
                <a16:creationId xmlns:a16="http://schemas.microsoft.com/office/drawing/2014/main" id="{E10F051D-7AF3-4B29-8FCE-AAB3A6492D0F}"/>
              </a:ext>
            </a:extLst>
          </p:cNvPr>
          <p:cNvPicPr>
            <a:picLocks noChangeAspect="1"/>
          </p:cNvPicPr>
          <p:nvPr/>
        </p:nvPicPr>
        <p:blipFill>
          <a:blip r:embed="rId2"/>
          <a:stretch>
            <a:fillRect/>
          </a:stretch>
        </p:blipFill>
        <p:spPr>
          <a:xfrm>
            <a:off x="863091" y="1964053"/>
            <a:ext cx="3381003" cy="3411740"/>
          </a:xfrm>
          <a:prstGeom prst="rect">
            <a:avLst/>
          </a:prstGeom>
        </p:spPr>
      </p:pic>
      <p:sp>
        <p:nvSpPr>
          <p:cNvPr id="7" name="矩形 6">
            <a:extLst>
              <a:ext uri="{FF2B5EF4-FFF2-40B4-BE49-F238E27FC236}">
                <a16:creationId xmlns:a16="http://schemas.microsoft.com/office/drawing/2014/main" id="{11A4B6DA-BC66-47DA-ADA2-8B92F358C198}"/>
              </a:ext>
            </a:extLst>
          </p:cNvPr>
          <p:cNvSpPr/>
          <p:nvPr/>
        </p:nvSpPr>
        <p:spPr>
          <a:xfrm>
            <a:off x="5520753" y="2256239"/>
            <a:ext cx="6096000" cy="2862322"/>
          </a:xfrm>
          <a:prstGeom prst="rect">
            <a:avLst/>
          </a:prstGeom>
        </p:spPr>
        <p:txBody>
          <a:bodyPr>
            <a:spAutoFit/>
          </a:bodyPr>
          <a:lstStyle/>
          <a:p>
            <a:r>
              <a:rPr lang="zh-CN" altLang="en-US" dirty="0"/>
              <a:t>从 </a:t>
            </a:r>
            <a:r>
              <a:rPr lang="en-US" altLang="zh-CN" dirty="0"/>
              <a:t>info() </a:t>
            </a:r>
            <a:r>
              <a:rPr lang="zh-CN" altLang="en-US" dirty="0"/>
              <a:t>方法输出的结果中可以看到：</a:t>
            </a:r>
            <a:endParaRPr lang="en-US" altLang="zh-CN" dirty="0"/>
          </a:p>
          <a:p>
            <a:pPr marL="285750" indent="-285750">
              <a:buFont typeface="Arial" panose="020B0604020202020204" pitchFamily="34" charset="0"/>
              <a:buChar char="•"/>
            </a:pPr>
            <a:r>
              <a:rPr lang="zh-CN" altLang="en-US" dirty="0"/>
              <a:t>数据集有 </a:t>
            </a:r>
            <a:r>
              <a:rPr lang="en-US" altLang="zh-CN" dirty="0"/>
              <a:t>891 </a:t>
            </a:r>
            <a:r>
              <a:rPr lang="zh-CN" altLang="en-US" dirty="0"/>
              <a:t>条记录： </a:t>
            </a:r>
            <a:r>
              <a:rPr lang="en-US" altLang="zh-CN" dirty="0" err="1"/>
              <a:t>RangeIndex</a:t>
            </a:r>
            <a:r>
              <a:rPr lang="en-US" altLang="zh-CN" dirty="0"/>
              <a:t>: 891 entries, 0 to 890 </a:t>
            </a:r>
          </a:p>
          <a:p>
            <a:pPr marL="285750" indent="-285750">
              <a:buFont typeface="Arial" panose="020B0604020202020204" pitchFamily="34" charset="0"/>
              <a:buChar char="•"/>
            </a:pPr>
            <a:r>
              <a:rPr lang="zh-CN" altLang="en-US" dirty="0"/>
              <a:t>数据集有 </a:t>
            </a:r>
            <a:r>
              <a:rPr lang="en-US" altLang="zh-CN" dirty="0"/>
              <a:t>12 </a:t>
            </a:r>
            <a:r>
              <a:rPr lang="zh-CN" altLang="en-US" dirty="0"/>
              <a:t>个列： </a:t>
            </a:r>
            <a:r>
              <a:rPr lang="en-US" altLang="zh-CN" dirty="0"/>
              <a:t>Data columns (total 12 columns)</a:t>
            </a:r>
          </a:p>
          <a:p>
            <a:pPr marL="285750" indent="-285750">
              <a:buFont typeface="Arial" panose="020B0604020202020204" pitchFamily="34" charset="0"/>
              <a:buChar char="•"/>
            </a:pPr>
            <a:r>
              <a:rPr lang="en-US" altLang="zh-CN" dirty="0"/>
              <a:t>Age</a:t>
            </a:r>
            <a:r>
              <a:rPr lang="zh-CN" altLang="en-US" dirty="0"/>
              <a:t>， </a:t>
            </a:r>
            <a:r>
              <a:rPr lang="en-US" altLang="zh-CN" dirty="0"/>
              <a:t>Cabin</a:t>
            </a:r>
            <a:r>
              <a:rPr lang="zh-CN" altLang="en-US" dirty="0"/>
              <a:t>， </a:t>
            </a:r>
            <a:r>
              <a:rPr lang="en-US" altLang="zh-CN" dirty="0"/>
              <a:t>Embarked </a:t>
            </a:r>
            <a:r>
              <a:rPr lang="zh-CN" altLang="en-US" dirty="0"/>
              <a:t>变量有缺失值：</a:t>
            </a:r>
            <a:endParaRPr lang="en-US" altLang="zh-CN" dirty="0"/>
          </a:p>
          <a:p>
            <a:pPr marL="285750" indent="-285750">
              <a:buFont typeface="Arial" panose="020B0604020202020204" pitchFamily="34" charset="0"/>
              <a:buChar char="•"/>
            </a:pPr>
            <a:r>
              <a:rPr lang="en-US" altLang="zh-CN" dirty="0"/>
              <a:t>Age 714 non-null float64</a:t>
            </a:r>
            <a:r>
              <a:rPr lang="zh-CN" altLang="en-US" dirty="0"/>
              <a:t>，说明有 </a:t>
            </a:r>
            <a:r>
              <a:rPr lang="en-US" altLang="zh-CN" dirty="0"/>
              <a:t>177</a:t>
            </a:r>
            <a:r>
              <a:rPr lang="zh-CN" altLang="en-US" dirty="0"/>
              <a:t>（</a:t>
            </a:r>
            <a:r>
              <a:rPr lang="en-US" altLang="zh-CN" dirty="0"/>
              <a:t>891- 714</a:t>
            </a:r>
            <a:r>
              <a:rPr lang="zh-CN" altLang="en-US" dirty="0"/>
              <a:t>）名乘客的年龄缺失 </a:t>
            </a:r>
            <a:endParaRPr lang="en-US" altLang="zh-CN" dirty="0"/>
          </a:p>
          <a:p>
            <a:pPr marL="285750" indent="-285750">
              <a:buFont typeface="Arial" panose="020B0604020202020204" pitchFamily="34" charset="0"/>
              <a:buChar char="•"/>
            </a:pPr>
            <a:r>
              <a:rPr lang="en-US" altLang="zh-CN" dirty="0"/>
              <a:t>Name</a:t>
            </a:r>
            <a:r>
              <a:rPr lang="zh-CN" altLang="en-US" dirty="0"/>
              <a:t>， </a:t>
            </a:r>
            <a:r>
              <a:rPr lang="en-US" altLang="zh-CN" dirty="0"/>
              <a:t>Sex</a:t>
            </a:r>
            <a:r>
              <a:rPr lang="zh-CN" altLang="en-US" dirty="0"/>
              <a:t>， </a:t>
            </a:r>
            <a:r>
              <a:rPr lang="en-US" altLang="zh-CN" dirty="0"/>
              <a:t>Ticket</a:t>
            </a:r>
            <a:r>
              <a:rPr lang="zh-CN" altLang="en-US" dirty="0"/>
              <a:t>， </a:t>
            </a:r>
            <a:r>
              <a:rPr lang="en-US" altLang="zh-CN" dirty="0"/>
              <a:t>Cabin</a:t>
            </a:r>
            <a:r>
              <a:rPr lang="zh-CN" altLang="en-US" dirty="0"/>
              <a:t>， </a:t>
            </a:r>
            <a:r>
              <a:rPr lang="en-US" altLang="zh-CN" dirty="0"/>
              <a:t>Embarked </a:t>
            </a:r>
            <a:r>
              <a:rPr lang="zh-CN" altLang="en-US" dirty="0"/>
              <a:t>这 五个变量是字符类型存储的（</a:t>
            </a:r>
            <a:r>
              <a:rPr lang="en-US" altLang="zh-CN" dirty="0"/>
              <a:t>object</a:t>
            </a:r>
            <a:r>
              <a:rPr lang="zh-CN" altLang="en-US" dirty="0"/>
              <a:t>） </a:t>
            </a:r>
            <a:endParaRPr lang="en-US" altLang="zh-CN" dirty="0"/>
          </a:p>
          <a:p>
            <a:pPr marL="285750" indent="-285750">
              <a:buFont typeface="Arial" panose="020B0604020202020204" pitchFamily="34" charset="0"/>
              <a:buChar char="•"/>
            </a:pPr>
            <a:r>
              <a:rPr lang="zh-CN" altLang="en-US" dirty="0"/>
              <a:t>其他的都是数值</a:t>
            </a:r>
            <a:r>
              <a:rPr lang="en-US" altLang="zh-CN" dirty="0"/>
              <a:t>(int64</a:t>
            </a:r>
            <a:r>
              <a:rPr lang="zh-CN" altLang="en-US" dirty="0"/>
              <a:t>或者 </a:t>
            </a:r>
            <a:r>
              <a:rPr lang="en-US" altLang="zh-CN" dirty="0"/>
              <a:t>float64)</a:t>
            </a:r>
            <a:endParaRPr lang="zh-CN" altLang="en-US" dirty="0"/>
          </a:p>
        </p:txBody>
      </p:sp>
    </p:spTree>
    <p:extLst>
      <p:ext uri="{BB962C8B-B14F-4D97-AF65-F5344CB8AC3E}">
        <p14:creationId xmlns:p14="http://schemas.microsoft.com/office/powerpoint/2010/main" val="1217813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0539B6-2F4B-41EA-8AAB-46CF1D76CA9E}"/>
              </a:ext>
            </a:extLst>
          </p:cNvPr>
          <p:cNvSpPr>
            <a:spLocks noGrp="1"/>
          </p:cNvSpPr>
          <p:nvPr>
            <p:ph type="title"/>
          </p:nvPr>
        </p:nvSpPr>
        <p:spPr/>
        <p:txBody>
          <a:bodyPr/>
          <a:lstStyle/>
          <a:p>
            <a:r>
              <a:rPr lang="zh-CN" altLang="en-US" dirty="0"/>
              <a:t>删除列</a:t>
            </a:r>
          </a:p>
        </p:txBody>
      </p:sp>
      <p:sp>
        <p:nvSpPr>
          <p:cNvPr id="4" name="文本框 3">
            <a:extLst>
              <a:ext uri="{FF2B5EF4-FFF2-40B4-BE49-F238E27FC236}">
                <a16:creationId xmlns:a16="http://schemas.microsoft.com/office/drawing/2014/main" id="{9C2000D2-ABB7-4A58-AF18-4768530A64F4}"/>
              </a:ext>
            </a:extLst>
          </p:cNvPr>
          <p:cNvSpPr txBox="1"/>
          <p:nvPr/>
        </p:nvSpPr>
        <p:spPr>
          <a:xfrm>
            <a:off x="838199" y="2010961"/>
            <a:ext cx="9081837" cy="369332"/>
          </a:xfrm>
          <a:prstGeom prst="rect">
            <a:avLst/>
          </a:prstGeom>
          <a:noFill/>
        </p:spPr>
        <p:txBody>
          <a:bodyPr wrap="square">
            <a:spAutoFit/>
          </a:bodyPr>
          <a:lstStyle/>
          <a:p>
            <a:r>
              <a:rPr lang="zh-CN" altLang="en-US" dirty="0"/>
              <a:t>若确定某些变量对后续分析完全没有意义，可以通过数据对象的 </a:t>
            </a:r>
            <a:r>
              <a:rPr lang="en-US" altLang="zh-CN" dirty="0"/>
              <a:t>drop()</a:t>
            </a:r>
            <a:r>
              <a:rPr lang="zh-CN" altLang="en-US" dirty="0"/>
              <a:t>方法删除指定列</a:t>
            </a:r>
          </a:p>
        </p:txBody>
      </p:sp>
      <p:pic>
        <p:nvPicPr>
          <p:cNvPr id="6" name="图片 5">
            <a:extLst>
              <a:ext uri="{FF2B5EF4-FFF2-40B4-BE49-F238E27FC236}">
                <a16:creationId xmlns:a16="http://schemas.microsoft.com/office/drawing/2014/main" id="{20983F4B-92A6-4A27-8AB9-08E690C38BDE}"/>
              </a:ext>
            </a:extLst>
          </p:cNvPr>
          <p:cNvPicPr>
            <a:picLocks noChangeAspect="1"/>
          </p:cNvPicPr>
          <p:nvPr/>
        </p:nvPicPr>
        <p:blipFill>
          <a:blip r:embed="rId2"/>
          <a:stretch>
            <a:fillRect/>
          </a:stretch>
        </p:blipFill>
        <p:spPr>
          <a:xfrm>
            <a:off x="1228350" y="2700566"/>
            <a:ext cx="8103016" cy="3511730"/>
          </a:xfrm>
          <a:prstGeom prst="rect">
            <a:avLst/>
          </a:prstGeom>
        </p:spPr>
      </p:pic>
    </p:spTree>
    <p:extLst>
      <p:ext uri="{BB962C8B-B14F-4D97-AF65-F5344CB8AC3E}">
        <p14:creationId xmlns:p14="http://schemas.microsoft.com/office/powerpoint/2010/main" val="2990608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65DF88-218E-4B73-8BAE-E1F9A1403D88}"/>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C1B8992D-ACC8-41B4-8001-3A6559455B1B}"/>
              </a:ext>
            </a:extLst>
          </p:cNvPr>
          <p:cNvSpPr>
            <a:spLocks noGrp="1"/>
          </p:cNvSpPr>
          <p:nvPr>
            <p:ph idx="1"/>
          </p:nvPr>
        </p:nvSpPr>
        <p:spPr>
          <a:xfrm>
            <a:off x="838200" y="2370221"/>
            <a:ext cx="10515600" cy="3806742"/>
          </a:xfrm>
        </p:spPr>
        <p:txBody>
          <a:bodyPr/>
          <a:lstStyle/>
          <a:p>
            <a:r>
              <a:rPr lang="zh-CN" altLang="en-US" dirty="0"/>
              <a:t>数据理解</a:t>
            </a:r>
            <a:endParaRPr lang="en-US" altLang="zh-CN" dirty="0"/>
          </a:p>
          <a:p>
            <a:endParaRPr lang="en-US" altLang="zh-CN" dirty="0">
              <a:solidFill>
                <a:srgbClr val="FF0000"/>
              </a:solidFill>
            </a:endParaRPr>
          </a:p>
          <a:p>
            <a:r>
              <a:rPr lang="zh-CN" altLang="en-US" dirty="0">
                <a:solidFill>
                  <a:srgbClr val="FF0000"/>
                </a:solidFill>
              </a:rPr>
              <a:t>数据探索</a:t>
            </a:r>
            <a:endParaRPr lang="en-US" altLang="zh-CN" dirty="0">
              <a:solidFill>
                <a:srgbClr val="FF0000"/>
              </a:solidFill>
            </a:endParaRPr>
          </a:p>
          <a:p>
            <a:endParaRPr lang="en-US" altLang="zh-CN" dirty="0"/>
          </a:p>
          <a:p>
            <a:r>
              <a:rPr lang="zh-CN" altLang="en-US" dirty="0"/>
              <a:t>数据预处理</a:t>
            </a:r>
            <a:endParaRPr lang="en-US" altLang="zh-CN" dirty="0"/>
          </a:p>
        </p:txBody>
      </p:sp>
    </p:spTree>
    <p:extLst>
      <p:ext uri="{BB962C8B-B14F-4D97-AF65-F5344CB8AC3E}">
        <p14:creationId xmlns:p14="http://schemas.microsoft.com/office/powerpoint/2010/main" val="4044696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B4A940-850F-4ADF-B470-DA612ACD7A17}"/>
              </a:ext>
            </a:extLst>
          </p:cNvPr>
          <p:cNvSpPr>
            <a:spLocks noGrp="1"/>
          </p:cNvSpPr>
          <p:nvPr>
            <p:ph type="title"/>
          </p:nvPr>
        </p:nvSpPr>
        <p:spPr/>
        <p:txBody>
          <a:bodyPr/>
          <a:lstStyle/>
          <a:p>
            <a:r>
              <a:rPr lang="zh-CN" altLang="en-US" dirty="0"/>
              <a:t>单变量探索</a:t>
            </a:r>
          </a:p>
        </p:txBody>
      </p:sp>
      <p:sp>
        <p:nvSpPr>
          <p:cNvPr id="3" name="内容占位符 2">
            <a:extLst>
              <a:ext uri="{FF2B5EF4-FFF2-40B4-BE49-F238E27FC236}">
                <a16:creationId xmlns:a16="http://schemas.microsoft.com/office/drawing/2014/main" id="{97C8ABE3-656F-4E0F-B954-6AF1ADBE2250}"/>
              </a:ext>
            </a:extLst>
          </p:cNvPr>
          <p:cNvSpPr>
            <a:spLocks noGrp="1"/>
          </p:cNvSpPr>
          <p:nvPr>
            <p:ph idx="1"/>
          </p:nvPr>
        </p:nvSpPr>
        <p:spPr/>
        <p:txBody>
          <a:bodyPr/>
          <a:lstStyle/>
          <a:p>
            <a:r>
              <a:rPr lang="zh-CN" altLang="en-US" dirty="0"/>
              <a:t>单变量数据探索主要目的是对单个变量的数据分布进行查看，以方便后续的数据预处理</a:t>
            </a:r>
            <a:endParaRPr lang="en-US" altLang="zh-CN" dirty="0"/>
          </a:p>
          <a:p>
            <a:pPr lvl="1"/>
            <a:r>
              <a:rPr lang="zh-CN" altLang="en-US" dirty="0"/>
              <a:t>频数分析：分析类别型变量每一个值出现的频数，还可以通过饼图或者柱形图的方式可视化展现</a:t>
            </a:r>
            <a:endParaRPr lang="en-US" altLang="zh-CN" dirty="0"/>
          </a:p>
          <a:p>
            <a:pPr lvl="1"/>
            <a:r>
              <a:rPr lang="zh-CN" altLang="en-US" dirty="0"/>
              <a:t>直方图（</a:t>
            </a:r>
            <a:r>
              <a:rPr lang="en-US" altLang="zh-CN" dirty="0"/>
              <a:t>histogram</a:t>
            </a:r>
            <a:r>
              <a:rPr lang="zh-CN" altLang="en-US" dirty="0"/>
              <a:t>）：对数值型变量进行分段处理后进行频数分析并作图，某一个变量服从倒钟型分布（即中间多，两头少），就是典型的一种直方图分析方法 </a:t>
            </a:r>
            <a:endParaRPr lang="en-US" altLang="zh-CN" dirty="0"/>
          </a:p>
          <a:p>
            <a:pPr lvl="1"/>
            <a:r>
              <a:rPr lang="zh-CN" altLang="en-US" dirty="0"/>
              <a:t>描述性统计：对数值型变量的常用统计量进行分析：均值，总和，最小值，最大值，分位数（如 </a:t>
            </a:r>
            <a:r>
              <a:rPr lang="en-US" altLang="zh-CN" dirty="0"/>
              <a:t>25 </a:t>
            </a:r>
            <a:r>
              <a:rPr lang="zh-CN" altLang="en-US" dirty="0"/>
              <a:t>分位，中位， </a:t>
            </a:r>
            <a:r>
              <a:rPr lang="en-US" altLang="zh-CN" dirty="0"/>
              <a:t>75 </a:t>
            </a:r>
            <a:r>
              <a:rPr lang="zh-CN" altLang="en-US" dirty="0"/>
              <a:t>分位）。</a:t>
            </a:r>
          </a:p>
        </p:txBody>
      </p:sp>
    </p:spTree>
    <p:extLst>
      <p:ext uri="{BB962C8B-B14F-4D97-AF65-F5344CB8AC3E}">
        <p14:creationId xmlns:p14="http://schemas.microsoft.com/office/powerpoint/2010/main" val="1057265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D4C2E3-56A5-4FB5-9397-41AA2CF4D9BD}"/>
              </a:ext>
            </a:extLst>
          </p:cNvPr>
          <p:cNvSpPr>
            <a:spLocks noGrp="1"/>
          </p:cNvSpPr>
          <p:nvPr>
            <p:ph type="title"/>
          </p:nvPr>
        </p:nvSpPr>
        <p:spPr>
          <a:xfrm>
            <a:off x="838200" y="145131"/>
            <a:ext cx="10515600" cy="1124201"/>
          </a:xfrm>
        </p:spPr>
        <p:txBody>
          <a:bodyPr/>
          <a:lstStyle/>
          <a:p>
            <a:r>
              <a:rPr lang="zh-CN" altLang="en-US" dirty="0"/>
              <a:t>频数分析</a:t>
            </a:r>
          </a:p>
        </p:txBody>
      </p:sp>
      <p:sp>
        <p:nvSpPr>
          <p:cNvPr id="3" name="内容占位符 2">
            <a:extLst>
              <a:ext uri="{FF2B5EF4-FFF2-40B4-BE49-F238E27FC236}">
                <a16:creationId xmlns:a16="http://schemas.microsoft.com/office/drawing/2014/main" id="{2EEA4F2E-25D2-40A8-9F9E-B3C60796BA90}"/>
              </a:ext>
            </a:extLst>
          </p:cNvPr>
          <p:cNvSpPr>
            <a:spLocks noGrp="1"/>
          </p:cNvSpPr>
          <p:nvPr>
            <p:ph idx="1"/>
          </p:nvPr>
        </p:nvSpPr>
        <p:spPr>
          <a:xfrm>
            <a:off x="629653" y="1512804"/>
            <a:ext cx="10724147" cy="2589964"/>
          </a:xfrm>
        </p:spPr>
        <p:txBody>
          <a:bodyPr/>
          <a:lstStyle/>
          <a:p>
            <a:r>
              <a:rPr lang="zh-CN" altLang="en-US" dirty="0"/>
              <a:t>频数分析适用于类别型变量，数据集中的 </a:t>
            </a:r>
            <a:r>
              <a:rPr lang="en-US" altLang="zh-CN" dirty="0"/>
              <a:t>Survived</a:t>
            </a:r>
            <a:r>
              <a:rPr lang="zh-CN" altLang="en-US" dirty="0"/>
              <a:t>（是否生还），</a:t>
            </a:r>
            <a:r>
              <a:rPr lang="en-US" altLang="zh-CN" dirty="0" err="1"/>
              <a:t>Pclass</a:t>
            </a:r>
            <a:r>
              <a:rPr lang="zh-CN" altLang="en-US" dirty="0"/>
              <a:t>（客舱等级），</a:t>
            </a:r>
            <a:r>
              <a:rPr lang="en-US" altLang="zh-CN" dirty="0"/>
              <a:t>Sex</a:t>
            </a:r>
            <a:r>
              <a:rPr lang="zh-CN" altLang="en-US" dirty="0"/>
              <a:t>（性别），</a:t>
            </a:r>
            <a:r>
              <a:rPr lang="en-US" altLang="zh-CN" dirty="0"/>
              <a:t>Cabin</a:t>
            </a:r>
            <a:r>
              <a:rPr lang="zh-CN" altLang="en-US" dirty="0"/>
              <a:t>（客舱号）， </a:t>
            </a:r>
            <a:r>
              <a:rPr lang="en-US" altLang="zh-CN" dirty="0"/>
              <a:t>Embarked</a:t>
            </a:r>
            <a:r>
              <a:rPr lang="zh-CN" altLang="en-US" dirty="0"/>
              <a:t>（登船港口）等变量都是类别型变量，所以可以进行频数分析</a:t>
            </a:r>
            <a:endParaRPr lang="en-US" altLang="zh-CN" dirty="0"/>
          </a:p>
          <a:p>
            <a:pPr lvl="1"/>
            <a:r>
              <a:rPr lang="zh-CN" altLang="en-US" dirty="0"/>
              <a:t>通过 </a:t>
            </a:r>
            <a:r>
              <a:rPr lang="en-US" altLang="zh-CN" dirty="0" err="1"/>
              <a:t>value_counts</a:t>
            </a:r>
            <a:r>
              <a:rPr lang="en-US" altLang="zh-CN" dirty="0"/>
              <a:t>() </a:t>
            </a:r>
            <a:r>
              <a:rPr lang="zh-CN" altLang="en-US" dirty="0"/>
              <a:t>方法可以查看指定变量的每一个值的频数分布</a:t>
            </a:r>
            <a:endParaRPr lang="en-US" altLang="zh-CN" dirty="0"/>
          </a:p>
          <a:p>
            <a:pPr lvl="1"/>
            <a:r>
              <a:rPr lang="zh-CN" altLang="en-US" dirty="0"/>
              <a:t>通过 </a:t>
            </a:r>
            <a:r>
              <a:rPr lang="en-US" altLang="zh-CN" dirty="0"/>
              <a:t>matplotlib </a:t>
            </a:r>
            <a:r>
              <a:rPr lang="zh-CN" altLang="en-US" dirty="0"/>
              <a:t>和 </a:t>
            </a:r>
            <a:r>
              <a:rPr lang="en-US" altLang="zh-CN" dirty="0"/>
              <a:t>seaborn </a:t>
            </a:r>
            <a:r>
              <a:rPr lang="zh-CN" altLang="en-US" dirty="0"/>
              <a:t>库可以对数据进行可视化</a:t>
            </a:r>
          </a:p>
        </p:txBody>
      </p:sp>
      <p:pic>
        <p:nvPicPr>
          <p:cNvPr id="5" name="图片 4">
            <a:extLst>
              <a:ext uri="{FF2B5EF4-FFF2-40B4-BE49-F238E27FC236}">
                <a16:creationId xmlns:a16="http://schemas.microsoft.com/office/drawing/2014/main" id="{994367E8-4D38-4DAC-AA94-1C11B42006CD}"/>
              </a:ext>
            </a:extLst>
          </p:cNvPr>
          <p:cNvPicPr>
            <a:picLocks noChangeAspect="1"/>
          </p:cNvPicPr>
          <p:nvPr/>
        </p:nvPicPr>
        <p:blipFill>
          <a:blip r:embed="rId2"/>
          <a:stretch>
            <a:fillRect/>
          </a:stretch>
        </p:blipFill>
        <p:spPr>
          <a:xfrm>
            <a:off x="1204781" y="3954474"/>
            <a:ext cx="8350679" cy="2781443"/>
          </a:xfrm>
          <a:prstGeom prst="rect">
            <a:avLst/>
          </a:prstGeom>
        </p:spPr>
      </p:pic>
    </p:spTree>
    <p:extLst>
      <p:ext uri="{BB962C8B-B14F-4D97-AF65-F5344CB8AC3E}">
        <p14:creationId xmlns:p14="http://schemas.microsoft.com/office/powerpoint/2010/main" val="1021753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微软雅黑" panose="020B0503020204020204" pitchFamily="34" charset="-122"/>
                <a:ea typeface="微软雅黑" panose="020B0503020204020204" pitchFamily="34" charset="-122"/>
                <a:cs typeface="Arial" panose="020B0604020202020204" pitchFamily="34" charset="0"/>
              </a:rPr>
              <a:t>分布分析</a:t>
            </a:r>
            <a:endParaRPr lang="zh-CN" altLang="en-US" dirty="0">
              <a:ea typeface="思源黑体 CN ExtraLight" panose="020B0200000000000000" charset="-122"/>
            </a:endParaRP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pPr/>
              <a:t>14</a:t>
            </a:fld>
            <a:endParaRPr lang="zh-CN" altLang="en-US" dirty="0"/>
          </a:p>
        </p:txBody>
      </p:sp>
      <p:sp>
        <p:nvSpPr>
          <p:cNvPr id="10" name="Rectangle 47">
            <a:extLst>
              <a:ext uri="{FF2B5EF4-FFF2-40B4-BE49-F238E27FC236}">
                <a16:creationId xmlns:a16="http://schemas.microsoft.com/office/drawing/2014/main" id="{BDB38290-2A01-4B64-B326-6D4BB135F428}"/>
              </a:ext>
            </a:extLst>
          </p:cNvPr>
          <p:cNvSpPr/>
          <p:nvPr/>
        </p:nvSpPr>
        <p:spPr>
          <a:xfrm>
            <a:off x="669925" y="1369361"/>
            <a:ext cx="4408125" cy="307777"/>
          </a:xfrm>
          <a:prstGeom prst="rect">
            <a:avLst/>
          </a:prstGeom>
        </p:spPr>
        <p:txBody>
          <a:bodyPr wrap="square" lIns="0" tIns="0" rIns="0" bIns="0">
            <a:spAutoFit/>
          </a:bodyPr>
          <a:lstStyle/>
          <a:p>
            <a:r>
              <a:rPr lang="en-US" altLang="zh-CN" sz="2000" dirty="0"/>
              <a:t>Survived</a:t>
            </a:r>
            <a:r>
              <a:rPr lang="zh-CN" altLang="en-US" sz="2000" dirty="0"/>
              <a:t>（是否生还）分布分析</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11" name="图片 10">
            <a:extLst>
              <a:ext uri="{FF2B5EF4-FFF2-40B4-BE49-F238E27FC236}">
                <a16:creationId xmlns:a16="http://schemas.microsoft.com/office/drawing/2014/main" id="{E52BB774-998A-4992-9F01-85BF12A6DB4D}"/>
              </a:ext>
            </a:extLst>
          </p:cNvPr>
          <p:cNvPicPr>
            <a:picLocks noChangeAspect="1"/>
          </p:cNvPicPr>
          <p:nvPr/>
        </p:nvPicPr>
        <p:blipFill>
          <a:blip r:embed="rId2"/>
          <a:stretch>
            <a:fillRect/>
          </a:stretch>
        </p:blipFill>
        <p:spPr>
          <a:xfrm>
            <a:off x="669925" y="1987211"/>
            <a:ext cx="5401921" cy="2059338"/>
          </a:xfrm>
          <a:prstGeom prst="rect">
            <a:avLst/>
          </a:prstGeom>
        </p:spPr>
      </p:pic>
      <p:pic>
        <p:nvPicPr>
          <p:cNvPr id="12" name="图片 11">
            <a:extLst>
              <a:ext uri="{FF2B5EF4-FFF2-40B4-BE49-F238E27FC236}">
                <a16:creationId xmlns:a16="http://schemas.microsoft.com/office/drawing/2014/main" id="{FF6665FF-07F7-443B-9D48-7991BB718CE6}"/>
              </a:ext>
            </a:extLst>
          </p:cNvPr>
          <p:cNvPicPr>
            <a:picLocks noChangeAspect="1"/>
          </p:cNvPicPr>
          <p:nvPr/>
        </p:nvPicPr>
        <p:blipFill>
          <a:blip r:embed="rId3"/>
          <a:stretch>
            <a:fillRect/>
          </a:stretch>
        </p:blipFill>
        <p:spPr>
          <a:xfrm>
            <a:off x="5602475" y="2597754"/>
            <a:ext cx="6592956" cy="3196585"/>
          </a:xfrm>
          <a:prstGeom prst="rect">
            <a:avLst/>
          </a:prstGeom>
        </p:spPr>
      </p:pic>
      <p:sp>
        <p:nvSpPr>
          <p:cNvPr id="13" name="矩形 12">
            <a:extLst>
              <a:ext uri="{FF2B5EF4-FFF2-40B4-BE49-F238E27FC236}">
                <a16:creationId xmlns:a16="http://schemas.microsoft.com/office/drawing/2014/main" id="{8507AB05-FD59-4816-9C42-66C02B788973}"/>
              </a:ext>
            </a:extLst>
          </p:cNvPr>
          <p:cNvSpPr/>
          <p:nvPr/>
        </p:nvSpPr>
        <p:spPr>
          <a:xfrm>
            <a:off x="1139408" y="5919018"/>
            <a:ext cx="8926135" cy="369332"/>
          </a:xfrm>
          <a:prstGeom prst="rect">
            <a:avLst/>
          </a:prstGeom>
        </p:spPr>
        <p:txBody>
          <a:bodyPr wrap="square">
            <a:spAutoFit/>
          </a:bodyPr>
          <a:lstStyle/>
          <a:p>
            <a:r>
              <a:rPr lang="zh-CN" altLang="en-US" dirty="0">
                <a:solidFill>
                  <a:srgbClr val="FFC000"/>
                </a:solidFill>
              </a:rPr>
              <a:t>结论：</a:t>
            </a:r>
            <a:r>
              <a:rPr lang="zh-CN" altLang="en-US" dirty="0"/>
              <a:t>从频数分析结果来看，训练样本中，有 </a:t>
            </a:r>
            <a:r>
              <a:rPr lang="en-US" altLang="zh-CN" dirty="0"/>
              <a:t>38%</a:t>
            </a:r>
            <a:r>
              <a:rPr lang="zh-CN" altLang="en-US" dirty="0"/>
              <a:t>的乘客生还了。</a:t>
            </a:r>
          </a:p>
        </p:txBody>
      </p:sp>
    </p:spTree>
    <p:extLst>
      <p:ext uri="{BB962C8B-B14F-4D97-AF65-F5344CB8AC3E}">
        <p14:creationId xmlns:p14="http://schemas.microsoft.com/office/powerpoint/2010/main" val="857449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微软雅黑" panose="020B0503020204020204" pitchFamily="34" charset="-122"/>
                <a:ea typeface="微软雅黑" panose="020B0503020204020204" pitchFamily="34" charset="-122"/>
                <a:cs typeface="Arial" panose="020B0604020202020204" pitchFamily="34" charset="0"/>
              </a:rPr>
              <a:t>分布分析</a:t>
            </a:r>
            <a:endParaRPr lang="zh-CN" altLang="en-US" dirty="0">
              <a:ea typeface="思源黑体 CN ExtraLight" panose="020B0200000000000000" charset="-122"/>
            </a:endParaRP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pPr/>
              <a:t>15</a:t>
            </a:fld>
            <a:endParaRPr lang="zh-CN" altLang="en-US" dirty="0"/>
          </a:p>
        </p:txBody>
      </p:sp>
      <p:sp>
        <p:nvSpPr>
          <p:cNvPr id="6" name="Rectangle 47">
            <a:extLst>
              <a:ext uri="{FF2B5EF4-FFF2-40B4-BE49-F238E27FC236}">
                <a16:creationId xmlns:a16="http://schemas.microsoft.com/office/drawing/2014/main" id="{0102A60F-55EE-4325-A6D4-1B14375D507C}"/>
              </a:ext>
            </a:extLst>
          </p:cNvPr>
          <p:cNvSpPr/>
          <p:nvPr/>
        </p:nvSpPr>
        <p:spPr>
          <a:xfrm>
            <a:off x="763170" y="1222639"/>
            <a:ext cx="4951465" cy="923330"/>
          </a:xfrm>
          <a:prstGeom prst="rect">
            <a:avLst/>
          </a:prstGeom>
        </p:spPr>
        <p:txBody>
          <a:bodyPr wrap="square" lIns="0" tIns="0" rIns="0" bIns="0">
            <a:spAutoFit/>
          </a:bodyPr>
          <a:lstStyle/>
          <a:p>
            <a:r>
              <a:rPr lang="zh-CN" altLang="en-US" sz="2000" b="1" dirty="0">
                <a:solidFill>
                  <a:srgbClr val="FFC000"/>
                </a:solidFill>
              </a:rPr>
              <a:t>直方图</a:t>
            </a:r>
            <a:r>
              <a:rPr lang="zh-CN" altLang="en-US" sz="2000" dirty="0"/>
              <a:t>用于查看连续型变量的取值分布情况，可以通过 </a:t>
            </a:r>
            <a:r>
              <a:rPr lang="en-US" altLang="zh-CN" sz="2000" dirty="0"/>
              <a:t>pandas </a:t>
            </a:r>
            <a:r>
              <a:rPr lang="zh-CN" altLang="en-US" sz="2000" dirty="0"/>
              <a:t>数据对象的 </a:t>
            </a:r>
            <a:r>
              <a:rPr lang="en-US" altLang="zh-CN" sz="2000" dirty="0"/>
              <a:t>hist()</a:t>
            </a:r>
            <a:r>
              <a:rPr lang="zh-CN" altLang="en-US" sz="2000" dirty="0"/>
              <a:t>方法来绘制直方图。</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矩形 6">
            <a:extLst>
              <a:ext uri="{FF2B5EF4-FFF2-40B4-BE49-F238E27FC236}">
                <a16:creationId xmlns:a16="http://schemas.microsoft.com/office/drawing/2014/main" id="{4BC11CAB-BF1B-42D1-94B4-A5D0AF36D8E5}"/>
              </a:ext>
            </a:extLst>
          </p:cNvPr>
          <p:cNvSpPr/>
          <p:nvPr/>
        </p:nvSpPr>
        <p:spPr>
          <a:xfrm>
            <a:off x="732912" y="5084458"/>
            <a:ext cx="10751229" cy="923330"/>
          </a:xfrm>
          <a:prstGeom prst="rect">
            <a:avLst/>
          </a:prstGeom>
        </p:spPr>
        <p:txBody>
          <a:bodyPr wrap="square">
            <a:spAutoFit/>
          </a:bodyPr>
          <a:lstStyle/>
          <a:p>
            <a:r>
              <a:rPr lang="zh-CN" altLang="en-US" b="1" dirty="0">
                <a:solidFill>
                  <a:srgbClr val="FFC000"/>
                </a:solidFill>
              </a:rPr>
              <a:t>结论：</a:t>
            </a:r>
            <a:r>
              <a:rPr lang="zh-CN" altLang="en-US" dirty="0"/>
              <a:t>从 </a:t>
            </a:r>
            <a:r>
              <a:rPr lang="en-US" altLang="zh-CN" dirty="0"/>
              <a:t>Age </a:t>
            </a:r>
            <a:r>
              <a:rPr lang="zh-CN" altLang="en-US" dirty="0"/>
              <a:t>的直方图可以看到：年龄分布呈现中间高， 两头低的状态，乘客的主要年龄集中在 </a:t>
            </a:r>
            <a:r>
              <a:rPr lang="en-US" altLang="zh-CN" dirty="0"/>
              <a:t>20-30 </a:t>
            </a:r>
            <a:r>
              <a:rPr lang="zh-CN" altLang="en-US" dirty="0"/>
              <a:t>之间。上图 的直方图把 </a:t>
            </a:r>
            <a:r>
              <a:rPr lang="en-US" altLang="zh-CN" dirty="0"/>
              <a:t>Age </a:t>
            </a:r>
            <a:r>
              <a:rPr lang="zh-CN" altLang="en-US" dirty="0"/>
              <a:t>划分为 </a:t>
            </a:r>
            <a:r>
              <a:rPr lang="en-US" altLang="zh-CN" dirty="0"/>
              <a:t>50 </a:t>
            </a:r>
            <a:r>
              <a:rPr lang="zh-CN" altLang="en-US" dirty="0"/>
              <a:t>个区间，对应 </a:t>
            </a:r>
            <a:r>
              <a:rPr lang="en-US" altLang="zh-CN" dirty="0"/>
              <a:t>50 </a:t>
            </a:r>
            <a:r>
              <a:rPr lang="zh-CN" altLang="en-US" dirty="0"/>
              <a:t>个柱子，可以理解为先对 </a:t>
            </a:r>
            <a:r>
              <a:rPr lang="en-US" altLang="zh-CN" dirty="0"/>
              <a:t>50 </a:t>
            </a:r>
            <a:r>
              <a:rPr lang="zh-CN" altLang="en-US" dirty="0"/>
              <a:t>个区间做了频数分析，然后用柱形图对频数进行呈现</a:t>
            </a:r>
          </a:p>
        </p:txBody>
      </p:sp>
      <p:pic>
        <p:nvPicPr>
          <p:cNvPr id="8" name="图片 7">
            <a:extLst>
              <a:ext uri="{FF2B5EF4-FFF2-40B4-BE49-F238E27FC236}">
                <a16:creationId xmlns:a16="http://schemas.microsoft.com/office/drawing/2014/main" id="{6BA6B4B4-DE9F-46D8-A281-3BD9235BB2FC}"/>
              </a:ext>
            </a:extLst>
          </p:cNvPr>
          <p:cNvPicPr>
            <a:picLocks noChangeAspect="1"/>
          </p:cNvPicPr>
          <p:nvPr/>
        </p:nvPicPr>
        <p:blipFill>
          <a:blip r:embed="rId2"/>
          <a:stretch>
            <a:fillRect/>
          </a:stretch>
        </p:blipFill>
        <p:spPr>
          <a:xfrm>
            <a:off x="1167703" y="2748169"/>
            <a:ext cx="3473212" cy="1413874"/>
          </a:xfrm>
          <a:prstGeom prst="rect">
            <a:avLst/>
          </a:prstGeom>
        </p:spPr>
      </p:pic>
      <p:pic>
        <p:nvPicPr>
          <p:cNvPr id="9" name="图片 8">
            <a:extLst>
              <a:ext uri="{FF2B5EF4-FFF2-40B4-BE49-F238E27FC236}">
                <a16:creationId xmlns:a16="http://schemas.microsoft.com/office/drawing/2014/main" id="{E0F60611-F37E-4B98-A52B-93931AC0B8B3}"/>
              </a:ext>
            </a:extLst>
          </p:cNvPr>
          <p:cNvPicPr>
            <a:picLocks noChangeAspect="1"/>
          </p:cNvPicPr>
          <p:nvPr/>
        </p:nvPicPr>
        <p:blipFill>
          <a:blip r:embed="rId3"/>
          <a:stretch>
            <a:fillRect/>
          </a:stretch>
        </p:blipFill>
        <p:spPr>
          <a:xfrm>
            <a:off x="5852755" y="1222639"/>
            <a:ext cx="6061324" cy="3433582"/>
          </a:xfrm>
          <a:prstGeom prst="rect">
            <a:avLst/>
          </a:prstGeom>
        </p:spPr>
      </p:pic>
    </p:spTree>
    <p:extLst>
      <p:ext uri="{BB962C8B-B14F-4D97-AF65-F5344CB8AC3E}">
        <p14:creationId xmlns:p14="http://schemas.microsoft.com/office/powerpoint/2010/main" val="470175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mj-ea"/>
                <a:cs typeface="Arial" panose="020B0604020202020204" pitchFamily="34" charset="0"/>
              </a:rPr>
              <a:t>统计量分析</a:t>
            </a:r>
            <a:endParaRPr lang="zh-CN" altLang="en-US" dirty="0">
              <a:latin typeface="+mj-ea"/>
            </a:endParaRP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latin typeface="+mj-ea"/>
                <a:ea typeface="+mj-ea"/>
              </a:rPr>
              <a:pPr/>
              <a:t>16</a:t>
            </a:fld>
            <a:endParaRPr lang="zh-CN" altLang="en-US" dirty="0">
              <a:latin typeface="+mj-ea"/>
              <a:ea typeface="+mj-ea"/>
            </a:endParaRPr>
          </a:p>
        </p:txBody>
      </p:sp>
      <p:sp>
        <p:nvSpPr>
          <p:cNvPr id="6" name="Rectangle 47">
            <a:extLst>
              <a:ext uri="{FF2B5EF4-FFF2-40B4-BE49-F238E27FC236}">
                <a16:creationId xmlns:a16="http://schemas.microsoft.com/office/drawing/2014/main" id="{33E2C9B5-5B21-4FCE-A20F-3000426B704C}"/>
              </a:ext>
            </a:extLst>
          </p:cNvPr>
          <p:cNvSpPr/>
          <p:nvPr/>
        </p:nvSpPr>
        <p:spPr>
          <a:xfrm>
            <a:off x="654918" y="1650173"/>
            <a:ext cx="10829224" cy="1107996"/>
          </a:xfrm>
          <a:prstGeom prst="rect">
            <a:avLst/>
          </a:prstGeom>
        </p:spPr>
        <p:txBody>
          <a:bodyPr wrap="square" lIns="0" tIns="0" rIns="0" bIns="0">
            <a:spAutoFit/>
          </a:bodyPr>
          <a:lstStyle/>
          <a:p>
            <a:r>
              <a:rPr lang="zh-CN" altLang="en-US" sz="2400" dirty="0">
                <a:latin typeface="+mj-ea"/>
                <a:ea typeface="+mj-ea"/>
              </a:rPr>
              <a:t>指计算数值型变量的常用统计量，例如：</a:t>
            </a:r>
            <a:r>
              <a:rPr lang="zh-CN" altLang="en-US" sz="2400" u="sng" dirty="0">
                <a:solidFill>
                  <a:srgbClr val="0070C0"/>
                </a:solidFill>
                <a:latin typeface="+mj-ea"/>
                <a:ea typeface="+mj-ea"/>
              </a:rPr>
              <a:t>均值，方差，最小值，最大值，分位数</a:t>
            </a:r>
            <a:r>
              <a:rPr lang="zh-CN" altLang="en-US" sz="2400" dirty="0">
                <a:latin typeface="+mj-ea"/>
                <a:ea typeface="+mj-ea"/>
              </a:rPr>
              <a:t>等， 目的也是为了更好的了解变量的分布情况。对所有数值型变量进行描述统计使用 </a:t>
            </a:r>
            <a:r>
              <a:rPr lang="en-US" altLang="zh-CN" sz="2400" dirty="0">
                <a:latin typeface="+mj-ea"/>
                <a:ea typeface="+mj-ea"/>
              </a:rPr>
              <a:t>pandas </a:t>
            </a:r>
            <a:r>
              <a:rPr lang="zh-CN" altLang="en-US" sz="2400" dirty="0">
                <a:latin typeface="+mj-ea"/>
                <a:ea typeface="+mj-ea"/>
              </a:rPr>
              <a:t>数据对象的 </a:t>
            </a:r>
            <a:r>
              <a:rPr lang="en-US" altLang="zh-CN" sz="2400" dirty="0">
                <a:latin typeface="+mj-ea"/>
                <a:ea typeface="+mj-ea"/>
              </a:rPr>
              <a:t>describe()</a:t>
            </a:r>
            <a:r>
              <a:rPr lang="zh-CN" altLang="en-US" sz="2400" dirty="0">
                <a:latin typeface="+mj-ea"/>
                <a:ea typeface="+mj-ea"/>
              </a:rPr>
              <a:t>方法，该方法默认出如下统计量 </a:t>
            </a:r>
            <a:r>
              <a:rPr lang="en-US" altLang="zh-CN" sz="2400" dirty="0">
                <a:latin typeface="+mj-ea"/>
                <a:ea typeface="+mj-ea"/>
              </a:rPr>
              <a:t>:</a:t>
            </a:r>
            <a:endParaRPr lang="en-US" altLang="zh-CN" sz="2000" dirty="0">
              <a:latin typeface="+mj-ea"/>
              <a:ea typeface="+mj-ea"/>
              <a:cs typeface="Arial" panose="020B0604020202020204" pitchFamily="34" charset="0"/>
            </a:endParaRPr>
          </a:p>
        </p:txBody>
      </p:sp>
      <p:sp>
        <p:nvSpPr>
          <p:cNvPr id="7" name="矩形 6">
            <a:extLst>
              <a:ext uri="{FF2B5EF4-FFF2-40B4-BE49-F238E27FC236}">
                <a16:creationId xmlns:a16="http://schemas.microsoft.com/office/drawing/2014/main" id="{08A0FF02-9D31-48F9-AAF7-B33E6F50E508}"/>
              </a:ext>
            </a:extLst>
          </p:cNvPr>
          <p:cNvSpPr/>
          <p:nvPr/>
        </p:nvSpPr>
        <p:spPr>
          <a:xfrm>
            <a:off x="1264624" y="3241564"/>
            <a:ext cx="6357381" cy="2677656"/>
          </a:xfrm>
          <a:prstGeom prst="rect">
            <a:avLst/>
          </a:prstGeom>
        </p:spPr>
        <p:txBody>
          <a:bodyPr wrap="square">
            <a:spAutoFit/>
          </a:bodyPr>
          <a:lstStyle/>
          <a:p>
            <a:pPr marL="342900" indent="-342900">
              <a:buFont typeface="Wingdings" panose="05000000000000000000" pitchFamily="2" charset="2"/>
              <a:buChar char="p"/>
            </a:pPr>
            <a:r>
              <a:rPr lang="en-US" altLang="zh-CN" sz="2400" dirty="0">
                <a:latin typeface="+mj-ea"/>
                <a:ea typeface="+mj-ea"/>
              </a:rPr>
              <a:t>count</a:t>
            </a:r>
            <a:r>
              <a:rPr lang="zh-CN" altLang="en-US" sz="2400" dirty="0">
                <a:latin typeface="+mj-ea"/>
                <a:ea typeface="+mj-ea"/>
              </a:rPr>
              <a:t>：非空值频数 </a:t>
            </a:r>
            <a:endParaRPr lang="en-US" altLang="zh-CN" sz="2400" dirty="0">
              <a:latin typeface="+mj-ea"/>
              <a:ea typeface="+mj-ea"/>
            </a:endParaRPr>
          </a:p>
          <a:p>
            <a:pPr marL="342900" indent="-342900">
              <a:buFont typeface="Wingdings" panose="05000000000000000000" pitchFamily="2" charset="2"/>
              <a:buChar char="p"/>
            </a:pPr>
            <a:r>
              <a:rPr lang="en-US" altLang="zh-CN" sz="2400" dirty="0">
                <a:latin typeface="+mj-ea"/>
                <a:ea typeface="+mj-ea"/>
              </a:rPr>
              <a:t>mean</a:t>
            </a:r>
            <a:r>
              <a:rPr lang="zh-CN" altLang="en-US" sz="2400" dirty="0">
                <a:latin typeface="+mj-ea"/>
                <a:ea typeface="+mj-ea"/>
              </a:rPr>
              <a:t>：均值 </a:t>
            </a:r>
            <a:r>
              <a:rPr lang="en-US" altLang="zh-CN" sz="2400" dirty="0">
                <a:latin typeface="+mj-ea"/>
                <a:ea typeface="+mj-ea"/>
              </a:rPr>
              <a:t>n std</a:t>
            </a:r>
            <a:r>
              <a:rPr lang="zh-CN" altLang="en-US" sz="2400" dirty="0">
                <a:latin typeface="+mj-ea"/>
                <a:ea typeface="+mj-ea"/>
              </a:rPr>
              <a:t>：标准差</a:t>
            </a:r>
            <a:endParaRPr lang="en-US" altLang="zh-CN" sz="2400" dirty="0">
              <a:latin typeface="+mj-ea"/>
              <a:ea typeface="+mj-ea"/>
            </a:endParaRPr>
          </a:p>
          <a:p>
            <a:pPr marL="342900" indent="-342900">
              <a:buFont typeface="Wingdings" panose="05000000000000000000" pitchFamily="2" charset="2"/>
              <a:buChar char="p"/>
            </a:pPr>
            <a:r>
              <a:rPr lang="en-US" altLang="zh-CN" sz="2400" dirty="0">
                <a:latin typeface="+mj-ea"/>
                <a:ea typeface="+mj-ea"/>
              </a:rPr>
              <a:t>min</a:t>
            </a:r>
            <a:r>
              <a:rPr lang="zh-CN" altLang="en-US" sz="2400" dirty="0">
                <a:latin typeface="+mj-ea"/>
                <a:ea typeface="+mj-ea"/>
              </a:rPr>
              <a:t>：最小值</a:t>
            </a:r>
            <a:endParaRPr lang="en-US" altLang="zh-CN" sz="2400" dirty="0">
              <a:latin typeface="+mj-ea"/>
              <a:ea typeface="+mj-ea"/>
            </a:endParaRPr>
          </a:p>
          <a:p>
            <a:pPr marL="342900" indent="-342900">
              <a:buFont typeface="Wingdings" panose="05000000000000000000" pitchFamily="2" charset="2"/>
              <a:buChar char="p"/>
            </a:pPr>
            <a:r>
              <a:rPr lang="en-US" altLang="zh-CN" sz="2400" dirty="0">
                <a:latin typeface="+mj-ea"/>
                <a:ea typeface="+mj-ea"/>
              </a:rPr>
              <a:t>25%</a:t>
            </a:r>
            <a:r>
              <a:rPr lang="zh-CN" altLang="en-US" sz="2400" dirty="0">
                <a:latin typeface="+mj-ea"/>
                <a:ea typeface="+mj-ea"/>
              </a:rPr>
              <a:t>： </a:t>
            </a:r>
            <a:r>
              <a:rPr lang="en-US" altLang="zh-CN" sz="2400" dirty="0">
                <a:latin typeface="+mj-ea"/>
                <a:ea typeface="+mj-ea"/>
              </a:rPr>
              <a:t>25%</a:t>
            </a:r>
            <a:r>
              <a:rPr lang="zh-CN" altLang="en-US" sz="2400" dirty="0">
                <a:latin typeface="+mj-ea"/>
                <a:ea typeface="+mj-ea"/>
              </a:rPr>
              <a:t>分位数，又叫下四分位数</a:t>
            </a:r>
            <a:endParaRPr lang="en-US" altLang="zh-CN" sz="2400" dirty="0">
              <a:latin typeface="+mj-ea"/>
              <a:ea typeface="+mj-ea"/>
            </a:endParaRPr>
          </a:p>
          <a:p>
            <a:pPr marL="342900" indent="-342900">
              <a:buFont typeface="Wingdings" panose="05000000000000000000" pitchFamily="2" charset="2"/>
              <a:buChar char="p"/>
            </a:pPr>
            <a:r>
              <a:rPr lang="en-US" altLang="zh-CN" sz="2400" dirty="0">
                <a:latin typeface="+mj-ea"/>
                <a:ea typeface="+mj-ea"/>
              </a:rPr>
              <a:t>50%</a:t>
            </a:r>
            <a:r>
              <a:rPr lang="zh-CN" altLang="en-US" sz="2400" dirty="0">
                <a:latin typeface="+mj-ea"/>
                <a:ea typeface="+mj-ea"/>
              </a:rPr>
              <a:t>： </a:t>
            </a:r>
            <a:r>
              <a:rPr lang="en-US" altLang="zh-CN" sz="2400" dirty="0">
                <a:latin typeface="+mj-ea"/>
                <a:ea typeface="+mj-ea"/>
              </a:rPr>
              <a:t>50%</a:t>
            </a:r>
            <a:r>
              <a:rPr lang="zh-CN" altLang="en-US" sz="2400" dirty="0">
                <a:latin typeface="+mj-ea"/>
                <a:ea typeface="+mj-ea"/>
              </a:rPr>
              <a:t>分位数，又叫中位数</a:t>
            </a:r>
            <a:r>
              <a:rPr lang="en-US" altLang="zh-CN" sz="2400" dirty="0">
                <a:latin typeface="+mj-ea"/>
                <a:ea typeface="+mj-ea"/>
              </a:rPr>
              <a:t>(median)</a:t>
            </a:r>
          </a:p>
          <a:p>
            <a:pPr marL="342900" indent="-342900">
              <a:buFont typeface="Wingdings" panose="05000000000000000000" pitchFamily="2" charset="2"/>
              <a:buChar char="p"/>
            </a:pPr>
            <a:r>
              <a:rPr lang="en-US" altLang="zh-CN" sz="2400" dirty="0">
                <a:latin typeface="+mj-ea"/>
                <a:ea typeface="+mj-ea"/>
              </a:rPr>
              <a:t>75%</a:t>
            </a:r>
            <a:r>
              <a:rPr lang="zh-CN" altLang="en-US" sz="2400" dirty="0">
                <a:latin typeface="+mj-ea"/>
                <a:ea typeface="+mj-ea"/>
              </a:rPr>
              <a:t>： </a:t>
            </a:r>
            <a:r>
              <a:rPr lang="en-US" altLang="zh-CN" sz="2400" dirty="0">
                <a:latin typeface="+mj-ea"/>
                <a:ea typeface="+mj-ea"/>
              </a:rPr>
              <a:t>75%</a:t>
            </a:r>
            <a:r>
              <a:rPr lang="zh-CN" altLang="en-US" sz="2400" dirty="0">
                <a:latin typeface="+mj-ea"/>
                <a:ea typeface="+mj-ea"/>
              </a:rPr>
              <a:t>分位数，又叫上四分位数</a:t>
            </a:r>
            <a:endParaRPr lang="en-US" altLang="zh-CN" sz="2400" dirty="0">
              <a:latin typeface="+mj-ea"/>
              <a:ea typeface="+mj-ea"/>
            </a:endParaRPr>
          </a:p>
          <a:p>
            <a:pPr marL="342900" indent="-342900">
              <a:buFont typeface="Wingdings" panose="05000000000000000000" pitchFamily="2" charset="2"/>
              <a:buChar char="p"/>
            </a:pPr>
            <a:r>
              <a:rPr lang="en-US" altLang="zh-CN" sz="2400" dirty="0">
                <a:latin typeface="+mj-ea"/>
                <a:ea typeface="+mj-ea"/>
              </a:rPr>
              <a:t>max</a:t>
            </a:r>
            <a:r>
              <a:rPr lang="zh-CN" altLang="en-US" sz="2400" dirty="0">
                <a:latin typeface="+mj-ea"/>
                <a:ea typeface="+mj-ea"/>
              </a:rPr>
              <a:t>：最大值</a:t>
            </a:r>
          </a:p>
        </p:txBody>
      </p:sp>
    </p:spTree>
    <p:extLst>
      <p:ext uri="{BB962C8B-B14F-4D97-AF65-F5344CB8AC3E}">
        <p14:creationId xmlns:p14="http://schemas.microsoft.com/office/powerpoint/2010/main" val="1235439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mj-ea"/>
                <a:cs typeface="Arial" panose="020B0604020202020204" pitchFamily="34" charset="0"/>
              </a:rPr>
              <a:t>统计量分析</a:t>
            </a:r>
            <a:endParaRPr lang="zh-CN" altLang="en-US" dirty="0">
              <a:latin typeface="+mj-ea"/>
            </a:endParaRP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latin typeface="+mj-ea"/>
                <a:ea typeface="+mj-ea"/>
              </a:rPr>
              <a:pPr/>
              <a:t>17</a:t>
            </a:fld>
            <a:endParaRPr lang="zh-CN" altLang="en-US" dirty="0">
              <a:latin typeface="+mj-ea"/>
              <a:ea typeface="+mj-ea"/>
            </a:endParaRPr>
          </a:p>
        </p:txBody>
      </p:sp>
      <p:pic>
        <p:nvPicPr>
          <p:cNvPr id="6" name="图片 5">
            <a:extLst>
              <a:ext uri="{FF2B5EF4-FFF2-40B4-BE49-F238E27FC236}">
                <a16:creationId xmlns:a16="http://schemas.microsoft.com/office/drawing/2014/main" id="{BAF891C7-5B56-4571-BA53-88D5FC856A5A}"/>
              </a:ext>
            </a:extLst>
          </p:cNvPr>
          <p:cNvPicPr>
            <a:picLocks noChangeAspect="1"/>
          </p:cNvPicPr>
          <p:nvPr/>
        </p:nvPicPr>
        <p:blipFill>
          <a:blip r:embed="rId2"/>
          <a:stretch>
            <a:fillRect/>
          </a:stretch>
        </p:blipFill>
        <p:spPr>
          <a:xfrm>
            <a:off x="748744" y="1656893"/>
            <a:ext cx="4444614" cy="872307"/>
          </a:xfrm>
          <a:prstGeom prst="rect">
            <a:avLst/>
          </a:prstGeom>
        </p:spPr>
      </p:pic>
      <p:pic>
        <p:nvPicPr>
          <p:cNvPr id="7" name="图片 6">
            <a:extLst>
              <a:ext uri="{FF2B5EF4-FFF2-40B4-BE49-F238E27FC236}">
                <a16:creationId xmlns:a16="http://schemas.microsoft.com/office/drawing/2014/main" id="{4549EE31-C4C1-44CC-A239-607A2D259F69}"/>
              </a:ext>
            </a:extLst>
          </p:cNvPr>
          <p:cNvPicPr>
            <a:picLocks noChangeAspect="1"/>
          </p:cNvPicPr>
          <p:nvPr/>
        </p:nvPicPr>
        <p:blipFill>
          <a:blip r:embed="rId3"/>
          <a:stretch>
            <a:fillRect/>
          </a:stretch>
        </p:blipFill>
        <p:spPr>
          <a:xfrm>
            <a:off x="1116346" y="3316841"/>
            <a:ext cx="4840982" cy="2359018"/>
          </a:xfrm>
          <a:prstGeom prst="rect">
            <a:avLst/>
          </a:prstGeom>
        </p:spPr>
      </p:pic>
      <p:pic>
        <p:nvPicPr>
          <p:cNvPr id="8" name="图片 7">
            <a:extLst>
              <a:ext uri="{FF2B5EF4-FFF2-40B4-BE49-F238E27FC236}">
                <a16:creationId xmlns:a16="http://schemas.microsoft.com/office/drawing/2014/main" id="{463B1AB2-FDBC-41CF-B19D-454332E6E9FC}"/>
              </a:ext>
            </a:extLst>
          </p:cNvPr>
          <p:cNvPicPr>
            <a:picLocks noChangeAspect="1"/>
          </p:cNvPicPr>
          <p:nvPr/>
        </p:nvPicPr>
        <p:blipFill>
          <a:blip r:embed="rId4"/>
          <a:stretch>
            <a:fillRect/>
          </a:stretch>
        </p:blipFill>
        <p:spPr>
          <a:xfrm>
            <a:off x="5692468" y="1784004"/>
            <a:ext cx="6211197" cy="666676"/>
          </a:xfrm>
          <a:prstGeom prst="rect">
            <a:avLst/>
          </a:prstGeom>
        </p:spPr>
      </p:pic>
      <p:pic>
        <p:nvPicPr>
          <p:cNvPr id="9" name="图片 8">
            <a:extLst>
              <a:ext uri="{FF2B5EF4-FFF2-40B4-BE49-F238E27FC236}">
                <a16:creationId xmlns:a16="http://schemas.microsoft.com/office/drawing/2014/main" id="{43068D1D-0854-4E89-880C-90BABECF52B3}"/>
              </a:ext>
            </a:extLst>
          </p:cNvPr>
          <p:cNvPicPr>
            <a:picLocks noChangeAspect="1"/>
          </p:cNvPicPr>
          <p:nvPr/>
        </p:nvPicPr>
        <p:blipFill>
          <a:blip r:embed="rId5"/>
          <a:stretch>
            <a:fillRect/>
          </a:stretch>
        </p:blipFill>
        <p:spPr>
          <a:xfrm>
            <a:off x="6795215" y="3101686"/>
            <a:ext cx="3211953" cy="2574173"/>
          </a:xfrm>
          <a:prstGeom prst="rect">
            <a:avLst/>
          </a:prstGeom>
        </p:spPr>
      </p:pic>
    </p:spTree>
    <p:extLst>
      <p:ext uri="{BB962C8B-B14F-4D97-AF65-F5344CB8AC3E}">
        <p14:creationId xmlns:p14="http://schemas.microsoft.com/office/powerpoint/2010/main" val="4156695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BAF59D-9327-478B-97B3-4697C32EAEA5}"/>
              </a:ext>
            </a:extLst>
          </p:cNvPr>
          <p:cNvSpPr>
            <a:spLocks noGrp="1"/>
          </p:cNvSpPr>
          <p:nvPr>
            <p:ph type="title"/>
          </p:nvPr>
        </p:nvSpPr>
        <p:spPr/>
        <p:txBody>
          <a:bodyPr/>
          <a:lstStyle/>
          <a:p>
            <a:r>
              <a:rPr lang="zh-CN" altLang="en-US" dirty="0"/>
              <a:t>多变量数据探索</a:t>
            </a:r>
          </a:p>
        </p:txBody>
      </p:sp>
      <p:sp>
        <p:nvSpPr>
          <p:cNvPr id="4" name="文本框 3">
            <a:extLst>
              <a:ext uri="{FF2B5EF4-FFF2-40B4-BE49-F238E27FC236}">
                <a16:creationId xmlns:a16="http://schemas.microsoft.com/office/drawing/2014/main" id="{F3CB8E20-55A7-4468-BE57-02D5B4333C4D}"/>
              </a:ext>
            </a:extLst>
          </p:cNvPr>
          <p:cNvSpPr txBox="1"/>
          <p:nvPr/>
        </p:nvSpPr>
        <p:spPr>
          <a:xfrm>
            <a:off x="627647" y="1835822"/>
            <a:ext cx="10515599" cy="3375283"/>
          </a:xfrm>
          <a:prstGeom prst="rect">
            <a:avLst/>
          </a:prstGeom>
          <a:noFill/>
        </p:spPr>
        <p:txBody>
          <a:bodyPr wrap="square">
            <a:spAutoFit/>
          </a:bodyPr>
          <a:lstStyle/>
          <a:p>
            <a:pPr marL="228600" indent="-228600">
              <a:lnSpc>
                <a:spcPct val="90000"/>
              </a:lnSpc>
              <a:spcBef>
                <a:spcPts val="1000"/>
              </a:spcBef>
              <a:buFont typeface="Arial" panose="020B0604020202020204" pitchFamily="34" charset="0"/>
              <a:buChar char="•"/>
            </a:pPr>
            <a:r>
              <a:rPr lang="zh-CN" altLang="en-US" sz="2800" dirty="0"/>
              <a:t>多变量数据是同时探索多个变量之间的相关关系 </a:t>
            </a:r>
            <a:endParaRPr lang="en-US" altLang="zh-CN" sz="2800" dirty="0"/>
          </a:p>
          <a:p>
            <a:pPr marL="228600" indent="-228600">
              <a:lnSpc>
                <a:spcPct val="90000"/>
              </a:lnSpc>
              <a:spcBef>
                <a:spcPts val="1000"/>
              </a:spcBef>
              <a:buFont typeface="Arial" panose="020B0604020202020204" pitchFamily="34" charset="0"/>
              <a:buChar char="•"/>
            </a:pPr>
            <a:r>
              <a:rPr lang="zh-CN" altLang="en-US" sz="2800" dirty="0"/>
              <a:t>两个变量之间的相关性分析，也要区分不同的变量类型</a:t>
            </a:r>
            <a:endParaRPr lang="en-US" altLang="zh-CN" sz="2800" dirty="0"/>
          </a:p>
          <a:p>
            <a:pPr marL="685800" lvl="1" indent="-228600">
              <a:lnSpc>
                <a:spcPct val="90000"/>
              </a:lnSpc>
              <a:spcBef>
                <a:spcPts val="1000"/>
              </a:spcBef>
              <a:buFont typeface="Arial" panose="020B0604020202020204" pitchFamily="34" charset="0"/>
              <a:buChar char="•"/>
            </a:pPr>
            <a:r>
              <a:rPr lang="zh-CN" altLang="en-US" sz="2400" dirty="0"/>
              <a:t>两个数值型变量之间的相关性方法方法：适合用 散点图</a:t>
            </a:r>
            <a:r>
              <a:rPr lang="en-US" altLang="zh-CN" sz="2400" dirty="0"/>
              <a:t>/</a:t>
            </a:r>
            <a:r>
              <a:rPr lang="zh-CN" altLang="en-US" sz="2400" dirty="0"/>
              <a:t>皮尔逊相关性</a:t>
            </a:r>
            <a:r>
              <a:rPr lang="en-US" altLang="zh-CN" sz="2400" dirty="0"/>
              <a:t>/</a:t>
            </a:r>
            <a:r>
              <a:rPr lang="zh-CN" altLang="en-US" sz="2400" dirty="0"/>
              <a:t>斯皮尔曼相关性</a:t>
            </a:r>
            <a:endParaRPr lang="en-US" altLang="zh-CN" sz="2400" dirty="0"/>
          </a:p>
          <a:p>
            <a:pPr marL="685800" lvl="1" indent="-228600">
              <a:lnSpc>
                <a:spcPct val="90000"/>
              </a:lnSpc>
              <a:spcBef>
                <a:spcPts val="1000"/>
              </a:spcBef>
              <a:buFont typeface="Arial" panose="020B0604020202020204" pitchFamily="34" charset="0"/>
              <a:buChar char="•"/>
            </a:pPr>
            <a:r>
              <a:rPr lang="zh-CN" altLang="en-US" sz="2400" dirty="0"/>
              <a:t>两个类别型变量之间的相关性分析方法：适合用 交叉表（</a:t>
            </a:r>
            <a:r>
              <a:rPr lang="en-US" altLang="zh-CN" sz="2400" dirty="0"/>
              <a:t>crosstab</a:t>
            </a:r>
            <a:r>
              <a:rPr lang="zh-CN" altLang="en-US" sz="2400" dirty="0"/>
              <a:t>）</a:t>
            </a:r>
            <a:r>
              <a:rPr lang="en-US" altLang="zh-CN" sz="2400" dirty="0"/>
              <a:t>/</a:t>
            </a:r>
            <a:r>
              <a:rPr lang="zh-CN" altLang="en-US" sz="2400" dirty="0"/>
              <a:t>堆栈条图</a:t>
            </a:r>
            <a:r>
              <a:rPr lang="en-US" altLang="zh-CN" sz="2400" dirty="0"/>
              <a:t>/</a:t>
            </a:r>
            <a:r>
              <a:rPr lang="zh-CN" altLang="en-US" sz="2400" dirty="0"/>
              <a:t>卡方分析</a:t>
            </a:r>
            <a:r>
              <a:rPr lang="en-US" altLang="zh-CN" sz="2400" dirty="0"/>
              <a:t>/</a:t>
            </a:r>
            <a:r>
              <a:rPr lang="zh-CN" altLang="en-US" sz="2400" dirty="0"/>
              <a:t>互信息</a:t>
            </a:r>
            <a:endParaRPr lang="en-US" altLang="zh-CN" sz="2400" dirty="0"/>
          </a:p>
          <a:p>
            <a:pPr marL="685800" lvl="1" indent="-228600">
              <a:lnSpc>
                <a:spcPct val="90000"/>
              </a:lnSpc>
              <a:spcBef>
                <a:spcPts val="1000"/>
              </a:spcBef>
              <a:buFont typeface="Arial" panose="020B0604020202020204" pitchFamily="34" charset="0"/>
              <a:buChar char="•"/>
            </a:pPr>
            <a:r>
              <a:rPr lang="zh-CN" altLang="en-US" sz="2400" dirty="0"/>
              <a:t>一个数值型变量，一个类别型变量分析方法：适合用 分类汇总</a:t>
            </a:r>
            <a:r>
              <a:rPr lang="en-US" altLang="zh-CN" sz="2400" dirty="0"/>
              <a:t>(</a:t>
            </a:r>
            <a:r>
              <a:rPr lang="en-US" altLang="zh-CN" sz="2400" dirty="0" err="1"/>
              <a:t>groupby</a:t>
            </a:r>
            <a:r>
              <a:rPr lang="en-US" altLang="zh-CN" sz="2400" dirty="0"/>
              <a:t>)</a:t>
            </a:r>
            <a:r>
              <a:rPr lang="zh-CN" altLang="en-US" sz="2400" dirty="0"/>
              <a:t>统计</a:t>
            </a:r>
            <a:r>
              <a:rPr lang="en-US" altLang="zh-CN" sz="2400" dirty="0"/>
              <a:t>/</a:t>
            </a:r>
            <a:r>
              <a:rPr lang="zh-CN" altLang="en-US" sz="2400" dirty="0"/>
              <a:t>方差分析</a:t>
            </a:r>
          </a:p>
        </p:txBody>
      </p:sp>
    </p:spTree>
    <p:extLst>
      <p:ext uri="{BB962C8B-B14F-4D97-AF65-F5344CB8AC3E}">
        <p14:creationId xmlns:p14="http://schemas.microsoft.com/office/powerpoint/2010/main" val="357071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normAutofit fontScale="90000"/>
          </a:bodyPr>
          <a:lstStyle/>
          <a:p>
            <a:r>
              <a:rPr lang="zh-CN" altLang="en-US" dirty="0">
                <a:latin typeface="微软雅黑" panose="020B0503020204020204" pitchFamily="34" charset="-122"/>
                <a:ea typeface="微软雅黑" panose="020B0503020204020204" pitchFamily="34" charset="-122"/>
                <a:cs typeface="Arial" panose="020B0604020202020204" pitchFamily="34" charset="0"/>
              </a:rPr>
              <a:t>数值型变量相关性分析</a:t>
            </a: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pPr/>
              <a:t>19</a:t>
            </a:fld>
            <a:endParaRPr lang="zh-CN" altLang="en-US" dirty="0"/>
          </a:p>
        </p:txBody>
      </p:sp>
      <p:sp>
        <p:nvSpPr>
          <p:cNvPr id="10" name="Rectangle 47">
            <a:extLst>
              <a:ext uri="{FF2B5EF4-FFF2-40B4-BE49-F238E27FC236}">
                <a16:creationId xmlns:a16="http://schemas.microsoft.com/office/drawing/2014/main" id="{A17C6EC1-E8C3-43F2-9318-E95F60EBC21D}"/>
              </a:ext>
            </a:extLst>
          </p:cNvPr>
          <p:cNvSpPr/>
          <p:nvPr/>
        </p:nvSpPr>
        <p:spPr>
          <a:xfrm>
            <a:off x="667798" y="1273190"/>
            <a:ext cx="10686002" cy="1231106"/>
          </a:xfrm>
          <a:prstGeom prst="rect">
            <a:avLst/>
          </a:prstGeom>
        </p:spPr>
        <p:txBody>
          <a:bodyPr wrap="square" lIns="0" tIns="0" rIns="0" bIns="0">
            <a:spAutoFit/>
          </a:bodyPr>
          <a:lstStyle/>
          <a:p>
            <a:r>
              <a:rPr lang="zh-CN" altLang="en-US" sz="2000" dirty="0"/>
              <a:t>大多数情况下，两个变量的相关性分析，一个变量会作为</a:t>
            </a:r>
            <a:r>
              <a:rPr lang="zh-CN" altLang="en-US" sz="2000" b="1" dirty="0">
                <a:solidFill>
                  <a:srgbClr val="FFC000"/>
                </a:solidFill>
              </a:rPr>
              <a:t>自变量 </a:t>
            </a:r>
            <a:r>
              <a:rPr lang="en-US" altLang="zh-CN" sz="2000" b="1" dirty="0">
                <a:solidFill>
                  <a:srgbClr val="FFC000"/>
                </a:solidFill>
              </a:rPr>
              <a:t>x</a:t>
            </a:r>
            <a:r>
              <a:rPr lang="zh-CN" altLang="en-US" sz="2000" dirty="0"/>
              <a:t>，另外一个变量会作为</a:t>
            </a:r>
            <a:r>
              <a:rPr lang="zh-CN" altLang="en-US" sz="2000" dirty="0">
                <a:solidFill>
                  <a:srgbClr val="FFC000"/>
                </a:solidFill>
              </a:rPr>
              <a:t> </a:t>
            </a:r>
            <a:r>
              <a:rPr lang="zh-CN" altLang="en-US" sz="2000" b="1" dirty="0">
                <a:solidFill>
                  <a:srgbClr val="FFC000"/>
                </a:solidFill>
              </a:rPr>
              <a:t>目标变量（因变量） </a:t>
            </a:r>
            <a:r>
              <a:rPr lang="en-US" altLang="zh-CN" sz="2000" b="1" dirty="0">
                <a:solidFill>
                  <a:srgbClr val="FFC000"/>
                </a:solidFill>
              </a:rPr>
              <a:t>y</a:t>
            </a:r>
            <a:r>
              <a:rPr lang="zh-CN" altLang="en-US" sz="2000" dirty="0"/>
              <a:t>。在本案例中的目标变量（是否生还）是一个类别型变量，为了能演示两个数值型变量的相关性分析，所以不挑选目标变量来分析，只能挑选两个数值型的自变量来做一个演示。挑选 </a:t>
            </a:r>
            <a:r>
              <a:rPr lang="en-US" altLang="zh-CN" sz="2000" dirty="0"/>
              <a:t>Age(</a:t>
            </a:r>
            <a:r>
              <a:rPr lang="zh-CN" altLang="en-US" sz="2000" dirty="0"/>
              <a:t>年龄</a:t>
            </a:r>
            <a:r>
              <a:rPr lang="en-US" altLang="zh-CN" sz="2000" dirty="0"/>
              <a:t>)</a:t>
            </a:r>
            <a:r>
              <a:rPr lang="zh-CN" altLang="en-US" sz="2000" dirty="0"/>
              <a:t>和 </a:t>
            </a:r>
            <a:r>
              <a:rPr lang="en-US" altLang="zh-CN" sz="2000" dirty="0"/>
              <a:t>Fare(</a:t>
            </a:r>
            <a:r>
              <a:rPr lang="zh-CN" altLang="en-US" sz="2000" dirty="0"/>
              <a:t>船票价格</a:t>
            </a:r>
            <a:r>
              <a:rPr lang="en-US" altLang="zh-CN" sz="2000" dirty="0"/>
              <a:t>) </a:t>
            </a:r>
            <a:r>
              <a:rPr lang="zh-CN" altLang="en-US" sz="2000" dirty="0"/>
              <a:t>两个变量来举例。</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矩形 10">
            <a:extLst>
              <a:ext uri="{FF2B5EF4-FFF2-40B4-BE49-F238E27FC236}">
                <a16:creationId xmlns:a16="http://schemas.microsoft.com/office/drawing/2014/main" id="{4FE22BB6-CEEC-4CA9-B553-89C22DA9E3D2}"/>
              </a:ext>
            </a:extLst>
          </p:cNvPr>
          <p:cNvSpPr/>
          <p:nvPr/>
        </p:nvSpPr>
        <p:spPr>
          <a:xfrm>
            <a:off x="642581" y="5630564"/>
            <a:ext cx="7174772" cy="646331"/>
          </a:xfrm>
          <a:prstGeom prst="rect">
            <a:avLst/>
          </a:prstGeom>
        </p:spPr>
        <p:txBody>
          <a:bodyPr wrap="square">
            <a:spAutoFit/>
          </a:bodyPr>
          <a:lstStyle/>
          <a:p>
            <a:r>
              <a:rPr lang="zh-CN" altLang="en-US" b="1" dirty="0">
                <a:solidFill>
                  <a:srgbClr val="FFC000"/>
                </a:solidFill>
              </a:rPr>
              <a:t>结论：</a:t>
            </a:r>
            <a:r>
              <a:rPr lang="zh-CN" altLang="en-US" dirty="0"/>
              <a:t>很明显，从散点图可以看到：船票价格和年龄之间并没有很强的相关性</a:t>
            </a:r>
          </a:p>
        </p:txBody>
      </p:sp>
      <p:pic>
        <p:nvPicPr>
          <p:cNvPr id="12" name="图片 11">
            <a:extLst>
              <a:ext uri="{FF2B5EF4-FFF2-40B4-BE49-F238E27FC236}">
                <a16:creationId xmlns:a16="http://schemas.microsoft.com/office/drawing/2014/main" id="{B2C12DE2-DD24-4EB6-80C4-363B0E85E478}"/>
              </a:ext>
            </a:extLst>
          </p:cNvPr>
          <p:cNvPicPr>
            <a:picLocks noChangeAspect="1"/>
          </p:cNvPicPr>
          <p:nvPr/>
        </p:nvPicPr>
        <p:blipFill>
          <a:blip r:embed="rId2"/>
          <a:stretch>
            <a:fillRect/>
          </a:stretch>
        </p:blipFill>
        <p:spPr>
          <a:xfrm>
            <a:off x="918973" y="3463648"/>
            <a:ext cx="5566818" cy="1276793"/>
          </a:xfrm>
          <a:prstGeom prst="rect">
            <a:avLst/>
          </a:prstGeom>
        </p:spPr>
      </p:pic>
      <p:pic>
        <p:nvPicPr>
          <p:cNvPr id="13" name="图片 12">
            <a:extLst>
              <a:ext uri="{FF2B5EF4-FFF2-40B4-BE49-F238E27FC236}">
                <a16:creationId xmlns:a16="http://schemas.microsoft.com/office/drawing/2014/main" id="{672D186B-D365-4F7F-A36F-21C5C1823BA0}"/>
              </a:ext>
            </a:extLst>
          </p:cNvPr>
          <p:cNvPicPr>
            <a:picLocks noChangeAspect="1"/>
          </p:cNvPicPr>
          <p:nvPr/>
        </p:nvPicPr>
        <p:blipFill>
          <a:blip r:embed="rId3"/>
          <a:stretch>
            <a:fillRect/>
          </a:stretch>
        </p:blipFill>
        <p:spPr>
          <a:xfrm>
            <a:off x="7762963" y="3217757"/>
            <a:ext cx="3757524" cy="2412807"/>
          </a:xfrm>
          <a:prstGeom prst="rect">
            <a:avLst/>
          </a:prstGeom>
        </p:spPr>
      </p:pic>
    </p:spTree>
    <p:extLst>
      <p:ext uri="{BB962C8B-B14F-4D97-AF65-F5344CB8AC3E}">
        <p14:creationId xmlns:p14="http://schemas.microsoft.com/office/powerpoint/2010/main" val="2142619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4" y="296214"/>
            <a:ext cx="6819733" cy="732486"/>
          </a:xfrm>
        </p:spPr>
        <p:txBody>
          <a:bodyPr>
            <a:normAutofit/>
          </a:bodyPr>
          <a:lstStyle/>
          <a:p>
            <a:r>
              <a:rPr lang="zh-CN" altLang="en-US" b="1" dirty="0"/>
              <a:t>类别型变量的相关性分析</a:t>
            </a:r>
            <a:endParaRPr lang="zh-CN" altLang="en-US" b="1" dirty="0">
              <a:ea typeface="思源黑体 CN ExtraLight" panose="020B0200000000000000" charset="-122"/>
            </a:endParaRP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pPr/>
              <a:t>20</a:t>
            </a:fld>
            <a:endParaRPr lang="zh-CN" altLang="en-US" dirty="0"/>
          </a:p>
        </p:txBody>
      </p:sp>
      <p:sp>
        <p:nvSpPr>
          <p:cNvPr id="8" name="矩形 7">
            <a:extLst>
              <a:ext uri="{FF2B5EF4-FFF2-40B4-BE49-F238E27FC236}">
                <a16:creationId xmlns:a16="http://schemas.microsoft.com/office/drawing/2014/main" id="{0AC974C1-C29C-4E48-B38C-43E2559929CA}"/>
              </a:ext>
            </a:extLst>
          </p:cNvPr>
          <p:cNvSpPr/>
          <p:nvPr/>
        </p:nvSpPr>
        <p:spPr>
          <a:xfrm>
            <a:off x="654707" y="1137499"/>
            <a:ext cx="6096000" cy="1200329"/>
          </a:xfrm>
          <a:prstGeom prst="rect">
            <a:avLst/>
          </a:prstGeom>
        </p:spPr>
        <p:txBody>
          <a:bodyPr>
            <a:spAutoFit/>
          </a:bodyPr>
          <a:lstStyle/>
          <a:p>
            <a:r>
              <a:rPr lang="zh-CN" altLang="en-US" dirty="0"/>
              <a:t>通过对每一个 </a:t>
            </a:r>
            <a:r>
              <a:rPr lang="zh-CN" altLang="en-US" b="1" dirty="0">
                <a:solidFill>
                  <a:srgbClr val="FFC000"/>
                </a:solidFill>
              </a:rPr>
              <a:t>自变量</a:t>
            </a:r>
            <a:r>
              <a:rPr lang="zh-CN" altLang="en-US" dirty="0">
                <a:solidFill>
                  <a:srgbClr val="FFC000"/>
                </a:solidFill>
              </a:rPr>
              <a:t> </a:t>
            </a:r>
            <a:r>
              <a:rPr lang="zh-CN" altLang="en-US" dirty="0"/>
              <a:t>与 </a:t>
            </a:r>
            <a:r>
              <a:rPr lang="zh-CN" altLang="en-US" b="1" dirty="0">
                <a:solidFill>
                  <a:srgbClr val="FFC000"/>
                </a:solidFill>
              </a:rPr>
              <a:t>目标变量 </a:t>
            </a:r>
            <a:r>
              <a:rPr lang="zh-CN" altLang="en-US" dirty="0"/>
              <a:t>的相关性分析，我们可以知道 </a:t>
            </a:r>
            <a:r>
              <a:rPr lang="zh-CN" altLang="en-US" dirty="0">
                <a:solidFill>
                  <a:srgbClr val="FFC000"/>
                </a:solidFill>
              </a:rPr>
              <a:t>哪些特征 </a:t>
            </a:r>
            <a:r>
              <a:rPr lang="zh-CN" altLang="en-US" dirty="0"/>
              <a:t>与是否生还的相关性最强。我们可以使用</a:t>
            </a:r>
            <a:r>
              <a:rPr lang="en-US" altLang="zh-CN" dirty="0"/>
              <a:t>pandas </a:t>
            </a:r>
            <a:r>
              <a:rPr lang="zh-CN" altLang="en-US" dirty="0"/>
              <a:t>的 </a:t>
            </a:r>
            <a:r>
              <a:rPr lang="en-US" altLang="zh-CN" dirty="0">
                <a:solidFill>
                  <a:srgbClr val="FFC000"/>
                </a:solidFill>
              </a:rPr>
              <a:t>crosstab()</a:t>
            </a:r>
            <a:r>
              <a:rPr lang="zh-CN" altLang="en-US" dirty="0"/>
              <a:t>方法和 </a:t>
            </a:r>
            <a:r>
              <a:rPr lang="zh-CN" altLang="en-US" dirty="0">
                <a:solidFill>
                  <a:srgbClr val="FFC000"/>
                </a:solidFill>
              </a:rPr>
              <a:t>堆栈图</a:t>
            </a:r>
            <a:r>
              <a:rPr lang="zh-CN" altLang="en-US" dirty="0"/>
              <a:t> 来分析两个类别型变量的相关性</a:t>
            </a:r>
          </a:p>
        </p:txBody>
      </p:sp>
      <p:pic>
        <p:nvPicPr>
          <p:cNvPr id="9" name="图片 8">
            <a:extLst>
              <a:ext uri="{FF2B5EF4-FFF2-40B4-BE49-F238E27FC236}">
                <a16:creationId xmlns:a16="http://schemas.microsoft.com/office/drawing/2014/main" id="{D60A8303-8EFA-46F2-8DC9-F5E46F1C9082}"/>
              </a:ext>
            </a:extLst>
          </p:cNvPr>
          <p:cNvPicPr>
            <a:picLocks noChangeAspect="1"/>
          </p:cNvPicPr>
          <p:nvPr/>
        </p:nvPicPr>
        <p:blipFill>
          <a:blip r:embed="rId2"/>
          <a:stretch>
            <a:fillRect/>
          </a:stretch>
        </p:blipFill>
        <p:spPr>
          <a:xfrm>
            <a:off x="825016" y="2360107"/>
            <a:ext cx="5970544" cy="468730"/>
          </a:xfrm>
          <a:prstGeom prst="rect">
            <a:avLst/>
          </a:prstGeom>
        </p:spPr>
      </p:pic>
      <p:pic>
        <p:nvPicPr>
          <p:cNvPr id="10" name="图片 9">
            <a:extLst>
              <a:ext uri="{FF2B5EF4-FFF2-40B4-BE49-F238E27FC236}">
                <a16:creationId xmlns:a16="http://schemas.microsoft.com/office/drawing/2014/main" id="{7130D788-A580-4C21-9C14-CB7883CC4580}"/>
              </a:ext>
            </a:extLst>
          </p:cNvPr>
          <p:cNvPicPr>
            <a:picLocks noChangeAspect="1"/>
          </p:cNvPicPr>
          <p:nvPr/>
        </p:nvPicPr>
        <p:blipFill>
          <a:blip r:embed="rId3"/>
          <a:stretch>
            <a:fillRect/>
          </a:stretch>
        </p:blipFill>
        <p:spPr>
          <a:xfrm>
            <a:off x="1427915" y="3550416"/>
            <a:ext cx="2428175" cy="1098826"/>
          </a:xfrm>
          <a:prstGeom prst="rect">
            <a:avLst/>
          </a:prstGeom>
        </p:spPr>
      </p:pic>
      <p:pic>
        <p:nvPicPr>
          <p:cNvPr id="11" name="图片 10">
            <a:extLst>
              <a:ext uri="{FF2B5EF4-FFF2-40B4-BE49-F238E27FC236}">
                <a16:creationId xmlns:a16="http://schemas.microsoft.com/office/drawing/2014/main" id="{A8756E6A-6EBA-4DF9-9C23-AE4804FFD049}"/>
              </a:ext>
            </a:extLst>
          </p:cNvPr>
          <p:cNvPicPr>
            <a:picLocks noChangeAspect="1"/>
          </p:cNvPicPr>
          <p:nvPr/>
        </p:nvPicPr>
        <p:blipFill>
          <a:blip r:embed="rId4"/>
          <a:stretch>
            <a:fillRect/>
          </a:stretch>
        </p:blipFill>
        <p:spPr>
          <a:xfrm>
            <a:off x="7091765" y="2337828"/>
            <a:ext cx="4533618" cy="622412"/>
          </a:xfrm>
          <a:prstGeom prst="rect">
            <a:avLst/>
          </a:prstGeom>
        </p:spPr>
      </p:pic>
      <p:pic>
        <p:nvPicPr>
          <p:cNvPr id="12" name="图片 11">
            <a:extLst>
              <a:ext uri="{FF2B5EF4-FFF2-40B4-BE49-F238E27FC236}">
                <a16:creationId xmlns:a16="http://schemas.microsoft.com/office/drawing/2014/main" id="{2A5EDF83-7F89-4E90-AD60-759455C35D84}"/>
              </a:ext>
            </a:extLst>
          </p:cNvPr>
          <p:cNvPicPr>
            <a:picLocks noChangeAspect="1"/>
          </p:cNvPicPr>
          <p:nvPr/>
        </p:nvPicPr>
        <p:blipFill>
          <a:blip r:embed="rId5"/>
          <a:stretch>
            <a:fillRect/>
          </a:stretch>
        </p:blipFill>
        <p:spPr>
          <a:xfrm>
            <a:off x="5001414" y="3550416"/>
            <a:ext cx="1967129" cy="1160299"/>
          </a:xfrm>
          <a:prstGeom prst="rect">
            <a:avLst/>
          </a:prstGeom>
        </p:spPr>
      </p:pic>
      <p:pic>
        <p:nvPicPr>
          <p:cNvPr id="13" name="图片 12">
            <a:extLst>
              <a:ext uri="{FF2B5EF4-FFF2-40B4-BE49-F238E27FC236}">
                <a16:creationId xmlns:a16="http://schemas.microsoft.com/office/drawing/2014/main" id="{6EF51E3E-997D-477D-A5F8-06267EB4B51D}"/>
              </a:ext>
            </a:extLst>
          </p:cNvPr>
          <p:cNvPicPr>
            <a:picLocks noChangeAspect="1"/>
          </p:cNvPicPr>
          <p:nvPr/>
        </p:nvPicPr>
        <p:blipFill>
          <a:blip r:embed="rId6"/>
          <a:stretch>
            <a:fillRect/>
          </a:stretch>
        </p:blipFill>
        <p:spPr>
          <a:xfrm>
            <a:off x="7594787" y="3715691"/>
            <a:ext cx="3818997" cy="2627962"/>
          </a:xfrm>
          <a:prstGeom prst="rect">
            <a:avLst/>
          </a:prstGeom>
        </p:spPr>
      </p:pic>
      <p:sp>
        <p:nvSpPr>
          <p:cNvPr id="14" name="矩形 13">
            <a:extLst>
              <a:ext uri="{FF2B5EF4-FFF2-40B4-BE49-F238E27FC236}">
                <a16:creationId xmlns:a16="http://schemas.microsoft.com/office/drawing/2014/main" id="{1010C28A-DBC7-437D-8874-44BE1DD3ECD2}"/>
              </a:ext>
            </a:extLst>
          </p:cNvPr>
          <p:cNvSpPr/>
          <p:nvPr/>
        </p:nvSpPr>
        <p:spPr>
          <a:xfrm>
            <a:off x="697229" y="5096508"/>
            <a:ext cx="6096000" cy="1477328"/>
          </a:xfrm>
          <a:prstGeom prst="rect">
            <a:avLst/>
          </a:prstGeom>
        </p:spPr>
        <p:txBody>
          <a:bodyPr>
            <a:spAutoFit/>
          </a:bodyPr>
          <a:lstStyle/>
          <a:p>
            <a:r>
              <a:rPr lang="zh-CN" altLang="en-US" b="1" dirty="0">
                <a:solidFill>
                  <a:srgbClr val="FFC000"/>
                </a:solidFill>
              </a:rPr>
              <a:t>结论：</a:t>
            </a:r>
            <a:endParaRPr lang="en-US" altLang="zh-CN" b="1" dirty="0">
              <a:solidFill>
                <a:srgbClr val="FFC000"/>
              </a:solidFill>
            </a:endParaRPr>
          </a:p>
          <a:p>
            <a:r>
              <a:rPr lang="en-US" altLang="zh-CN" dirty="0"/>
              <a:t>1</a:t>
            </a:r>
            <a:r>
              <a:rPr lang="zh-CN" altLang="en-US" dirty="0"/>
              <a:t>等舱的生还率是 </a:t>
            </a:r>
            <a:r>
              <a:rPr lang="en-US" altLang="zh-CN" dirty="0"/>
              <a:t>62.96%</a:t>
            </a:r>
            <a:r>
              <a:rPr lang="zh-CN" altLang="en-US" dirty="0"/>
              <a:t>；</a:t>
            </a:r>
            <a:endParaRPr lang="en-US" altLang="zh-CN" dirty="0"/>
          </a:p>
          <a:p>
            <a:r>
              <a:rPr lang="en-US" altLang="zh-CN" dirty="0"/>
              <a:t>2</a:t>
            </a:r>
            <a:r>
              <a:rPr lang="zh-CN" altLang="en-US" dirty="0"/>
              <a:t>等舱的生还率是 </a:t>
            </a:r>
            <a:r>
              <a:rPr lang="en-US" altLang="zh-CN" dirty="0"/>
              <a:t>47.28%</a:t>
            </a:r>
            <a:r>
              <a:rPr lang="zh-CN" altLang="en-US" dirty="0"/>
              <a:t>；</a:t>
            </a:r>
            <a:endParaRPr lang="en-US" altLang="zh-CN" dirty="0"/>
          </a:p>
          <a:p>
            <a:r>
              <a:rPr lang="en-US" altLang="zh-CN" dirty="0"/>
              <a:t>3</a:t>
            </a:r>
            <a:r>
              <a:rPr lang="zh-CN" altLang="en-US" dirty="0"/>
              <a:t>等舱的生还率是 </a:t>
            </a:r>
            <a:r>
              <a:rPr lang="en-US" altLang="zh-CN" dirty="0"/>
              <a:t>24.23% </a:t>
            </a:r>
            <a:r>
              <a:rPr lang="zh-CN" altLang="en-US" dirty="0"/>
              <a:t>说明不同船舱等级的生还率差异很大。</a:t>
            </a:r>
          </a:p>
        </p:txBody>
      </p:sp>
    </p:spTree>
    <p:extLst>
      <p:ext uri="{BB962C8B-B14F-4D97-AF65-F5344CB8AC3E}">
        <p14:creationId xmlns:p14="http://schemas.microsoft.com/office/powerpoint/2010/main" val="4086308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8853070" cy="732486"/>
          </a:xfrm>
        </p:spPr>
        <p:txBody>
          <a:bodyPr>
            <a:normAutofit/>
          </a:bodyPr>
          <a:lstStyle/>
          <a:p>
            <a:r>
              <a:rPr lang="zh-CN" altLang="en-US" dirty="0">
                <a:latin typeface="微软雅黑" panose="020B0503020204020204" pitchFamily="34" charset="-122"/>
                <a:ea typeface="微软雅黑" panose="020B0503020204020204" pitchFamily="34" charset="-122"/>
                <a:cs typeface="Arial" panose="020B0604020202020204" pitchFamily="34" charset="0"/>
              </a:rPr>
              <a:t>类别变量和数值变量的相关性分析</a:t>
            </a:r>
            <a:endParaRPr lang="zh-CN" altLang="en-US" dirty="0">
              <a:ea typeface="思源黑体 CN ExtraLight" panose="020B0200000000000000" charset="-122"/>
            </a:endParaRP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pPr/>
              <a:t>21</a:t>
            </a:fld>
            <a:endParaRPr lang="zh-CN" altLang="en-US" dirty="0"/>
          </a:p>
        </p:txBody>
      </p:sp>
      <p:sp>
        <p:nvSpPr>
          <p:cNvPr id="6" name="矩形 5">
            <a:extLst>
              <a:ext uri="{FF2B5EF4-FFF2-40B4-BE49-F238E27FC236}">
                <a16:creationId xmlns:a16="http://schemas.microsoft.com/office/drawing/2014/main" id="{76144C58-A3FB-4D1B-9133-97DD332E603E}"/>
              </a:ext>
            </a:extLst>
          </p:cNvPr>
          <p:cNvSpPr/>
          <p:nvPr/>
        </p:nvSpPr>
        <p:spPr>
          <a:xfrm>
            <a:off x="622416" y="1319080"/>
            <a:ext cx="8948088" cy="923330"/>
          </a:xfrm>
          <a:prstGeom prst="rect">
            <a:avLst/>
          </a:prstGeom>
        </p:spPr>
        <p:txBody>
          <a:bodyPr wrap="square">
            <a:spAutoFit/>
          </a:bodyPr>
          <a:lstStyle/>
          <a:p>
            <a:r>
              <a:rPr lang="zh-CN" altLang="en-US" dirty="0"/>
              <a:t>分析目标：分析 </a:t>
            </a:r>
            <a:r>
              <a:rPr lang="en-US" altLang="zh-CN" dirty="0"/>
              <a:t>Age </a:t>
            </a:r>
            <a:r>
              <a:rPr lang="zh-CN" altLang="en-US" dirty="0"/>
              <a:t>年龄</a:t>
            </a:r>
            <a:r>
              <a:rPr lang="en-US" altLang="zh-CN" dirty="0"/>
              <a:t>,Fare </a:t>
            </a:r>
            <a:r>
              <a:rPr lang="zh-CN" altLang="en-US" dirty="0"/>
              <a:t>船票价格与目标变量的 </a:t>
            </a:r>
            <a:r>
              <a:rPr lang="en-US" altLang="zh-CN" dirty="0"/>
              <a:t>Survived </a:t>
            </a:r>
            <a:r>
              <a:rPr lang="zh-CN" altLang="en-US" dirty="0"/>
              <a:t>之间的相关性。</a:t>
            </a:r>
            <a:endParaRPr lang="en-US" altLang="zh-CN" dirty="0"/>
          </a:p>
          <a:p>
            <a:r>
              <a:rPr lang="zh-CN" altLang="en-US" dirty="0"/>
              <a:t>分析方法：使用的方法是对 </a:t>
            </a:r>
            <a:r>
              <a:rPr lang="en-US" altLang="zh-CN" dirty="0"/>
              <a:t>Survived </a:t>
            </a:r>
            <a:r>
              <a:rPr lang="zh-CN" altLang="en-US" dirty="0"/>
              <a:t>进行汇总（</a:t>
            </a:r>
            <a:r>
              <a:rPr lang="en-US" altLang="zh-CN" dirty="0"/>
              <a:t>group by Survived)</a:t>
            </a:r>
            <a:r>
              <a:rPr lang="zh-CN" altLang="en-US" dirty="0"/>
              <a:t>，然后统计</a:t>
            </a:r>
            <a:r>
              <a:rPr lang="zh-CN" altLang="en-US" b="1" dirty="0">
                <a:solidFill>
                  <a:srgbClr val="FFC000"/>
                </a:solidFill>
              </a:rPr>
              <a:t>生还</a:t>
            </a:r>
            <a:r>
              <a:rPr lang="zh-CN" altLang="en-US" dirty="0"/>
              <a:t> 和</a:t>
            </a:r>
            <a:r>
              <a:rPr lang="zh-CN" altLang="en-US" b="1" dirty="0">
                <a:solidFill>
                  <a:srgbClr val="FFC000"/>
                </a:solidFill>
              </a:rPr>
              <a:t>未生还</a:t>
            </a:r>
            <a:r>
              <a:rPr lang="zh-CN" altLang="en-US" dirty="0"/>
              <a:t>两类乘客的 </a:t>
            </a:r>
            <a:r>
              <a:rPr lang="en-US" altLang="zh-CN" dirty="0"/>
              <a:t>Age </a:t>
            </a:r>
            <a:r>
              <a:rPr lang="zh-CN" altLang="en-US" dirty="0"/>
              <a:t>均值差异。</a:t>
            </a:r>
          </a:p>
        </p:txBody>
      </p:sp>
      <p:pic>
        <p:nvPicPr>
          <p:cNvPr id="7" name="图片 6">
            <a:extLst>
              <a:ext uri="{FF2B5EF4-FFF2-40B4-BE49-F238E27FC236}">
                <a16:creationId xmlns:a16="http://schemas.microsoft.com/office/drawing/2014/main" id="{5E2C9CC1-BE82-4B4F-AF70-A445E6E11ECF}"/>
              </a:ext>
            </a:extLst>
          </p:cNvPr>
          <p:cNvPicPr>
            <a:picLocks noChangeAspect="1"/>
          </p:cNvPicPr>
          <p:nvPr/>
        </p:nvPicPr>
        <p:blipFill>
          <a:blip r:embed="rId2"/>
          <a:stretch>
            <a:fillRect/>
          </a:stretch>
        </p:blipFill>
        <p:spPr>
          <a:xfrm>
            <a:off x="273810" y="2415404"/>
            <a:ext cx="5056137" cy="2090075"/>
          </a:xfrm>
          <a:prstGeom prst="rect">
            <a:avLst/>
          </a:prstGeom>
        </p:spPr>
      </p:pic>
      <p:pic>
        <p:nvPicPr>
          <p:cNvPr id="9" name="图片 8">
            <a:extLst>
              <a:ext uri="{FF2B5EF4-FFF2-40B4-BE49-F238E27FC236}">
                <a16:creationId xmlns:a16="http://schemas.microsoft.com/office/drawing/2014/main" id="{5160FA8C-F49C-4776-96D6-5923C8F65C03}"/>
              </a:ext>
            </a:extLst>
          </p:cNvPr>
          <p:cNvPicPr>
            <a:picLocks noChangeAspect="1"/>
          </p:cNvPicPr>
          <p:nvPr/>
        </p:nvPicPr>
        <p:blipFill>
          <a:blip r:embed="rId3"/>
          <a:stretch>
            <a:fillRect/>
          </a:stretch>
        </p:blipFill>
        <p:spPr>
          <a:xfrm>
            <a:off x="5391573" y="2415404"/>
            <a:ext cx="6800427" cy="3188901"/>
          </a:xfrm>
          <a:prstGeom prst="rect">
            <a:avLst/>
          </a:prstGeom>
        </p:spPr>
      </p:pic>
      <p:sp>
        <p:nvSpPr>
          <p:cNvPr id="10" name="矩形 9">
            <a:extLst>
              <a:ext uri="{FF2B5EF4-FFF2-40B4-BE49-F238E27FC236}">
                <a16:creationId xmlns:a16="http://schemas.microsoft.com/office/drawing/2014/main" id="{71501414-87B0-45E4-A8A5-0EFA9F4334AA}"/>
              </a:ext>
            </a:extLst>
          </p:cNvPr>
          <p:cNvSpPr/>
          <p:nvPr/>
        </p:nvSpPr>
        <p:spPr>
          <a:xfrm>
            <a:off x="852237" y="5892581"/>
            <a:ext cx="8638852" cy="646331"/>
          </a:xfrm>
          <a:prstGeom prst="rect">
            <a:avLst/>
          </a:prstGeom>
        </p:spPr>
        <p:txBody>
          <a:bodyPr wrap="square">
            <a:spAutoFit/>
          </a:bodyPr>
          <a:lstStyle/>
          <a:p>
            <a:r>
              <a:rPr lang="zh-CN" altLang="en-US" b="1" dirty="0">
                <a:solidFill>
                  <a:srgbClr val="FFC000"/>
                </a:solidFill>
              </a:rPr>
              <a:t>结论：</a:t>
            </a:r>
            <a:r>
              <a:rPr lang="zh-CN" altLang="en-US" dirty="0"/>
              <a:t>生还和未生还的 </a:t>
            </a:r>
            <a:r>
              <a:rPr lang="en-US" altLang="zh-CN" b="1" dirty="0">
                <a:solidFill>
                  <a:srgbClr val="FFC000"/>
                </a:solidFill>
              </a:rPr>
              <a:t>Age </a:t>
            </a:r>
            <a:r>
              <a:rPr lang="zh-CN" altLang="en-US" dirty="0"/>
              <a:t>差异不算大，但是票价差异很大，生还乘客的票价要显著高于未生还乘客， 这是可以理解的，因为生还乘客中一等舱比例较多。</a:t>
            </a:r>
          </a:p>
        </p:txBody>
      </p:sp>
      <p:pic>
        <p:nvPicPr>
          <p:cNvPr id="8" name="图片 7">
            <a:extLst>
              <a:ext uri="{FF2B5EF4-FFF2-40B4-BE49-F238E27FC236}">
                <a16:creationId xmlns:a16="http://schemas.microsoft.com/office/drawing/2014/main" id="{B35557D7-2A4E-4208-95DD-06560E336658}"/>
              </a:ext>
            </a:extLst>
          </p:cNvPr>
          <p:cNvPicPr>
            <a:picLocks noChangeAspect="1"/>
          </p:cNvPicPr>
          <p:nvPr/>
        </p:nvPicPr>
        <p:blipFill>
          <a:blip r:embed="rId4"/>
          <a:stretch>
            <a:fillRect/>
          </a:stretch>
        </p:blipFill>
        <p:spPr>
          <a:xfrm>
            <a:off x="1770390" y="4597842"/>
            <a:ext cx="2542931" cy="1241897"/>
          </a:xfrm>
          <a:prstGeom prst="rect">
            <a:avLst/>
          </a:prstGeom>
        </p:spPr>
      </p:pic>
    </p:spTree>
    <p:extLst>
      <p:ext uri="{BB962C8B-B14F-4D97-AF65-F5344CB8AC3E}">
        <p14:creationId xmlns:p14="http://schemas.microsoft.com/office/powerpoint/2010/main" val="508992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65DF88-218E-4B73-8BAE-E1F9A1403D88}"/>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C1B8992D-ACC8-41B4-8001-3A6559455B1B}"/>
              </a:ext>
            </a:extLst>
          </p:cNvPr>
          <p:cNvSpPr>
            <a:spLocks noGrp="1"/>
          </p:cNvSpPr>
          <p:nvPr>
            <p:ph idx="1"/>
          </p:nvPr>
        </p:nvSpPr>
        <p:spPr>
          <a:xfrm>
            <a:off x="838200" y="2370221"/>
            <a:ext cx="10515600" cy="3806742"/>
          </a:xfrm>
        </p:spPr>
        <p:txBody>
          <a:bodyPr/>
          <a:lstStyle/>
          <a:p>
            <a:r>
              <a:rPr lang="zh-CN" altLang="en-US" dirty="0"/>
              <a:t>数据理解</a:t>
            </a:r>
            <a:endParaRPr lang="en-US" altLang="zh-CN" dirty="0"/>
          </a:p>
          <a:p>
            <a:endParaRPr lang="en-US" altLang="zh-CN" dirty="0">
              <a:solidFill>
                <a:srgbClr val="FF0000"/>
              </a:solidFill>
            </a:endParaRPr>
          </a:p>
          <a:p>
            <a:r>
              <a:rPr lang="zh-CN" altLang="en-US" dirty="0"/>
              <a:t>数据探索</a:t>
            </a:r>
            <a:endParaRPr lang="en-US" altLang="zh-CN" dirty="0"/>
          </a:p>
          <a:p>
            <a:endParaRPr lang="en-US" altLang="zh-CN" dirty="0"/>
          </a:p>
          <a:p>
            <a:r>
              <a:rPr lang="zh-CN" altLang="en-US" dirty="0">
                <a:solidFill>
                  <a:srgbClr val="FF0000"/>
                </a:solidFill>
              </a:rPr>
              <a:t>数据预处理</a:t>
            </a:r>
            <a:endParaRPr lang="en-US" altLang="zh-CN" dirty="0">
              <a:solidFill>
                <a:srgbClr val="FF0000"/>
              </a:solidFill>
            </a:endParaRPr>
          </a:p>
        </p:txBody>
      </p:sp>
    </p:spTree>
    <p:extLst>
      <p:ext uri="{BB962C8B-B14F-4D97-AF65-F5344CB8AC3E}">
        <p14:creationId xmlns:p14="http://schemas.microsoft.com/office/powerpoint/2010/main" val="633835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28A4DE6-CC58-47DF-A4F8-451A92F65A96}"/>
              </a:ext>
            </a:extLst>
          </p:cNvPr>
          <p:cNvSpPr/>
          <p:nvPr/>
        </p:nvSpPr>
        <p:spPr>
          <a:xfrm>
            <a:off x="673100" y="2882900"/>
            <a:ext cx="11518900" cy="1104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p:cNvSpPr>
            <a:spLocks noGrp="1"/>
          </p:cNvSpPr>
          <p:nvPr>
            <p:ph type="title"/>
          </p:nvPr>
        </p:nvSpPr>
        <p:spPr>
          <a:xfrm>
            <a:off x="4813387" y="2621209"/>
            <a:ext cx="4215811" cy="895350"/>
          </a:xfrm>
        </p:spPr>
        <p:txBody>
          <a:bodyPr>
            <a:noAutofit/>
          </a:bodyPr>
          <a:lstStyle/>
          <a:p>
            <a:pPr algn="ctr" defTabSz="608965">
              <a:lnSpc>
                <a:spcPct val="130000"/>
              </a:lnSpc>
            </a:pPr>
            <a:r>
              <a:rPr lang="zh-CN" altLang="en-US" sz="6000" dirty="0">
                <a:solidFill>
                  <a:srgbClr val="FFC000"/>
                </a:solidFill>
                <a:latin typeface="微软雅黑" panose="020B0503020204020204" pitchFamily="34" charset="-122"/>
                <a:ea typeface="微软雅黑" panose="020B0503020204020204" pitchFamily="34" charset="-122"/>
              </a:rPr>
              <a:t>数据</a:t>
            </a:r>
            <a:r>
              <a:rPr lang="zh-CN" altLang="en-US" sz="6000" dirty="0">
                <a:latin typeface="微软雅黑" panose="020B0503020204020204" pitchFamily="34" charset="-122"/>
                <a:ea typeface="微软雅黑" panose="020B0503020204020204" pitchFamily="34" charset="-122"/>
              </a:rPr>
              <a:t>预处理</a:t>
            </a:r>
          </a:p>
        </p:txBody>
      </p:sp>
      <p:sp>
        <p:nvSpPr>
          <p:cNvPr id="6" name="文本占位符 5"/>
          <p:cNvSpPr>
            <a:spLocks noGrp="1"/>
          </p:cNvSpPr>
          <p:nvPr>
            <p:ph type="body" idx="1"/>
          </p:nvPr>
        </p:nvSpPr>
        <p:spPr>
          <a:xfrm>
            <a:off x="5099223" y="3478259"/>
            <a:ext cx="3313184" cy="986064"/>
          </a:xfrm>
        </p:spPr>
        <p:txBody>
          <a:bodyPr>
            <a:normAutofit/>
          </a:bodyPr>
          <a:lstStyle/>
          <a:p>
            <a:pPr algn="ctr" defTabSz="608965">
              <a:lnSpc>
                <a:spcPct val="130000"/>
              </a:lnSpc>
            </a:pPr>
            <a:r>
              <a:rPr lang="zh-CN" altLang="en-US" sz="3600" b="1" dirty="0">
                <a:solidFill>
                  <a:schemeClr val="bg1"/>
                </a:solidFill>
                <a:highlight>
                  <a:srgbClr val="FFC000"/>
                </a:highlight>
                <a:latin typeface="+mj-ea"/>
                <a:ea typeface="+mj-ea"/>
              </a:rPr>
              <a:t>数据清洗</a:t>
            </a:r>
          </a:p>
        </p:txBody>
      </p:sp>
    </p:spTree>
    <p:extLst>
      <p:ext uri="{BB962C8B-B14F-4D97-AF65-F5344CB8AC3E}">
        <p14:creationId xmlns:p14="http://schemas.microsoft.com/office/powerpoint/2010/main" val="3710084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EA751B-B086-4338-95EF-657D8A2CDA89}"/>
              </a:ext>
            </a:extLst>
          </p:cNvPr>
          <p:cNvSpPr>
            <a:spLocks noGrp="1"/>
          </p:cNvSpPr>
          <p:nvPr>
            <p:ph type="title"/>
          </p:nvPr>
        </p:nvSpPr>
        <p:spPr>
          <a:xfrm>
            <a:off x="669925" y="296214"/>
            <a:ext cx="4262684" cy="732486"/>
          </a:xfrm>
        </p:spPr>
        <p:txBody>
          <a:bodyPr/>
          <a:lstStyle/>
          <a:p>
            <a:r>
              <a:rPr lang="zh-CN" altLang="en-US" dirty="0">
                <a:latin typeface="+mj-ea"/>
              </a:rPr>
              <a:t>缺失值处理</a:t>
            </a:r>
          </a:p>
        </p:txBody>
      </p:sp>
      <p:sp>
        <p:nvSpPr>
          <p:cNvPr id="4" name="灯片编号占位符 3">
            <a:extLst>
              <a:ext uri="{FF2B5EF4-FFF2-40B4-BE49-F238E27FC236}">
                <a16:creationId xmlns:a16="http://schemas.microsoft.com/office/drawing/2014/main" id="{E9C0E0BA-F97A-4FFE-960A-FBCC464B6404}"/>
              </a:ext>
            </a:extLst>
          </p:cNvPr>
          <p:cNvSpPr>
            <a:spLocks noGrp="1"/>
          </p:cNvSpPr>
          <p:nvPr>
            <p:ph type="sldNum" sz="quarter" idx="12"/>
          </p:nvPr>
        </p:nvSpPr>
        <p:spPr/>
        <p:txBody>
          <a:bodyPr/>
          <a:lstStyle/>
          <a:p>
            <a:fld id="{5DD3DB80-B894-403A-B48E-6FDC1A72010E}" type="slidenum">
              <a:rPr lang="zh-CN" altLang="en-US" smtClean="0">
                <a:latin typeface="+mj-ea"/>
                <a:ea typeface="+mj-ea"/>
              </a:rPr>
              <a:pPr/>
              <a:t>24</a:t>
            </a:fld>
            <a:endParaRPr lang="zh-CN" altLang="en-US">
              <a:latin typeface="+mj-ea"/>
              <a:ea typeface="+mj-ea"/>
            </a:endParaRPr>
          </a:p>
        </p:txBody>
      </p:sp>
      <p:sp>
        <p:nvSpPr>
          <p:cNvPr id="42" name="矩形 41">
            <a:extLst>
              <a:ext uri="{FF2B5EF4-FFF2-40B4-BE49-F238E27FC236}">
                <a16:creationId xmlns:a16="http://schemas.microsoft.com/office/drawing/2014/main" id="{FEE89199-D107-44A5-9FA0-4234295F5827}"/>
              </a:ext>
            </a:extLst>
          </p:cNvPr>
          <p:cNvSpPr/>
          <p:nvPr/>
        </p:nvSpPr>
        <p:spPr>
          <a:xfrm>
            <a:off x="699704" y="1152430"/>
            <a:ext cx="10896600" cy="646331"/>
          </a:xfrm>
          <a:prstGeom prst="rect">
            <a:avLst/>
          </a:prstGeom>
        </p:spPr>
        <p:txBody>
          <a:bodyPr wrap="square">
            <a:spAutoFit/>
          </a:bodyPr>
          <a:lstStyle/>
          <a:p>
            <a:r>
              <a:rPr lang="zh-CN" altLang="en-US" b="1" dirty="0">
                <a:solidFill>
                  <a:srgbClr val="FFC000"/>
                </a:solidFill>
                <a:latin typeface="+mj-ea"/>
                <a:ea typeface="+mj-ea"/>
              </a:rPr>
              <a:t>数据预处理</a:t>
            </a:r>
            <a:r>
              <a:rPr lang="zh-CN" altLang="en-US" dirty="0">
                <a:latin typeface="+mj-ea"/>
                <a:ea typeface="+mj-ea"/>
              </a:rPr>
              <a:t>的主要目的是为机器学习建模进行数据准备，数据准备得好与坏对模型效果 影响比较大。经常做的一些数据预处理工作有：</a:t>
            </a:r>
          </a:p>
        </p:txBody>
      </p:sp>
      <p:sp>
        <p:nvSpPr>
          <p:cNvPr id="43" name="矩形 42">
            <a:extLst>
              <a:ext uri="{FF2B5EF4-FFF2-40B4-BE49-F238E27FC236}">
                <a16:creationId xmlns:a16="http://schemas.microsoft.com/office/drawing/2014/main" id="{270DF17A-129B-4250-BAB4-1E20738922B1}"/>
              </a:ext>
            </a:extLst>
          </p:cNvPr>
          <p:cNvSpPr/>
          <p:nvPr/>
        </p:nvSpPr>
        <p:spPr>
          <a:xfrm>
            <a:off x="1742298" y="2486957"/>
            <a:ext cx="6599694" cy="1200329"/>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Arial" panose="020B0604020202020204" pitchFamily="34" charset="0"/>
              <a:buChar char="•"/>
            </a:pPr>
            <a:r>
              <a:rPr lang="zh-CN" altLang="en-US" dirty="0">
                <a:latin typeface="+mj-ea"/>
                <a:ea typeface="+mj-ea"/>
              </a:rPr>
              <a:t>对缺失值的处理</a:t>
            </a:r>
            <a:endParaRPr lang="en-US" altLang="zh-CN" dirty="0">
              <a:latin typeface="+mj-ea"/>
              <a:ea typeface="+mj-ea"/>
            </a:endParaRPr>
          </a:p>
          <a:p>
            <a:pPr marL="285750" indent="-285750">
              <a:buFont typeface="Arial" panose="020B0604020202020204" pitchFamily="34" charset="0"/>
              <a:buChar char="•"/>
            </a:pPr>
            <a:r>
              <a:rPr lang="zh-CN" altLang="en-US" dirty="0">
                <a:latin typeface="+mj-ea"/>
                <a:ea typeface="+mj-ea"/>
              </a:rPr>
              <a:t>把连续型变量进行分箱，然后再按照处理类别型变量的方式重新编码</a:t>
            </a:r>
            <a:endParaRPr lang="en-US" altLang="zh-CN" dirty="0">
              <a:latin typeface="+mj-ea"/>
              <a:ea typeface="+mj-ea"/>
            </a:endParaRPr>
          </a:p>
          <a:p>
            <a:pPr marL="285750" indent="-285750">
              <a:buFont typeface="Arial" panose="020B0604020202020204" pitchFamily="34" charset="0"/>
              <a:buChar char="•"/>
            </a:pPr>
            <a:r>
              <a:rPr lang="zh-CN" altLang="en-US" dirty="0">
                <a:latin typeface="+mj-ea"/>
                <a:ea typeface="+mj-ea"/>
              </a:rPr>
              <a:t>对连续型变量进行标准化和归一化处理</a:t>
            </a:r>
          </a:p>
        </p:txBody>
      </p:sp>
      <p:sp>
        <p:nvSpPr>
          <p:cNvPr id="44" name="矩形 43">
            <a:extLst>
              <a:ext uri="{FF2B5EF4-FFF2-40B4-BE49-F238E27FC236}">
                <a16:creationId xmlns:a16="http://schemas.microsoft.com/office/drawing/2014/main" id="{BFDAEDA5-A038-4794-A805-DF1222CBFACF}"/>
              </a:ext>
            </a:extLst>
          </p:cNvPr>
          <p:cNvSpPr/>
          <p:nvPr/>
        </p:nvSpPr>
        <p:spPr>
          <a:xfrm>
            <a:off x="609467" y="4228242"/>
            <a:ext cx="9944946" cy="1477328"/>
          </a:xfrm>
          <a:prstGeom prst="rect">
            <a:avLst/>
          </a:prstGeom>
        </p:spPr>
        <p:txBody>
          <a:bodyPr wrap="square">
            <a:spAutoFit/>
          </a:bodyPr>
          <a:lstStyle/>
          <a:p>
            <a:r>
              <a:rPr lang="zh-CN" altLang="en-US" b="1" dirty="0">
                <a:solidFill>
                  <a:srgbClr val="FFC000"/>
                </a:solidFill>
                <a:latin typeface="+mj-ea"/>
                <a:ea typeface="+mj-ea"/>
              </a:rPr>
              <a:t>注意事项：</a:t>
            </a:r>
            <a:r>
              <a:rPr lang="zh-CN" altLang="en-US" dirty="0">
                <a:latin typeface="+mj-ea"/>
                <a:ea typeface="+mj-ea"/>
              </a:rPr>
              <a:t>以上的预处理工作并不是对所有问题都是必须要做的，不同的算法和问题，对预处理的要求是不一样， 如：</a:t>
            </a:r>
            <a:endParaRPr lang="en-US" altLang="zh-CN" dirty="0">
              <a:latin typeface="+mj-ea"/>
              <a:ea typeface="+mj-ea"/>
            </a:endParaRPr>
          </a:p>
          <a:p>
            <a:pPr marL="285750" indent="-285750">
              <a:buFont typeface="Arial" panose="020B0604020202020204" pitchFamily="34" charset="0"/>
              <a:buChar char="•"/>
            </a:pPr>
            <a:r>
              <a:rPr lang="zh-CN" altLang="en-US" dirty="0">
                <a:latin typeface="+mj-ea"/>
                <a:ea typeface="+mj-ea"/>
              </a:rPr>
              <a:t>缺失值对所有算法来说基本上都要处理</a:t>
            </a:r>
            <a:endParaRPr lang="en-US" altLang="zh-CN" dirty="0">
              <a:latin typeface="+mj-ea"/>
              <a:ea typeface="+mj-ea"/>
            </a:endParaRPr>
          </a:p>
          <a:p>
            <a:pPr marL="285750" indent="-285750">
              <a:buFont typeface="Arial" panose="020B0604020202020204" pitchFamily="34" charset="0"/>
              <a:buChar char="•"/>
            </a:pPr>
            <a:r>
              <a:rPr lang="zh-CN" altLang="en-US" dirty="0">
                <a:latin typeface="+mj-ea"/>
                <a:ea typeface="+mj-ea"/>
              </a:rPr>
              <a:t>连续型变量是否要分箱要看具体算法，决策树算法就不需要</a:t>
            </a:r>
            <a:endParaRPr lang="en-US" altLang="zh-CN" dirty="0">
              <a:latin typeface="+mj-ea"/>
              <a:ea typeface="+mj-ea"/>
            </a:endParaRPr>
          </a:p>
          <a:p>
            <a:pPr marL="285750" indent="-285750">
              <a:buFont typeface="Arial" panose="020B0604020202020204" pitchFamily="34" charset="0"/>
              <a:buChar char="•"/>
            </a:pPr>
            <a:r>
              <a:rPr lang="zh-CN" altLang="en-US" dirty="0">
                <a:latin typeface="+mj-ea"/>
                <a:ea typeface="+mj-ea"/>
              </a:rPr>
              <a:t>而标准化和归一化在涉及到距离计算的算法中一定要处理，例如 </a:t>
            </a:r>
            <a:r>
              <a:rPr lang="en-US" altLang="zh-CN" dirty="0">
                <a:latin typeface="+mj-ea"/>
                <a:ea typeface="+mj-ea"/>
              </a:rPr>
              <a:t>KNN</a:t>
            </a:r>
            <a:r>
              <a:rPr lang="zh-CN" altLang="en-US" dirty="0">
                <a:latin typeface="+mj-ea"/>
                <a:ea typeface="+mj-ea"/>
              </a:rPr>
              <a:t>，聚类分析</a:t>
            </a:r>
          </a:p>
        </p:txBody>
      </p:sp>
    </p:spTree>
    <p:extLst>
      <p:ext uri="{BB962C8B-B14F-4D97-AF65-F5344CB8AC3E}">
        <p14:creationId xmlns:p14="http://schemas.microsoft.com/office/powerpoint/2010/main" val="271897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EA751B-B086-4338-95EF-657D8A2CDA89}"/>
              </a:ext>
            </a:extLst>
          </p:cNvPr>
          <p:cNvSpPr>
            <a:spLocks noGrp="1"/>
          </p:cNvSpPr>
          <p:nvPr>
            <p:ph type="title"/>
          </p:nvPr>
        </p:nvSpPr>
        <p:spPr>
          <a:xfrm>
            <a:off x="669925" y="296214"/>
            <a:ext cx="4262684" cy="732486"/>
          </a:xfrm>
        </p:spPr>
        <p:txBody>
          <a:bodyPr/>
          <a:lstStyle/>
          <a:p>
            <a:r>
              <a:rPr lang="zh-CN" altLang="en-US" dirty="0">
                <a:latin typeface="+mj-ea"/>
              </a:rPr>
              <a:t>缺失值处理</a:t>
            </a:r>
          </a:p>
        </p:txBody>
      </p:sp>
      <p:sp>
        <p:nvSpPr>
          <p:cNvPr id="4" name="灯片编号占位符 3">
            <a:extLst>
              <a:ext uri="{FF2B5EF4-FFF2-40B4-BE49-F238E27FC236}">
                <a16:creationId xmlns:a16="http://schemas.microsoft.com/office/drawing/2014/main" id="{E9C0E0BA-F97A-4FFE-960A-FBCC464B6404}"/>
              </a:ext>
            </a:extLst>
          </p:cNvPr>
          <p:cNvSpPr>
            <a:spLocks noGrp="1"/>
          </p:cNvSpPr>
          <p:nvPr>
            <p:ph type="sldNum" sz="quarter" idx="12"/>
          </p:nvPr>
        </p:nvSpPr>
        <p:spPr/>
        <p:txBody>
          <a:bodyPr/>
          <a:lstStyle/>
          <a:p>
            <a:fld id="{5DD3DB80-B894-403A-B48E-6FDC1A72010E}" type="slidenum">
              <a:rPr lang="zh-CN" altLang="en-US" smtClean="0"/>
              <a:pPr/>
              <a:t>25</a:t>
            </a:fld>
            <a:endParaRPr lang="zh-CN" altLang="en-US"/>
          </a:p>
        </p:txBody>
      </p:sp>
      <p:graphicFrame>
        <p:nvGraphicFramePr>
          <p:cNvPr id="41" name="表格 40">
            <a:extLst>
              <a:ext uri="{FF2B5EF4-FFF2-40B4-BE49-F238E27FC236}">
                <a16:creationId xmlns:a16="http://schemas.microsoft.com/office/drawing/2014/main" id="{490F6FF1-85A9-46EB-A73B-C90B29FAC1DF}"/>
              </a:ext>
            </a:extLst>
          </p:cNvPr>
          <p:cNvGraphicFramePr>
            <a:graphicFrameLocks noGrp="1"/>
          </p:cNvGraphicFramePr>
          <p:nvPr/>
        </p:nvGraphicFramePr>
        <p:xfrm>
          <a:off x="1178675" y="1374503"/>
          <a:ext cx="9811517" cy="4536948"/>
        </p:xfrm>
        <a:graphic>
          <a:graphicData uri="http://schemas.openxmlformats.org/drawingml/2006/table">
            <a:tbl>
              <a:tblPr firstRow="1" bandRow="1">
                <a:tableStyleId>{5C22544A-7EE6-4342-B048-85BDC9FD1C3A}</a:tableStyleId>
              </a:tblPr>
              <a:tblGrid>
                <a:gridCol w="3561347">
                  <a:extLst>
                    <a:ext uri="{9D8B030D-6E8A-4147-A177-3AD203B41FA5}">
                      <a16:colId xmlns:a16="http://schemas.microsoft.com/office/drawing/2014/main" val="4036680656"/>
                    </a:ext>
                  </a:extLst>
                </a:gridCol>
                <a:gridCol w="6250170">
                  <a:extLst>
                    <a:ext uri="{9D8B030D-6E8A-4147-A177-3AD203B41FA5}">
                      <a16:colId xmlns:a16="http://schemas.microsoft.com/office/drawing/2014/main" val="2130193810"/>
                    </a:ext>
                  </a:extLst>
                </a:gridCol>
              </a:tblGrid>
              <a:tr h="505644">
                <a:tc>
                  <a:txBody>
                    <a:bodyPr/>
                    <a:lstStyle/>
                    <a:p>
                      <a:pPr algn="ctr"/>
                      <a:r>
                        <a:rPr lang="zh-CN" altLang="en-US" dirty="0"/>
                        <a:t>插补方法</a:t>
                      </a:r>
                    </a:p>
                  </a:txBody>
                  <a:tcPr/>
                </a:tc>
                <a:tc>
                  <a:txBody>
                    <a:bodyPr/>
                    <a:lstStyle/>
                    <a:p>
                      <a:pPr algn="ctr"/>
                      <a:r>
                        <a:rPr lang="zh-CN" altLang="en-US" dirty="0"/>
                        <a:t>方法描述</a:t>
                      </a:r>
                    </a:p>
                  </a:txBody>
                  <a:tcPr/>
                </a:tc>
                <a:extLst>
                  <a:ext uri="{0D108BD9-81ED-4DB2-BD59-A6C34878D82A}">
                    <a16:rowId xmlns:a16="http://schemas.microsoft.com/office/drawing/2014/main" val="3000619796"/>
                  </a:ext>
                </a:extLst>
              </a:tr>
              <a:tr h="505644">
                <a:tc>
                  <a:txBody>
                    <a:bodyPr/>
                    <a:lstStyle/>
                    <a:p>
                      <a:pPr algn="ctr">
                        <a:lnSpc>
                          <a:spcPct val="200000"/>
                        </a:lnSpc>
                      </a:pPr>
                      <a:r>
                        <a:rPr lang="zh-CN" altLang="en-US" dirty="0"/>
                        <a:t>均值</a:t>
                      </a:r>
                      <a:r>
                        <a:rPr lang="en-US" altLang="zh-CN" dirty="0"/>
                        <a:t>/</a:t>
                      </a:r>
                      <a:r>
                        <a:rPr lang="zh-CN" altLang="en-US" dirty="0"/>
                        <a:t>中位数</a:t>
                      </a:r>
                      <a:r>
                        <a:rPr lang="en-US" altLang="zh-CN" dirty="0"/>
                        <a:t>/</a:t>
                      </a:r>
                      <a:r>
                        <a:rPr lang="zh-CN" altLang="en-US" dirty="0"/>
                        <a:t>众数插补</a:t>
                      </a:r>
                    </a:p>
                  </a:txBody>
                  <a:tcPr/>
                </a:tc>
                <a:tc>
                  <a:txBody>
                    <a:bodyPr/>
                    <a:lstStyle/>
                    <a:p>
                      <a:r>
                        <a:rPr lang="zh-CN" altLang="en-US" dirty="0"/>
                        <a:t>根据属性值的类型，用该属性值的平均数</a:t>
                      </a:r>
                      <a:r>
                        <a:rPr lang="en-US" altLang="zh-CN" dirty="0"/>
                        <a:t>/</a:t>
                      </a:r>
                      <a:r>
                        <a:rPr lang="zh-CN" altLang="en-US" dirty="0"/>
                        <a:t>中位数</a:t>
                      </a:r>
                      <a:r>
                        <a:rPr lang="en-US" altLang="zh-CN" dirty="0"/>
                        <a:t>/</a:t>
                      </a:r>
                      <a:r>
                        <a:rPr lang="zh-CN" altLang="en-US" dirty="0"/>
                        <a:t>众数进行插补</a:t>
                      </a:r>
                    </a:p>
                  </a:txBody>
                  <a:tcPr/>
                </a:tc>
                <a:extLst>
                  <a:ext uri="{0D108BD9-81ED-4DB2-BD59-A6C34878D82A}">
                    <a16:rowId xmlns:a16="http://schemas.microsoft.com/office/drawing/2014/main" val="2847688541"/>
                  </a:ext>
                </a:extLst>
              </a:tr>
              <a:tr h="505644">
                <a:tc>
                  <a:txBody>
                    <a:bodyPr/>
                    <a:lstStyle/>
                    <a:p>
                      <a:pPr algn="ctr">
                        <a:lnSpc>
                          <a:spcPct val="200000"/>
                        </a:lnSpc>
                      </a:pPr>
                      <a:r>
                        <a:rPr lang="zh-CN" altLang="en-US" dirty="0"/>
                        <a:t>使用固定值</a:t>
                      </a:r>
                    </a:p>
                  </a:txBody>
                  <a:tcPr/>
                </a:tc>
                <a:tc>
                  <a:txBody>
                    <a:bodyPr/>
                    <a:lstStyle/>
                    <a:p>
                      <a:r>
                        <a:rPr lang="zh-CN" altLang="en-US" dirty="0"/>
                        <a:t>将确实的属性值用一个常量替换</a:t>
                      </a:r>
                    </a:p>
                  </a:txBody>
                  <a:tcPr/>
                </a:tc>
                <a:extLst>
                  <a:ext uri="{0D108BD9-81ED-4DB2-BD59-A6C34878D82A}">
                    <a16:rowId xmlns:a16="http://schemas.microsoft.com/office/drawing/2014/main" val="2498530119"/>
                  </a:ext>
                </a:extLst>
              </a:tr>
              <a:tr h="505644">
                <a:tc>
                  <a:txBody>
                    <a:bodyPr/>
                    <a:lstStyle/>
                    <a:p>
                      <a:pPr algn="ctr">
                        <a:lnSpc>
                          <a:spcPct val="200000"/>
                        </a:lnSpc>
                      </a:pPr>
                      <a:r>
                        <a:rPr lang="zh-CN" altLang="en-US" dirty="0"/>
                        <a:t>最近邻插补</a:t>
                      </a:r>
                    </a:p>
                  </a:txBody>
                  <a:tcPr/>
                </a:tc>
                <a:tc>
                  <a:txBody>
                    <a:bodyPr/>
                    <a:lstStyle/>
                    <a:p>
                      <a:r>
                        <a:rPr lang="zh-CN" altLang="en-US" dirty="0"/>
                        <a:t>在记录中找到与确实样本最接近的样本的该属性值插补</a:t>
                      </a:r>
                    </a:p>
                  </a:txBody>
                  <a:tcPr/>
                </a:tc>
                <a:extLst>
                  <a:ext uri="{0D108BD9-81ED-4DB2-BD59-A6C34878D82A}">
                    <a16:rowId xmlns:a16="http://schemas.microsoft.com/office/drawing/2014/main" val="2598418824"/>
                  </a:ext>
                </a:extLst>
              </a:tr>
              <a:tr h="505644">
                <a:tc>
                  <a:txBody>
                    <a:bodyPr/>
                    <a:lstStyle/>
                    <a:p>
                      <a:pPr algn="ctr">
                        <a:lnSpc>
                          <a:spcPct val="200000"/>
                        </a:lnSpc>
                      </a:pPr>
                      <a:r>
                        <a:rPr lang="zh-CN" altLang="en-US" dirty="0"/>
                        <a:t>回归方程</a:t>
                      </a:r>
                    </a:p>
                  </a:txBody>
                  <a:tcPr/>
                </a:tc>
                <a:tc>
                  <a:txBody>
                    <a:bodyPr/>
                    <a:lstStyle/>
                    <a:p>
                      <a:r>
                        <a:rPr lang="zh-CN" altLang="en-US" dirty="0"/>
                        <a:t>队带有缺失值的变量，根据已有数据和与其有关的其他变量的数据建立拟合模型来预测缺失值的属性值</a:t>
                      </a:r>
                    </a:p>
                  </a:txBody>
                  <a:tcPr/>
                </a:tc>
                <a:extLst>
                  <a:ext uri="{0D108BD9-81ED-4DB2-BD59-A6C34878D82A}">
                    <a16:rowId xmlns:a16="http://schemas.microsoft.com/office/drawing/2014/main" val="4002562755"/>
                  </a:ext>
                </a:extLst>
              </a:tr>
              <a:tr h="708730">
                <a:tc>
                  <a:txBody>
                    <a:bodyPr/>
                    <a:lstStyle/>
                    <a:p>
                      <a:pPr algn="ctr">
                        <a:lnSpc>
                          <a:spcPct val="200000"/>
                        </a:lnSpc>
                      </a:pPr>
                      <a:r>
                        <a:rPr lang="zh-CN" altLang="en-US" dirty="0"/>
                        <a:t>插值法</a:t>
                      </a:r>
                    </a:p>
                  </a:txBody>
                  <a:tcPr/>
                </a:tc>
                <a:tc>
                  <a:txBody>
                    <a:bodyPr/>
                    <a:lstStyle/>
                    <a:p>
                      <a:r>
                        <a:rPr lang="zh-CN" altLang="en-US" dirty="0"/>
                        <a:t>插值法是利用已知点建立合适的插值函数</a:t>
                      </a:r>
                      <a:r>
                        <a:rPr lang="en-US" altLang="zh-CN" dirty="0"/>
                        <a:t>f(x)</a:t>
                      </a:r>
                      <a:r>
                        <a:rPr lang="zh-CN" altLang="en-US" dirty="0"/>
                        <a:t>，未知值由对应点</a:t>
                      </a:r>
                      <a:r>
                        <a:rPr lang="en-US" altLang="zh-CN" dirty="0"/>
                        <a:t>x</a:t>
                      </a:r>
                      <a:r>
                        <a:rPr lang="zh-CN" altLang="en-US" dirty="0"/>
                        <a:t>求出的函数值</a:t>
                      </a:r>
                      <a:r>
                        <a:rPr lang="en-US" altLang="zh-CN" dirty="0"/>
                        <a:t>f(x)</a:t>
                      </a:r>
                      <a:r>
                        <a:rPr lang="zh-CN" altLang="en-US" dirty="0"/>
                        <a:t>近似代替</a:t>
                      </a:r>
                    </a:p>
                  </a:txBody>
                  <a:tcPr/>
                </a:tc>
                <a:extLst>
                  <a:ext uri="{0D108BD9-81ED-4DB2-BD59-A6C34878D82A}">
                    <a16:rowId xmlns:a16="http://schemas.microsoft.com/office/drawing/2014/main" val="4159204593"/>
                  </a:ext>
                </a:extLst>
              </a:tr>
              <a:tr h="708730">
                <a:tc>
                  <a:txBody>
                    <a:bodyPr/>
                    <a:lstStyle/>
                    <a:p>
                      <a:pPr algn="ctr">
                        <a:lnSpc>
                          <a:spcPct val="200000"/>
                        </a:lnSpc>
                      </a:pPr>
                      <a:r>
                        <a:rPr lang="zh-CN" altLang="en-US" dirty="0"/>
                        <a:t>构造新变量</a:t>
                      </a:r>
                    </a:p>
                  </a:txBody>
                  <a:tcPr/>
                </a:tc>
                <a:tc>
                  <a:txBody>
                    <a:bodyPr/>
                    <a:lstStyle/>
                    <a:p>
                      <a:r>
                        <a:rPr lang="zh-CN" altLang="en-US" dirty="0"/>
                        <a:t>构造新变量来标记缺失值。缺失就标记为 </a:t>
                      </a:r>
                      <a:r>
                        <a:rPr lang="en-US" altLang="zh-CN" dirty="0"/>
                        <a:t>1</a:t>
                      </a:r>
                      <a:r>
                        <a:rPr lang="zh-CN" altLang="en-US" dirty="0"/>
                        <a:t>，不缺失就标记为 </a:t>
                      </a:r>
                      <a:r>
                        <a:rPr lang="en-US" altLang="zh-CN" dirty="0"/>
                        <a:t>0 </a:t>
                      </a:r>
                      <a:r>
                        <a:rPr lang="zh-CN" altLang="en-US" dirty="0"/>
                        <a:t>。这种方法认为缺失值本身 是一个有意义的信息，不能简单处理掉，必须要标记出来</a:t>
                      </a:r>
                    </a:p>
                  </a:txBody>
                  <a:tcPr/>
                </a:tc>
                <a:extLst>
                  <a:ext uri="{0D108BD9-81ED-4DB2-BD59-A6C34878D82A}">
                    <a16:rowId xmlns:a16="http://schemas.microsoft.com/office/drawing/2014/main" val="1629909834"/>
                  </a:ext>
                </a:extLst>
              </a:tr>
            </a:tbl>
          </a:graphicData>
        </a:graphic>
      </p:graphicFrame>
    </p:spTree>
    <p:extLst>
      <p:ext uri="{BB962C8B-B14F-4D97-AF65-F5344CB8AC3E}">
        <p14:creationId xmlns:p14="http://schemas.microsoft.com/office/powerpoint/2010/main" val="204244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EA751B-B086-4338-95EF-657D8A2CDA89}"/>
              </a:ext>
            </a:extLst>
          </p:cNvPr>
          <p:cNvSpPr>
            <a:spLocks noGrp="1"/>
          </p:cNvSpPr>
          <p:nvPr>
            <p:ph type="title"/>
          </p:nvPr>
        </p:nvSpPr>
        <p:spPr>
          <a:xfrm>
            <a:off x="669925" y="296214"/>
            <a:ext cx="4262684" cy="732486"/>
          </a:xfrm>
        </p:spPr>
        <p:txBody>
          <a:bodyPr/>
          <a:lstStyle/>
          <a:p>
            <a:r>
              <a:rPr lang="zh-CN" altLang="en-US" dirty="0">
                <a:latin typeface="+mj-ea"/>
              </a:rPr>
              <a:t>缺失值处理</a:t>
            </a:r>
          </a:p>
        </p:txBody>
      </p:sp>
      <p:sp>
        <p:nvSpPr>
          <p:cNvPr id="4" name="灯片编号占位符 3">
            <a:extLst>
              <a:ext uri="{FF2B5EF4-FFF2-40B4-BE49-F238E27FC236}">
                <a16:creationId xmlns:a16="http://schemas.microsoft.com/office/drawing/2014/main" id="{E9C0E0BA-F97A-4FFE-960A-FBCC464B6404}"/>
              </a:ext>
            </a:extLst>
          </p:cNvPr>
          <p:cNvSpPr>
            <a:spLocks noGrp="1"/>
          </p:cNvSpPr>
          <p:nvPr>
            <p:ph type="sldNum" sz="quarter" idx="12"/>
          </p:nvPr>
        </p:nvSpPr>
        <p:spPr/>
        <p:txBody>
          <a:bodyPr/>
          <a:lstStyle/>
          <a:p>
            <a:fld id="{5DD3DB80-B894-403A-B48E-6FDC1A72010E}" type="slidenum">
              <a:rPr lang="zh-CN" altLang="en-US" smtClean="0">
                <a:latin typeface="+mj-ea"/>
                <a:ea typeface="+mj-ea"/>
              </a:rPr>
              <a:pPr/>
              <a:t>26</a:t>
            </a:fld>
            <a:endParaRPr lang="zh-CN" altLang="en-US">
              <a:latin typeface="+mj-ea"/>
              <a:ea typeface="+mj-ea"/>
            </a:endParaRPr>
          </a:p>
        </p:txBody>
      </p:sp>
      <p:sp>
        <p:nvSpPr>
          <p:cNvPr id="5" name="文本框 4">
            <a:extLst>
              <a:ext uri="{FF2B5EF4-FFF2-40B4-BE49-F238E27FC236}">
                <a16:creationId xmlns:a16="http://schemas.microsoft.com/office/drawing/2014/main" id="{CBD58D09-8140-4E92-AF9F-0B319AACD50D}"/>
              </a:ext>
            </a:extLst>
          </p:cNvPr>
          <p:cNvSpPr txBox="1"/>
          <p:nvPr/>
        </p:nvSpPr>
        <p:spPr>
          <a:xfrm>
            <a:off x="814031" y="1290330"/>
            <a:ext cx="4233052" cy="375212"/>
          </a:xfrm>
          <a:prstGeom prst="rect">
            <a:avLst/>
          </a:prstGeom>
          <a:noFill/>
        </p:spPr>
        <p:txBody>
          <a:bodyPr wrap="square" rtlCol="0">
            <a:spAutoFit/>
          </a:bodyPr>
          <a:lstStyle/>
          <a:p>
            <a:r>
              <a:rPr lang="zh-CN" altLang="en-US" dirty="0">
                <a:latin typeface="+mj-ea"/>
                <a:ea typeface="+mj-ea"/>
              </a:rPr>
              <a:t>删除缺失记录（使用</a:t>
            </a:r>
            <a:r>
              <a:rPr lang="en-US" altLang="zh-CN" dirty="0" err="1">
                <a:latin typeface="+mj-ea"/>
                <a:ea typeface="+mj-ea"/>
              </a:rPr>
              <a:t>dropna</a:t>
            </a:r>
            <a:r>
              <a:rPr lang="en-US" altLang="zh-CN" dirty="0">
                <a:latin typeface="+mj-ea"/>
                <a:ea typeface="+mj-ea"/>
              </a:rPr>
              <a:t>()</a:t>
            </a:r>
            <a:r>
              <a:rPr lang="zh-CN" altLang="en-US" dirty="0">
                <a:latin typeface="+mj-ea"/>
                <a:ea typeface="+mj-ea"/>
              </a:rPr>
              <a:t>方法）</a:t>
            </a:r>
          </a:p>
        </p:txBody>
      </p:sp>
      <p:pic>
        <p:nvPicPr>
          <p:cNvPr id="6" name="图片 5">
            <a:extLst>
              <a:ext uri="{FF2B5EF4-FFF2-40B4-BE49-F238E27FC236}">
                <a16:creationId xmlns:a16="http://schemas.microsoft.com/office/drawing/2014/main" id="{3E2B952A-E907-4E77-BF25-883DE25DA0B6}"/>
              </a:ext>
            </a:extLst>
          </p:cNvPr>
          <p:cNvPicPr>
            <a:picLocks noChangeAspect="1"/>
          </p:cNvPicPr>
          <p:nvPr/>
        </p:nvPicPr>
        <p:blipFill>
          <a:blip r:embed="rId2"/>
          <a:stretch>
            <a:fillRect/>
          </a:stretch>
        </p:blipFill>
        <p:spPr>
          <a:xfrm>
            <a:off x="1015668" y="1994487"/>
            <a:ext cx="5065282" cy="1093640"/>
          </a:xfrm>
          <a:prstGeom prst="rect">
            <a:avLst/>
          </a:prstGeom>
        </p:spPr>
      </p:pic>
      <p:pic>
        <p:nvPicPr>
          <p:cNvPr id="7" name="图片 6">
            <a:extLst>
              <a:ext uri="{FF2B5EF4-FFF2-40B4-BE49-F238E27FC236}">
                <a16:creationId xmlns:a16="http://schemas.microsoft.com/office/drawing/2014/main" id="{B7056AE5-EF33-4C9B-AA18-4AC5C357BDB9}"/>
              </a:ext>
            </a:extLst>
          </p:cNvPr>
          <p:cNvPicPr>
            <a:picLocks noChangeAspect="1"/>
          </p:cNvPicPr>
          <p:nvPr/>
        </p:nvPicPr>
        <p:blipFill>
          <a:blip r:embed="rId3"/>
          <a:stretch>
            <a:fillRect/>
          </a:stretch>
        </p:blipFill>
        <p:spPr>
          <a:xfrm>
            <a:off x="1015667" y="3356164"/>
            <a:ext cx="3716967" cy="2957095"/>
          </a:xfrm>
          <a:prstGeom prst="rect">
            <a:avLst/>
          </a:prstGeom>
        </p:spPr>
      </p:pic>
      <p:sp>
        <p:nvSpPr>
          <p:cNvPr id="8" name="文本框 7">
            <a:extLst>
              <a:ext uri="{FF2B5EF4-FFF2-40B4-BE49-F238E27FC236}">
                <a16:creationId xmlns:a16="http://schemas.microsoft.com/office/drawing/2014/main" id="{5565C324-7ECD-48E9-B323-A519FFD4C4E3}"/>
              </a:ext>
            </a:extLst>
          </p:cNvPr>
          <p:cNvSpPr txBox="1"/>
          <p:nvPr/>
        </p:nvSpPr>
        <p:spPr>
          <a:xfrm>
            <a:off x="5009438" y="3543816"/>
            <a:ext cx="3271677" cy="938031"/>
          </a:xfrm>
          <a:prstGeom prst="rect">
            <a:avLst/>
          </a:prstGeom>
          <a:noFill/>
        </p:spPr>
        <p:txBody>
          <a:bodyPr wrap="square" rtlCol="0">
            <a:spAutoFit/>
          </a:bodyPr>
          <a:lstStyle/>
          <a:p>
            <a:r>
              <a:rPr lang="zh-CN" altLang="en-US" dirty="0">
                <a:solidFill>
                  <a:srgbClr val="FF0000"/>
                </a:solidFill>
                <a:latin typeface="+mj-ea"/>
                <a:ea typeface="+mj-ea"/>
              </a:rPr>
              <a:t>问题： </a:t>
            </a:r>
            <a:r>
              <a:rPr lang="zh-CN" altLang="en-US" dirty="0">
                <a:latin typeface="+mj-ea"/>
                <a:ea typeface="+mj-ea"/>
              </a:rPr>
              <a:t>删除后只有 </a:t>
            </a:r>
            <a:r>
              <a:rPr lang="en-US" altLang="zh-CN" dirty="0">
                <a:latin typeface="+mj-ea"/>
                <a:ea typeface="+mj-ea"/>
              </a:rPr>
              <a:t>183 </a:t>
            </a:r>
            <a:r>
              <a:rPr lang="zh-CN" altLang="en-US" dirty="0">
                <a:latin typeface="+mj-ea"/>
                <a:ea typeface="+mj-ea"/>
              </a:rPr>
              <a:t>条记录了，原 来可是有 </a:t>
            </a:r>
            <a:r>
              <a:rPr lang="en-US" altLang="zh-CN" dirty="0">
                <a:latin typeface="+mj-ea"/>
                <a:ea typeface="+mj-ea"/>
              </a:rPr>
              <a:t>891 </a:t>
            </a:r>
            <a:r>
              <a:rPr lang="zh-CN" altLang="en-US" dirty="0">
                <a:latin typeface="+mj-ea"/>
                <a:ea typeface="+mj-ea"/>
              </a:rPr>
              <a:t>条记录啊，显然这样做不行。</a:t>
            </a:r>
          </a:p>
        </p:txBody>
      </p:sp>
    </p:spTree>
    <p:extLst>
      <p:ext uri="{BB962C8B-B14F-4D97-AF65-F5344CB8AC3E}">
        <p14:creationId xmlns:p14="http://schemas.microsoft.com/office/powerpoint/2010/main" val="1040455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EA751B-B086-4338-95EF-657D8A2CDA89}"/>
              </a:ext>
            </a:extLst>
          </p:cNvPr>
          <p:cNvSpPr>
            <a:spLocks noGrp="1"/>
          </p:cNvSpPr>
          <p:nvPr>
            <p:ph type="title"/>
          </p:nvPr>
        </p:nvSpPr>
        <p:spPr>
          <a:xfrm>
            <a:off x="669925" y="296214"/>
            <a:ext cx="4262684" cy="732486"/>
          </a:xfrm>
        </p:spPr>
        <p:txBody>
          <a:bodyPr/>
          <a:lstStyle/>
          <a:p>
            <a:r>
              <a:rPr lang="zh-CN" altLang="en-US" dirty="0">
                <a:latin typeface="+mj-ea"/>
              </a:rPr>
              <a:t>缺失值处理</a:t>
            </a:r>
          </a:p>
        </p:txBody>
      </p:sp>
      <p:sp>
        <p:nvSpPr>
          <p:cNvPr id="4" name="灯片编号占位符 3">
            <a:extLst>
              <a:ext uri="{FF2B5EF4-FFF2-40B4-BE49-F238E27FC236}">
                <a16:creationId xmlns:a16="http://schemas.microsoft.com/office/drawing/2014/main" id="{E9C0E0BA-F97A-4FFE-960A-FBCC464B6404}"/>
              </a:ext>
            </a:extLst>
          </p:cNvPr>
          <p:cNvSpPr>
            <a:spLocks noGrp="1"/>
          </p:cNvSpPr>
          <p:nvPr>
            <p:ph type="sldNum" sz="quarter" idx="12"/>
          </p:nvPr>
        </p:nvSpPr>
        <p:spPr/>
        <p:txBody>
          <a:bodyPr/>
          <a:lstStyle/>
          <a:p>
            <a:fld id="{5DD3DB80-B894-403A-B48E-6FDC1A72010E}" type="slidenum">
              <a:rPr lang="zh-CN" altLang="en-US" smtClean="0"/>
              <a:pPr/>
              <a:t>27</a:t>
            </a:fld>
            <a:endParaRPr lang="zh-CN" altLang="en-US"/>
          </a:p>
        </p:txBody>
      </p:sp>
      <p:sp>
        <p:nvSpPr>
          <p:cNvPr id="5" name="文本框 4">
            <a:extLst>
              <a:ext uri="{FF2B5EF4-FFF2-40B4-BE49-F238E27FC236}">
                <a16:creationId xmlns:a16="http://schemas.microsoft.com/office/drawing/2014/main" id="{A4D6ED92-EBBF-47BB-85A5-D80D5B72EF09}"/>
              </a:ext>
            </a:extLst>
          </p:cNvPr>
          <p:cNvSpPr txBox="1"/>
          <p:nvPr/>
        </p:nvSpPr>
        <p:spPr>
          <a:xfrm>
            <a:off x="995060" y="1341845"/>
            <a:ext cx="3639083" cy="369332"/>
          </a:xfrm>
          <a:prstGeom prst="rect">
            <a:avLst/>
          </a:prstGeom>
          <a:noFill/>
        </p:spPr>
        <p:txBody>
          <a:bodyPr wrap="square" rtlCol="0">
            <a:spAutoFit/>
          </a:bodyPr>
          <a:lstStyle/>
          <a:p>
            <a:r>
              <a:rPr lang="zh-CN" altLang="en-US" dirty="0"/>
              <a:t>替换缺失值，比如用均值填充</a:t>
            </a:r>
          </a:p>
        </p:txBody>
      </p:sp>
      <p:pic>
        <p:nvPicPr>
          <p:cNvPr id="6" name="图片 5">
            <a:extLst>
              <a:ext uri="{FF2B5EF4-FFF2-40B4-BE49-F238E27FC236}">
                <a16:creationId xmlns:a16="http://schemas.microsoft.com/office/drawing/2014/main" id="{229D3BA5-213C-4FEB-B986-39A9017C9D75}"/>
              </a:ext>
            </a:extLst>
          </p:cNvPr>
          <p:cNvPicPr>
            <a:picLocks noChangeAspect="1"/>
          </p:cNvPicPr>
          <p:nvPr/>
        </p:nvPicPr>
        <p:blipFill>
          <a:blip r:embed="rId2"/>
          <a:stretch>
            <a:fillRect/>
          </a:stretch>
        </p:blipFill>
        <p:spPr>
          <a:xfrm>
            <a:off x="995060" y="2195925"/>
            <a:ext cx="6353650" cy="1551472"/>
          </a:xfrm>
          <a:prstGeom prst="rect">
            <a:avLst/>
          </a:prstGeom>
        </p:spPr>
      </p:pic>
      <p:pic>
        <p:nvPicPr>
          <p:cNvPr id="7" name="图片 6">
            <a:extLst>
              <a:ext uri="{FF2B5EF4-FFF2-40B4-BE49-F238E27FC236}">
                <a16:creationId xmlns:a16="http://schemas.microsoft.com/office/drawing/2014/main" id="{32210EF7-9C6D-48AB-A1EF-3070269C28BD}"/>
              </a:ext>
            </a:extLst>
          </p:cNvPr>
          <p:cNvPicPr>
            <a:picLocks noChangeAspect="1"/>
          </p:cNvPicPr>
          <p:nvPr/>
        </p:nvPicPr>
        <p:blipFill>
          <a:blip r:embed="rId3"/>
          <a:stretch>
            <a:fillRect/>
          </a:stretch>
        </p:blipFill>
        <p:spPr>
          <a:xfrm>
            <a:off x="1727068" y="4073147"/>
            <a:ext cx="2720645" cy="1943319"/>
          </a:xfrm>
          <a:prstGeom prst="rect">
            <a:avLst/>
          </a:prstGeom>
        </p:spPr>
      </p:pic>
    </p:spTree>
    <p:extLst>
      <p:ext uri="{BB962C8B-B14F-4D97-AF65-F5344CB8AC3E}">
        <p14:creationId xmlns:p14="http://schemas.microsoft.com/office/powerpoint/2010/main" val="956362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EA751B-B086-4338-95EF-657D8A2CDA89}"/>
              </a:ext>
            </a:extLst>
          </p:cNvPr>
          <p:cNvSpPr>
            <a:spLocks noGrp="1"/>
          </p:cNvSpPr>
          <p:nvPr>
            <p:ph type="title"/>
          </p:nvPr>
        </p:nvSpPr>
        <p:spPr>
          <a:xfrm>
            <a:off x="669925" y="296214"/>
            <a:ext cx="4262684" cy="732486"/>
          </a:xfrm>
        </p:spPr>
        <p:txBody>
          <a:bodyPr/>
          <a:lstStyle/>
          <a:p>
            <a:r>
              <a:rPr lang="zh-CN" altLang="en-US" dirty="0">
                <a:latin typeface="+mj-ea"/>
              </a:rPr>
              <a:t>缺失值处理</a:t>
            </a:r>
          </a:p>
        </p:txBody>
      </p:sp>
      <p:sp>
        <p:nvSpPr>
          <p:cNvPr id="4" name="灯片编号占位符 3">
            <a:extLst>
              <a:ext uri="{FF2B5EF4-FFF2-40B4-BE49-F238E27FC236}">
                <a16:creationId xmlns:a16="http://schemas.microsoft.com/office/drawing/2014/main" id="{E9C0E0BA-F97A-4FFE-960A-FBCC464B6404}"/>
              </a:ext>
            </a:extLst>
          </p:cNvPr>
          <p:cNvSpPr>
            <a:spLocks noGrp="1"/>
          </p:cNvSpPr>
          <p:nvPr>
            <p:ph type="sldNum" sz="quarter" idx="12"/>
          </p:nvPr>
        </p:nvSpPr>
        <p:spPr/>
        <p:txBody>
          <a:bodyPr/>
          <a:lstStyle/>
          <a:p>
            <a:fld id="{5DD3DB80-B894-403A-B48E-6FDC1A72010E}" type="slidenum">
              <a:rPr lang="zh-CN" altLang="en-US" smtClean="0">
                <a:latin typeface="+mj-ea"/>
                <a:ea typeface="+mj-ea"/>
              </a:rPr>
              <a:pPr/>
              <a:t>28</a:t>
            </a:fld>
            <a:endParaRPr lang="zh-CN" altLang="en-US">
              <a:latin typeface="+mj-ea"/>
              <a:ea typeface="+mj-ea"/>
            </a:endParaRPr>
          </a:p>
        </p:txBody>
      </p:sp>
      <p:sp>
        <p:nvSpPr>
          <p:cNvPr id="6" name="文本框 5">
            <a:extLst>
              <a:ext uri="{FF2B5EF4-FFF2-40B4-BE49-F238E27FC236}">
                <a16:creationId xmlns:a16="http://schemas.microsoft.com/office/drawing/2014/main" id="{410F167D-654C-4E79-A133-16CD5E41742B}"/>
              </a:ext>
            </a:extLst>
          </p:cNvPr>
          <p:cNvSpPr txBox="1"/>
          <p:nvPr/>
        </p:nvSpPr>
        <p:spPr>
          <a:xfrm>
            <a:off x="848572" y="1317598"/>
            <a:ext cx="3118412" cy="369332"/>
          </a:xfrm>
          <a:prstGeom prst="rect">
            <a:avLst/>
          </a:prstGeom>
          <a:noFill/>
        </p:spPr>
        <p:txBody>
          <a:bodyPr wrap="square" rtlCol="0">
            <a:spAutoFit/>
          </a:bodyPr>
          <a:lstStyle/>
          <a:p>
            <a:r>
              <a:rPr lang="zh-CN" altLang="en-US" dirty="0">
                <a:latin typeface="+mj-ea"/>
                <a:ea typeface="+mj-ea"/>
              </a:rPr>
              <a:t>构造新变量标记缺失值</a:t>
            </a:r>
          </a:p>
        </p:txBody>
      </p:sp>
      <p:pic>
        <p:nvPicPr>
          <p:cNvPr id="7" name="图片 6">
            <a:extLst>
              <a:ext uri="{FF2B5EF4-FFF2-40B4-BE49-F238E27FC236}">
                <a16:creationId xmlns:a16="http://schemas.microsoft.com/office/drawing/2014/main" id="{E25F39A6-3ADB-41AD-9444-B089462914D9}"/>
              </a:ext>
            </a:extLst>
          </p:cNvPr>
          <p:cNvPicPr>
            <a:picLocks noChangeAspect="1"/>
          </p:cNvPicPr>
          <p:nvPr/>
        </p:nvPicPr>
        <p:blipFill>
          <a:blip r:embed="rId2"/>
          <a:stretch>
            <a:fillRect/>
          </a:stretch>
        </p:blipFill>
        <p:spPr>
          <a:xfrm>
            <a:off x="835693" y="2298984"/>
            <a:ext cx="7335504" cy="1626321"/>
          </a:xfrm>
          <a:prstGeom prst="rect">
            <a:avLst/>
          </a:prstGeom>
        </p:spPr>
      </p:pic>
      <p:pic>
        <p:nvPicPr>
          <p:cNvPr id="8" name="图片 7">
            <a:extLst>
              <a:ext uri="{FF2B5EF4-FFF2-40B4-BE49-F238E27FC236}">
                <a16:creationId xmlns:a16="http://schemas.microsoft.com/office/drawing/2014/main" id="{E51EF05F-86A7-4D31-9D8E-A93ADEF8C28D}"/>
              </a:ext>
            </a:extLst>
          </p:cNvPr>
          <p:cNvPicPr>
            <a:picLocks noChangeAspect="1"/>
          </p:cNvPicPr>
          <p:nvPr/>
        </p:nvPicPr>
        <p:blipFill>
          <a:blip r:embed="rId3"/>
          <a:stretch>
            <a:fillRect/>
          </a:stretch>
        </p:blipFill>
        <p:spPr>
          <a:xfrm>
            <a:off x="1326420" y="4541952"/>
            <a:ext cx="4997979" cy="1230272"/>
          </a:xfrm>
          <a:prstGeom prst="rect">
            <a:avLst/>
          </a:prstGeom>
        </p:spPr>
      </p:pic>
    </p:spTree>
    <p:extLst>
      <p:ext uri="{BB962C8B-B14F-4D97-AF65-F5344CB8AC3E}">
        <p14:creationId xmlns:p14="http://schemas.microsoft.com/office/powerpoint/2010/main" val="2743356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28A4DE6-CC58-47DF-A4F8-451A92F65A96}"/>
              </a:ext>
            </a:extLst>
          </p:cNvPr>
          <p:cNvSpPr/>
          <p:nvPr/>
        </p:nvSpPr>
        <p:spPr>
          <a:xfrm>
            <a:off x="673100" y="2882900"/>
            <a:ext cx="11518900" cy="1104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p:cNvSpPr>
            <a:spLocks noGrp="1"/>
          </p:cNvSpPr>
          <p:nvPr>
            <p:ph type="title"/>
          </p:nvPr>
        </p:nvSpPr>
        <p:spPr>
          <a:xfrm>
            <a:off x="4813387" y="2618393"/>
            <a:ext cx="4215811" cy="895350"/>
          </a:xfrm>
        </p:spPr>
        <p:txBody>
          <a:bodyPr>
            <a:noAutofit/>
          </a:bodyPr>
          <a:lstStyle/>
          <a:p>
            <a:pPr algn="ctr" defTabSz="608965">
              <a:lnSpc>
                <a:spcPct val="130000"/>
              </a:lnSpc>
            </a:pPr>
            <a:r>
              <a:rPr lang="zh-CN" altLang="en-US" sz="6000" dirty="0">
                <a:solidFill>
                  <a:srgbClr val="FFC000"/>
                </a:solidFill>
                <a:latin typeface="+mj-ea"/>
              </a:rPr>
              <a:t>数据</a:t>
            </a:r>
            <a:r>
              <a:rPr lang="zh-CN" altLang="en-US" sz="6000" dirty="0">
                <a:latin typeface="+mj-ea"/>
              </a:rPr>
              <a:t>预处理</a:t>
            </a:r>
          </a:p>
        </p:txBody>
      </p:sp>
      <p:sp>
        <p:nvSpPr>
          <p:cNvPr id="6" name="文本占位符 5"/>
          <p:cNvSpPr>
            <a:spLocks noGrp="1"/>
          </p:cNvSpPr>
          <p:nvPr>
            <p:ph type="body" idx="1"/>
          </p:nvPr>
        </p:nvSpPr>
        <p:spPr>
          <a:xfrm>
            <a:off x="5099223" y="3478259"/>
            <a:ext cx="3313184" cy="986064"/>
          </a:xfrm>
        </p:spPr>
        <p:txBody>
          <a:bodyPr>
            <a:normAutofit/>
          </a:bodyPr>
          <a:lstStyle/>
          <a:p>
            <a:pPr algn="ctr" defTabSz="608965">
              <a:lnSpc>
                <a:spcPct val="130000"/>
              </a:lnSpc>
            </a:pPr>
            <a:r>
              <a:rPr lang="zh-CN" altLang="en-US" sz="3600" b="1" dirty="0">
                <a:solidFill>
                  <a:schemeClr val="bg1"/>
                </a:solidFill>
                <a:highlight>
                  <a:srgbClr val="FFC000"/>
                </a:highlight>
                <a:latin typeface="+mj-ea"/>
                <a:ea typeface="+mj-ea"/>
              </a:rPr>
              <a:t>数据变换</a:t>
            </a:r>
          </a:p>
        </p:txBody>
      </p:sp>
    </p:spTree>
    <p:extLst>
      <p:ext uri="{BB962C8B-B14F-4D97-AF65-F5344CB8AC3E}">
        <p14:creationId xmlns:p14="http://schemas.microsoft.com/office/powerpoint/2010/main" val="3133392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数据变换</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latin typeface="+mj-ea"/>
                <a:ea typeface="+mj-ea"/>
              </a:rPr>
              <a:pPr/>
              <a:t>30</a:t>
            </a:fld>
            <a:endParaRPr lang="zh-CN" altLang="en-US">
              <a:latin typeface="+mj-ea"/>
              <a:ea typeface="+mj-ea"/>
            </a:endParaRPr>
          </a:p>
        </p:txBody>
      </p:sp>
      <p:sp>
        <p:nvSpPr>
          <p:cNvPr id="35" name="文本框 34">
            <a:extLst>
              <a:ext uri="{FF2B5EF4-FFF2-40B4-BE49-F238E27FC236}">
                <a16:creationId xmlns:a16="http://schemas.microsoft.com/office/drawing/2014/main" id="{9049049F-14FB-4557-9210-9BABD10B5FD2}"/>
              </a:ext>
            </a:extLst>
          </p:cNvPr>
          <p:cNvSpPr txBox="1"/>
          <p:nvPr/>
        </p:nvSpPr>
        <p:spPr>
          <a:xfrm>
            <a:off x="547554" y="1270159"/>
            <a:ext cx="8063786" cy="646331"/>
          </a:xfrm>
          <a:prstGeom prst="rect">
            <a:avLst/>
          </a:prstGeom>
          <a:noFill/>
        </p:spPr>
        <p:txBody>
          <a:bodyPr wrap="square" rtlCol="0">
            <a:spAutoFit/>
          </a:bodyPr>
          <a:lstStyle/>
          <a:p>
            <a:r>
              <a:rPr lang="zh-CN" altLang="en-US" b="1" dirty="0">
                <a:solidFill>
                  <a:srgbClr val="FFC000"/>
                </a:solidFill>
                <a:latin typeface="+mj-ea"/>
                <a:ea typeface="+mj-ea"/>
              </a:rPr>
              <a:t>数据变换</a:t>
            </a:r>
            <a:r>
              <a:rPr lang="zh-CN" altLang="en-US" dirty="0">
                <a:latin typeface="+mj-ea"/>
                <a:ea typeface="+mj-ea"/>
              </a:rPr>
              <a:t>主要是对数据进行规范化处理，将数据转换成“适当”的形式，以适用于挖掘人物及算法的需要。</a:t>
            </a:r>
          </a:p>
        </p:txBody>
      </p:sp>
      <p:pic>
        <p:nvPicPr>
          <p:cNvPr id="36" name="图片 35">
            <a:extLst>
              <a:ext uri="{FF2B5EF4-FFF2-40B4-BE49-F238E27FC236}">
                <a16:creationId xmlns:a16="http://schemas.microsoft.com/office/drawing/2014/main" id="{E332B281-5EE3-49C0-A585-4AB63BC5CE0E}"/>
              </a:ext>
            </a:extLst>
          </p:cNvPr>
          <p:cNvPicPr>
            <a:picLocks noChangeAspect="1"/>
          </p:cNvPicPr>
          <p:nvPr/>
        </p:nvPicPr>
        <p:blipFill>
          <a:blip r:embed="rId2"/>
          <a:stretch>
            <a:fillRect/>
          </a:stretch>
        </p:blipFill>
        <p:spPr>
          <a:xfrm>
            <a:off x="790774" y="2201194"/>
            <a:ext cx="4064047" cy="2215582"/>
          </a:xfrm>
          <a:prstGeom prst="rect">
            <a:avLst/>
          </a:prstGeom>
        </p:spPr>
      </p:pic>
      <p:pic>
        <p:nvPicPr>
          <p:cNvPr id="37" name="图片 36">
            <a:extLst>
              <a:ext uri="{FF2B5EF4-FFF2-40B4-BE49-F238E27FC236}">
                <a16:creationId xmlns:a16="http://schemas.microsoft.com/office/drawing/2014/main" id="{C2934CCD-0830-4E95-8D85-7FF8AD597B44}"/>
              </a:ext>
            </a:extLst>
          </p:cNvPr>
          <p:cNvPicPr>
            <a:picLocks noChangeAspect="1"/>
          </p:cNvPicPr>
          <p:nvPr/>
        </p:nvPicPr>
        <p:blipFill>
          <a:blip r:embed="rId3"/>
          <a:stretch>
            <a:fillRect/>
          </a:stretch>
        </p:blipFill>
        <p:spPr>
          <a:xfrm>
            <a:off x="790774" y="4775288"/>
            <a:ext cx="4031213" cy="1468786"/>
          </a:xfrm>
          <a:prstGeom prst="rect">
            <a:avLst/>
          </a:prstGeom>
        </p:spPr>
      </p:pic>
      <p:pic>
        <p:nvPicPr>
          <p:cNvPr id="38" name="图片 37">
            <a:extLst>
              <a:ext uri="{FF2B5EF4-FFF2-40B4-BE49-F238E27FC236}">
                <a16:creationId xmlns:a16="http://schemas.microsoft.com/office/drawing/2014/main" id="{2F6DE576-9911-427A-9A9A-B46F6F85007A}"/>
              </a:ext>
            </a:extLst>
          </p:cNvPr>
          <p:cNvPicPr>
            <a:picLocks noChangeAspect="1"/>
          </p:cNvPicPr>
          <p:nvPr/>
        </p:nvPicPr>
        <p:blipFill>
          <a:blip r:embed="rId4"/>
          <a:stretch>
            <a:fillRect/>
          </a:stretch>
        </p:blipFill>
        <p:spPr>
          <a:xfrm>
            <a:off x="5538947" y="3387967"/>
            <a:ext cx="4064047" cy="1612486"/>
          </a:xfrm>
          <a:prstGeom prst="rect">
            <a:avLst/>
          </a:prstGeom>
        </p:spPr>
      </p:pic>
    </p:spTree>
    <p:extLst>
      <p:ext uri="{BB962C8B-B14F-4D97-AF65-F5344CB8AC3E}">
        <p14:creationId xmlns:p14="http://schemas.microsoft.com/office/powerpoint/2010/main" val="167221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分箱</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pPr/>
              <a:t>31</a:t>
            </a:fld>
            <a:endParaRPr lang="zh-CN" altLang="en-US"/>
          </a:p>
        </p:txBody>
      </p:sp>
      <p:sp>
        <p:nvSpPr>
          <p:cNvPr id="7" name="矩形 6">
            <a:extLst>
              <a:ext uri="{FF2B5EF4-FFF2-40B4-BE49-F238E27FC236}">
                <a16:creationId xmlns:a16="http://schemas.microsoft.com/office/drawing/2014/main" id="{8B8D7EB0-7006-4AE4-9A1D-3B22F9C7F087}"/>
              </a:ext>
            </a:extLst>
          </p:cNvPr>
          <p:cNvSpPr/>
          <p:nvPr/>
        </p:nvSpPr>
        <p:spPr>
          <a:xfrm>
            <a:off x="4015916" y="1153767"/>
            <a:ext cx="7125810" cy="1477328"/>
          </a:xfrm>
          <a:prstGeom prst="rect">
            <a:avLst/>
          </a:prstGeom>
        </p:spPr>
        <p:txBody>
          <a:bodyPr wrap="square">
            <a:spAutoFit/>
          </a:bodyPr>
          <a:lstStyle/>
          <a:p>
            <a:r>
              <a:rPr lang="zh-CN" altLang="en-US" b="1" dirty="0">
                <a:solidFill>
                  <a:srgbClr val="FFC000"/>
                </a:solidFill>
              </a:rPr>
              <a:t>分箱</a:t>
            </a:r>
            <a:r>
              <a:rPr lang="zh-CN" altLang="en-US" dirty="0"/>
              <a:t>，英文叫 </a:t>
            </a:r>
            <a:r>
              <a:rPr lang="en-US" altLang="zh-CN" dirty="0"/>
              <a:t>Binning</a:t>
            </a:r>
            <a:r>
              <a:rPr lang="zh-CN" altLang="en-US" dirty="0"/>
              <a:t>，这是一个有点专业的叫法，其实就是我们常说的 变量分段。例如 年龄 本来 是连续型变量，现在我们把它分成 </a:t>
            </a:r>
            <a:r>
              <a:rPr lang="en-US" altLang="zh-CN" dirty="0"/>
              <a:t>5 </a:t>
            </a:r>
            <a:r>
              <a:rPr lang="zh-CN" altLang="en-US" dirty="0"/>
              <a:t>个段： </a:t>
            </a:r>
            <a:r>
              <a:rPr lang="en-US" altLang="zh-CN" dirty="0"/>
              <a:t>0-18 </a:t>
            </a:r>
            <a:r>
              <a:rPr lang="zh-CN" altLang="en-US" dirty="0"/>
              <a:t>岁一个段， </a:t>
            </a:r>
            <a:r>
              <a:rPr lang="en-US" altLang="zh-CN" dirty="0"/>
              <a:t>18-25 </a:t>
            </a:r>
            <a:r>
              <a:rPr lang="zh-CN" altLang="en-US" dirty="0"/>
              <a:t>一个段， </a:t>
            </a:r>
            <a:r>
              <a:rPr lang="en-US" altLang="zh-CN" dirty="0"/>
              <a:t>25-40 </a:t>
            </a:r>
            <a:r>
              <a:rPr lang="zh-CN" altLang="en-US" dirty="0"/>
              <a:t>一个段， </a:t>
            </a:r>
            <a:r>
              <a:rPr lang="en-US" altLang="zh-CN" dirty="0"/>
              <a:t>40- 60 </a:t>
            </a:r>
            <a:r>
              <a:rPr lang="zh-CN" altLang="en-US" dirty="0"/>
              <a:t>一个段， </a:t>
            </a:r>
            <a:r>
              <a:rPr lang="en-US" altLang="zh-CN" dirty="0"/>
              <a:t>60+</a:t>
            </a:r>
            <a:r>
              <a:rPr lang="zh-CN" altLang="en-US" dirty="0"/>
              <a:t>一个段。这就叫 </a:t>
            </a:r>
            <a:r>
              <a:rPr lang="zh-CN" altLang="en-US" b="1" dirty="0">
                <a:solidFill>
                  <a:srgbClr val="FFC000"/>
                </a:solidFill>
              </a:rPr>
              <a:t>分箱</a:t>
            </a:r>
            <a:r>
              <a:rPr lang="zh-CN" altLang="en-US" dirty="0"/>
              <a:t>，有时候也叫 </a:t>
            </a:r>
            <a:r>
              <a:rPr lang="zh-CN" altLang="en-US" b="1" dirty="0">
                <a:solidFill>
                  <a:srgbClr val="FFC000"/>
                </a:solidFill>
              </a:rPr>
              <a:t>分桶</a:t>
            </a:r>
            <a:r>
              <a:rPr lang="zh-CN" altLang="en-US" dirty="0"/>
              <a:t>，还可以叫</a:t>
            </a:r>
            <a:r>
              <a:rPr lang="zh-CN" altLang="en-US" dirty="0">
                <a:solidFill>
                  <a:srgbClr val="FFC000"/>
                </a:solidFill>
              </a:rPr>
              <a:t> </a:t>
            </a:r>
            <a:r>
              <a:rPr lang="zh-CN" altLang="en-US" b="1" dirty="0">
                <a:solidFill>
                  <a:srgbClr val="FFC000"/>
                </a:solidFill>
              </a:rPr>
              <a:t>变量离散化</a:t>
            </a:r>
          </a:p>
        </p:txBody>
      </p:sp>
      <p:sp>
        <p:nvSpPr>
          <p:cNvPr id="8" name="矩形 7">
            <a:extLst>
              <a:ext uri="{FF2B5EF4-FFF2-40B4-BE49-F238E27FC236}">
                <a16:creationId xmlns:a16="http://schemas.microsoft.com/office/drawing/2014/main" id="{F58ADE10-1B34-40A2-8733-0EA421989F94}"/>
              </a:ext>
            </a:extLst>
          </p:cNvPr>
          <p:cNvSpPr/>
          <p:nvPr/>
        </p:nvSpPr>
        <p:spPr>
          <a:xfrm>
            <a:off x="4117071" y="2717362"/>
            <a:ext cx="6096000" cy="776944"/>
          </a:xfrm>
          <a:prstGeom prst="rect">
            <a:avLst/>
          </a:prstGeom>
        </p:spPr>
        <p:txBody>
          <a:bodyPr>
            <a:spAutoFit/>
          </a:bodyPr>
          <a:lstStyle/>
          <a:p>
            <a:pPr marL="285750" indent="-285750">
              <a:lnSpc>
                <a:spcPct val="130000"/>
              </a:lnSpc>
              <a:buFont typeface="Arial" panose="020B0604020202020204" pitchFamily="34" charset="0"/>
              <a:buChar char="•"/>
            </a:pPr>
            <a:r>
              <a:rPr lang="zh-CN" altLang="en-US" b="1" dirty="0"/>
              <a:t>防止过拟合</a:t>
            </a:r>
            <a:r>
              <a:rPr lang="en-US" altLang="zh-CN" b="1" dirty="0"/>
              <a:t>:</a:t>
            </a:r>
            <a:r>
              <a:rPr lang="zh-CN" altLang="en-US" dirty="0"/>
              <a:t>扔掉细微的差异信息</a:t>
            </a:r>
            <a:endParaRPr lang="en-US" altLang="zh-CN" dirty="0"/>
          </a:p>
          <a:p>
            <a:pPr marL="285750" indent="-285750">
              <a:lnSpc>
                <a:spcPct val="130000"/>
              </a:lnSpc>
              <a:buFont typeface="Arial" panose="020B0604020202020204" pitchFamily="34" charset="0"/>
              <a:buChar char="•"/>
            </a:pPr>
            <a:r>
              <a:rPr lang="zh-CN" altLang="en-US" b="1" dirty="0"/>
              <a:t>业务解释需要</a:t>
            </a:r>
            <a:r>
              <a:rPr lang="en-US" altLang="zh-CN" b="1" dirty="0"/>
              <a:t>:</a:t>
            </a:r>
            <a:r>
              <a:rPr lang="zh-CN" altLang="en-US" dirty="0"/>
              <a:t>类似于成绩分优秀</a:t>
            </a:r>
            <a:r>
              <a:rPr lang="en-US" altLang="zh-CN" dirty="0"/>
              <a:t>/</a:t>
            </a:r>
            <a:r>
              <a:rPr lang="zh-CN" altLang="en-US" dirty="0"/>
              <a:t>良好</a:t>
            </a:r>
            <a:r>
              <a:rPr lang="en-US" altLang="zh-CN" dirty="0"/>
              <a:t>/</a:t>
            </a:r>
            <a:r>
              <a:rPr lang="zh-CN" altLang="en-US" dirty="0"/>
              <a:t>及格</a:t>
            </a:r>
          </a:p>
        </p:txBody>
      </p:sp>
      <p:pic>
        <p:nvPicPr>
          <p:cNvPr id="9" name="图片 8">
            <a:extLst>
              <a:ext uri="{FF2B5EF4-FFF2-40B4-BE49-F238E27FC236}">
                <a16:creationId xmlns:a16="http://schemas.microsoft.com/office/drawing/2014/main" id="{F82EAF39-E2CE-49EC-A5AE-D77CCB9FE677}"/>
              </a:ext>
            </a:extLst>
          </p:cNvPr>
          <p:cNvPicPr>
            <a:picLocks noChangeAspect="1"/>
          </p:cNvPicPr>
          <p:nvPr/>
        </p:nvPicPr>
        <p:blipFill>
          <a:blip r:embed="rId2"/>
          <a:stretch>
            <a:fillRect/>
          </a:stretch>
        </p:blipFill>
        <p:spPr>
          <a:xfrm>
            <a:off x="5497933" y="3810879"/>
            <a:ext cx="5071505" cy="2750907"/>
          </a:xfrm>
          <a:prstGeom prst="rect">
            <a:avLst/>
          </a:prstGeom>
        </p:spPr>
      </p:pic>
      <p:sp>
        <p:nvSpPr>
          <p:cNvPr id="10" name="矩形 9">
            <a:extLst>
              <a:ext uri="{FF2B5EF4-FFF2-40B4-BE49-F238E27FC236}">
                <a16:creationId xmlns:a16="http://schemas.microsoft.com/office/drawing/2014/main" id="{532D154B-EE81-4C6F-89C8-8C63B860CB6F}"/>
              </a:ext>
            </a:extLst>
          </p:cNvPr>
          <p:cNvSpPr/>
          <p:nvPr/>
        </p:nvSpPr>
        <p:spPr>
          <a:xfrm>
            <a:off x="1253874" y="1314421"/>
            <a:ext cx="1794081" cy="400110"/>
          </a:xfrm>
          <a:prstGeom prst="rect">
            <a:avLst/>
          </a:prstGeom>
        </p:spPr>
        <p:txBody>
          <a:bodyPr wrap="none">
            <a:spAutoFit/>
          </a:bodyPr>
          <a:lstStyle/>
          <a:p>
            <a:r>
              <a:rPr lang="zh-CN" altLang="en-US" sz="2000" b="1" dirty="0"/>
              <a:t>连续变量分箱 </a:t>
            </a:r>
          </a:p>
        </p:txBody>
      </p:sp>
    </p:spTree>
    <p:extLst>
      <p:ext uri="{BB962C8B-B14F-4D97-AF65-F5344CB8AC3E}">
        <p14:creationId xmlns:p14="http://schemas.microsoft.com/office/powerpoint/2010/main" val="227650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数据变换</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pPr/>
              <a:t>32</a:t>
            </a:fld>
            <a:endParaRPr lang="zh-CN" altLang="en-US"/>
          </a:p>
        </p:txBody>
      </p:sp>
      <p:sp>
        <p:nvSpPr>
          <p:cNvPr id="13" name="矩形 12">
            <a:extLst>
              <a:ext uri="{FF2B5EF4-FFF2-40B4-BE49-F238E27FC236}">
                <a16:creationId xmlns:a16="http://schemas.microsoft.com/office/drawing/2014/main" id="{56C543EA-BE04-440D-AD04-12C89B85A985}"/>
              </a:ext>
            </a:extLst>
          </p:cNvPr>
          <p:cNvSpPr/>
          <p:nvPr/>
        </p:nvSpPr>
        <p:spPr>
          <a:xfrm>
            <a:off x="859751" y="1249620"/>
            <a:ext cx="2236510" cy="400110"/>
          </a:xfrm>
          <a:prstGeom prst="rect">
            <a:avLst/>
          </a:prstGeom>
        </p:spPr>
        <p:txBody>
          <a:bodyPr wrap="none">
            <a:spAutoFit/>
          </a:bodyPr>
          <a:lstStyle/>
          <a:p>
            <a:r>
              <a:rPr lang="zh-CN" altLang="en-US" sz="2000" b="1" dirty="0"/>
              <a:t>连续变量分箱方法</a:t>
            </a:r>
          </a:p>
        </p:txBody>
      </p:sp>
      <p:sp>
        <p:nvSpPr>
          <p:cNvPr id="14" name="文本框 13">
            <a:extLst>
              <a:ext uri="{FF2B5EF4-FFF2-40B4-BE49-F238E27FC236}">
                <a16:creationId xmlns:a16="http://schemas.microsoft.com/office/drawing/2014/main" id="{5027046E-A16A-47DB-AB71-4D857708264C}"/>
              </a:ext>
            </a:extLst>
          </p:cNvPr>
          <p:cNvSpPr txBox="1"/>
          <p:nvPr/>
        </p:nvSpPr>
        <p:spPr>
          <a:xfrm>
            <a:off x="1023095" y="1649730"/>
            <a:ext cx="7587504" cy="2535951"/>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dirty="0"/>
              <a:t>自定义分箱：分箱的边界值自定义</a:t>
            </a:r>
            <a:endParaRPr lang="en-US" altLang="zh-CN" dirty="0"/>
          </a:p>
          <a:p>
            <a:pPr marL="342900" indent="-342900">
              <a:lnSpc>
                <a:spcPct val="150000"/>
              </a:lnSpc>
              <a:buFont typeface="Wingdings" panose="05000000000000000000" pitchFamily="2" charset="2"/>
              <a:buChar char="p"/>
            </a:pPr>
            <a:r>
              <a:rPr lang="zh-CN" altLang="en-US" dirty="0"/>
              <a:t>等宽分箱： 每一个箱的边界呈等差数列。例如以 </a:t>
            </a:r>
            <a:r>
              <a:rPr lang="en-US" altLang="zh-CN" dirty="0"/>
              <a:t>10 </a:t>
            </a:r>
            <a:r>
              <a:rPr lang="zh-CN" altLang="en-US" dirty="0"/>
              <a:t>为间隔对年龄分箱，那就是按照这样的区间来 分箱： </a:t>
            </a:r>
            <a:r>
              <a:rPr lang="en-US" altLang="zh-CN" dirty="0"/>
              <a:t>0-10,10-20,20-30... </a:t>
            </a:r>
          </a:p>
          <a:p>
            <a:pPr marL="342900" indent="-342900">
              <a:lnSpc>
                <a:spcPct val="150000"/>
              </a:lnSpc>
              <a:buFont typeface="Wingdings" panose="05000000000000000000" pitchFamily="2" charset="2"/>
              <a:buChar char="p"/>
            </a:pPr>
            <a:r>
              <a:rPr lang="zh-CN" altLang="en-US" dirty="0"/>
              <a:t>等深分箱： 保证每一个箱内记录数一样或者满足指定的比例。例如如果要分为 </a:t>
            </a:r>
            <a:r>
              <a:rPr lang="en-US" altLang="zh-CN" dirty="0"/>
              <a:t>10 </a:t>
            </a:r>
            <a:r>
              <a:rPr lang="zh-CN" altLang="en-US" dirty="0"/>
              <a:t>个箱，并且每个 箱内的记录数要相等（即每个箱内都包含 </a:t>
            </a:r>
            <a:r>
              <a:rPr lang="en-US" altLang="zh-CN" dirty="0"/>
              <a:t>10%</a:t>
            </a:r>
            <a:r>
              <a:rPr lang="zh-CN" altLang="en-US" dirty="0"/>
              <a:t>的记录）。</a:t>
            </a:r>
          </a:p>
        </p:txBody>
      </p:sp>
      <p:pic>
        <p:nvPicPr>
          <p:cNvPr id="15" name="图片 14">
            <a:extLst>
              <a:ext uri="{FF2B5EF4-FFF2-40B4-BE49-F238E27FC236}">
                <a16:creationId xmlns:a16="http://schemas.microsoft.com/office/drawing/2014/main" id="{98468961-647C-45C7-9A64-E361D9AF4448}"/>
              </a:ext>
            </a:extLst>
          </p:cNvPr>
          <p:cNvPicPr>
            <a:picLocks noChangeAspect="1"/>
          </p:cNvPicPr>
          <p:nvPr/>
        </p:nvPicPr>
        <p:blipFill>
          <a:blip r:embed="rId2"/>
          <a:stretch>
            <a:fillRect/>
          </a:stretch>
        </p:blipFill>
        <p:spPr>
          <a:xfrm>
            <a:off x="1023095" y="4171817"/>
            <a:ext cx="7069370" cy="2535752"/>
          </a:xfrm>
          <a:prstGeom prst="rect">
            <a:avLst/>
          </a:prstGeom>
        </p:spPr>
      </p:pic>
    </p:spTree>
    <p:extLst>
      <p:ext uri="{BB962C8B-B14F-4D97-AF65-F5344CB8AC3E}">
        <p14:creationId xmlns:p14="http://schemas.microsoft.com/office/powerpoint/2010/main" val="842780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分箱</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pPr/>
              <a:t>33</a:t>
            </a:fld>
            <a:endParaRPr lang="zh-CN" altLang="en-US"/>
          </a:p>
        </p:txBody>
      </p:sp>
      <p:pic>
        <p:nvPicPr>
          <p:cNvPr id="7" name="图片 6">
            <a:extLst>
              <a:ext uri="{FF2B5EF4-FFF2-40B4-BE49-F238E27FC236}">
                <a16:creationId xmlns:a16="http://schemas.microsoft.com/office/drawing/2014/main" id="{ABDBAE77-175A-4FA2-8DC2-05A10E56B179}"/>
              </a:ext>
            </a:extLst>
          </p:cNvPr>
          <p:cNvPicPr>
            <a:picLocks noChangeAspect="1"/>
          </p:cNvPicPr>
          <p:nvPr/>
        </p:nvPicPr>
        <p:blipFill>
          <a:blip r:embed="rId2"/>
          <a:stretch>
            <a:fillRect/>
          </a:stretch>
        </p:blipFill>
        <p:spPr>
          <a:xfrm>
            <a:off x="1692884" y="1824490"/>
            <a:ext cx="6330519" cy="1998005"/>
          </a:xfrm>
          <a:prstGeom prst="rect">
            <a:avLst/>
          </a:prstGeom>
        </p:spPr>
      </p:pic>
      <p:pic>
        <p:nvPicPr>
          <p:cNvPr id="8" name="图片 7">
            <a:extLst>
              <a:ext uri="{FF2B5EF4-FFF2-40B4-BE49-F238E27FC236}">
                <a16:creationId xmlns:a16="http://schemas.microsoft.com/office/drawing/2014/main" id="{A3A1ABD0-6B12-45C6-A53A-0BE81EAC3875}"/>
              </a:ext>
            </a:extLst>
          </p:cNvPr>
          <p:cNvPicPr>
            <a:picLocks noChangeAspect="1"/>
          </p:cNvPicPr>
          <p:nvPr/>
        </p:nvPicPr>
        <p:blipFill>
          <a:blip r:embed="rId3"/>
          <a:stretch>
            <a:fillRect/>
          </a:stretch>
        </p:blipFill>
        <p:spPr>
          <a:xfrm>
            <a:off x="1925616" y="4287529"/>
            <a:ext cx="3258127" cy="1601452"/>
          </a:xfrm>
          <a:prstGeom prst="rect">
            <a:avLst/>
          </a:prstGeom>
        </p:spPr>
      </p:pic>
      <p:sp>
        <p:nvSpPr>
          <p:cNvPr id="9" name="矩形 8">
            <a:extLst>
              <a:ext uri="{FF2B5EF4-FFF2-40B4-BE49-F238E27FC236}">
                <a16:creationId xmlns:a16="http://schemas.microsoft.com/office/drawing/2014/main" id="{DD117BFD-7100-4997-9253-59BA4FB03B70}"/>
              </a:ext>
            </a:extLst>
          </p:cNvPr>
          <p:cNvSpPr/>
          <p:nvPr/>
        </p:nvSpPr>
        <p:spPr>
          <a:xfrm>
            <a:off x="888749" y="1194957"/>
            <a:ext cx="1850186" cy="400110"/>
          </a:xfrm>
          <a:prstGeom prst="rect">
            <a:avLst/>
          </a:prstGeom>
        </p:spPr>
        <p:txBody>
          <a:bodyPr wrap="none">
            <a:spAutoFit/>
          </a:bodyPr>
          <a:lstStyle/>
          <a:p>
            <a:r>
              <a:rPr lang="zh-CN" altLang="en-US" sz="2000" b="1" dirty="0"/>
              <a:t>连续变量分箱</a:t>
            </a:r>
            <a:r>
              <a:rPr lang="en-US" altLang="zh-CN" sz="2000" b="1" dirty="0"/>
              <a:t>: </a:t>
            </a:r>
            <a:endParaRPr lang="zh-CN" altLang="en-US" sz="2000" b="1" dirty="0"/>
          </a:p>
        </p:txBody>
      </p:sp>
    </p:spTree>
    <p:extLst>
      <p:ext uri="{BB962C8B-B14F-4D97-AF65-F5344CB8AC3E}">
        <p14:creationId xmlns:p14="http://schemas.microsoft.com/office/powerpoint/2010/main" val="1007649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分箱</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pPr/>
              <a:t>34</a:t>
            </a:fld>
            <a:endParaRPr lang="zh-CN" altLang="en-US"/>
          </a:p>
        </p:txBody>
      </p:sp>
      <p:pic>
        <p:nvPicPr>
          <p:cNvPr id="6" name="图片 5">
            <a:extLst>
              <a:ext uri="{FF2B5EF4-FFF2-40B4-BE49-F238E27FC236}">
                <a16:creationId xmlns:a16="http://schemas.microsoft.com/office/drawing/2014/main" id="{911A82D5-300C-49B2-9D3C-368C9D7A04F4}"/>
              </a:ext>
            </a:extLst>
          </p:cNvPr>
          <p:cNvPicPr>
            <a:picLocks noChangeAspect="1"/>
          </p:cNvPicPr>
          <p:nvPr/>
        </p:nvPicPr>
        <p:blipFill>
          <a:blip r:embed="rId2"/>
          <a:stretch>
            <a:fillRect/>
          </a:stretch>
        </p:blipFill>
        <p:spPr>
          <a:xfrm>
            <a:off x="1189991" y="1649730"/>
            <a:ext cx="5456189" cy="1286418"/>
          </a:xfrm>
          <a:prstGeom prst="rect">
            <a:avLst/>
          </a:prstGeom>
        </p:spPr>
      </p:pic>
      <p:pic>
        <p:nvPicPr>
          <p:cNvPr id="7" name="图片 6">
            <a:extLst>
              <a:ext uri="{FF2B5EF4-FFF2-40B4-BE49-F238E27FC236}">
                <a16:creationId xmlns:a16="http://schemas.microsoft.com/office/drawing/2014/main" id="{5BDA4D90-C015-4D04-9DAC-7E7BB7A1B409}"/>
              </a:ext>
            </a:extLst>
          </p:cNvPr>
          <p:cNvPicPr>
            <a:picLocks noChangeAspect="1"/>
          </p:cNvPicPr>
          <p:nvPr/>
        </p:nvPicPr>
        <p:blipFill>
          <a:blip r:embed="rId3"/>
          <a:stretch>
            <a:fillRect/>
          </a:stretch>
        </p:blipFill>
        <p:spPr>
          <a:xfrm>
            <a:off x="2948779" y="3222188"/>
            <a:ext cx="2228388" cy="1844184"/>
          </a:xfrm>
          <a:prstGeom prst="rect">
            <a:avLst/>
          </a:prstGeom>
        </p:spPr>
      </p:pic>
      <p:sp>
        <p:nvSpPr>
          <p:cNvPr id="8" name="矩形 7">
            <a:extLst>
              <a:ext uri="{FF2B5EF4-FFF2-40B4-BE49-F238E27FC236}">
                <a16:creationId xmlns:a16="http://schemas.microsoft.com/office/drawing/2014/main" id="{F77A2D7B-E9C2-4E29-8FEF-8A51585D5D66}"/>
              </a:ext>
            </a:extLst>
          </p:cNvPr>
          <p:cNvSpPr/>
          <p:nvPr/>
        </p:nvSpPr>
        <p:spPr>
          <a:xfrm>
            <a:off x="941776" y="5352412"/>
            <a:ext cx="5878543" cy="923330"/>
          </a:xfrm>
          <a:prstGeom prst="rect">
            <a:avLst/>
          </a:prstGeom>
        </p:spPr>
        <p:txBody>
          <a:bodyPr wrap="square">
            <a:spAutoFit/>
          </a:bodyPr>
          <a:lstStyle/>
          <a:p>
            <a:r>
              <a:rPr lang="zh-CN" altLang="en-US" b="1" dirty="0">
                <a:solidFill>
                  <a:srgbClr val="FFC000"/>
                </a:solidFill>
              </a:rPr>
              <a:t>结论：</a:t>
            </a:r>
            <a:r>
              <a:rPr lang="zh-CN" altLang="en-US" dirty="0"/>
              <a:t>我们看到基本上是每</a:t>
            </a:r>
            <a:r>
              <a:rPr lang="en-US" altLang="zh-CN" dirty="0"/>
              <a:t>8 </a:t>
            </a:r>
            <a:r>
              <a:rPr lang="zh-CN" altLang="en-US" dirty="0"/>
              <a:t>岁一个箱，因为年龄的范围（最大值 </a:t>
            </a:r>
            <a:r>
              <a:rPr lang="en-US" altLang="zh-CN" dirty="0"/>
              <a:t>-</a:t>
            </a:r>
            <a:r>
              <a:rPr lang="zh-CN" altLang="en-US" dirty="0"/>
              <a:t>最小值）估计在 </a:t>
            </a:r>
            <a:r>
              <a:rPr lang="en-US" altLang="zh-CN" dirty="0"/>
              <a:t>80 </a:t>
            </a:r>
            <a:r>
              <a:rPr lang="zh-CN" altLang="en-US" dirty="0"/>
              <a:t>岁左右，因为分为 </a:t>
            </a:r>
            <a:r>
              <a:rPr lang="en-US" altLang="zh-CN" dirty="0"/>
              <a:t>10 </a:t>
            </a:r>
            <a:r>
              <a:rPr lang="zh-CN" altLang="en-US" dirty="0"/>
              <a:t>个箱，所以平均下来每个箱的间隔就是 </a:t>
            </a:r>
            <a:r>
              <a:rPr lang="en-US" altLang="zh-CN" dirty="0"/>
              <a:t>8 </a:t>
            </a:r>
            <a:r>
              <a:rPr lang="zh-CN" altLang="en-US" dirty="0"/>
              <a:t>岁左右。</a:t>
            </a:r>
          </a:p>
        </p:txBody>
      </p:sp>
      <p:sp>
        <p:nvSpPr>
          <p:cNvPr id="9" name="矩形 8">
            <a:extLst>
              <a:ext uri="{FF2B5EF4-FFF2-40B4-BE49-F238E27FC236}">
                <a16:creationId xmlns:a16="http://schemas.microsoft.com/office/drawing/2014/main" id="{79754877-5D40-4C32-86C1-77A98F00F2B1}"/>
              </a:ext>
            </a:extLst>
          </p:cNvPr>
          <p:cNvSpPr/>
          <p:nvPr/>
        </p:nvSpPr>
        <p:spPr>
          <a:xfrm>
            <a:off x="888749" y="1194957"/>
            <a:ext cx="1850186" cy="400110"/>
          </a:xfrm>
          <a:prstGeom prst="rect">
            <a:avLst/>
          </a:prstGeom>
        </p:spPr>
        <p:txBody>
          <a:bodyPr wrap="none">
            <a:spAutoFit/>
          </a:bodyPr>
          <a:lstStyle/>
          <a:p>
            <a:r>
              <a:rPr lang="zh-CN" altLang="en-US" sz="2000" b="1" dirty="0"/>
              <a:t>连续变量分箱</a:t>
            </a:r>
            <a:r>
              <a:rPr lang="en-US" altLang="zh-CN" sz="2000" b="1" dirty="0"/>
              <a:t>: </a:t>
            </a:r>
            <a:endParaRPr lang="zh-CN" altLang="en-US" sz="2000" b="1" dirty="0"/>
          </a:p>
        </p:txBody>
      </p:sp>
    </p:spTree>
    <p:extLst>
      <p:ext uri="{BB962C8B-B14F-4D97-AF65-F5344CB8AC3E}">
        <p14:creationId xmlns:p14="http://schemas.microsoft.com/office/powerpoint/2010/main" val="1245034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分箱</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pPr/>
              <a:t>35</a:t>
            </a:fld>
            <a:endParaRPr lang="zh-CN" altLang="en-US"/>
          </a:p>
        </p:txBody>
      </p:sp>
      <p:pic>
        <p:nvPicPr>
          <p:cNvPr id="6" name="图片 5">
            <a:extLst>
              <a:ext uri="{FF2B5EF4-FFF2-40B4-BE49-F238E27FC236}">
                <a16:creationId xmlns:a16="http://schemas.microsoft.com/office/drawing/2014/main" id="{57DA1E25-24F5-40CA-AFA8-D0874CF12048}"/>
              </a:ext>
            </a:extLst>
          </p:cNvPr>
          <p:cNvPicPr>
            <a:picLocks noChangeAspect="1"/>
          </p:cNvPicPr>
          <p:nvPr/>
        </p:nvPicPr>
        <p:blipFill>
          <a:blip r:embed="rId2"/>
          <a:stretch>
            <a:fillRect/>
          </a:stretch>
        </p:blipFill>
        <p:spPr>
          <a:xfrm>
            <a:off x="1154882" y="1777365"/>
            <a:ext cx="5852799" cy="1463199"/>
          </a:xfrm>
          <a:prstGeom prst="rect">
            <a:avLst/>
          </a:prstGeom>
        </p:spPr>
      </p:pic>
      <p:pic>
        <p:nvPicPr>
          <p:cNvPr id="7" name="图片 6">
            <a:extLst>
              <a:ext uri="{FF2B5EF4-FFF2-40B4-BE49-F238E27FC236}">
                <a16:creationId xmlns:a16="http://schemas.microsoft.com/office/drawing/2014/main" id="{BBEA5A6F-FCFA-46CD-812D-03A268F52CEA}"/>
              </a:ext>
            </a:extLst>
          </p:cNvPr>
          <p:cNvPicPr>
            <a:picLocks noChangeAspect="1"/>
          </p:cNvPicPr>
          <p:nvPr/>
        </p:nvPicPr>
        <p:blipFill>
          <a:blip r:embed="rId3"/>
          <a:stretch>
            <a:fillRect/>
          </a:stretch>
        </p:blipFill>
        <p:spPr>
          <a:xfrm>
            <a:off x="7272347" y="1976211"/>
            <a:ext cx="3410839" cy="1531619"/>
          </a:xfrm>
          <a:prstGeom prst="rect">
            <a:avLst/>
          </a:prstGeom>
        </p:spPr>
      </p:pic>
      <p:sp>
        <p:nvSpPr>
          <p:cNvPr id="8" name="矩形 7">
            <a:extLst>
              <a:ext uri="{FF2B5EF4-FFF2-40B4-BE49-F238E27FC236}">
                <a16:creationId xmlns:a16="http://schemas.microsoft.com/office/drawing/2014/main" id="{9525A1BE-C91F-4301-806C-A580BE8B9033}"/>
              </a:ext>
            </a:extLst>
          </p:cNvPr>
          <p:cNvSpPr/>
          <p:nvPr/>
        </p:nvSpPr>
        <p:spPr>
          <a:xfrm>
            <a:off x="698429" y="4332994"/>
            <a:ext cx="7299351" cy="2031325"/>
          </a:xfrm>
          <a:prstGeom prst="rect">
            <a:avLst/>
          </a:prstGeom>
        </p:spPr>
        <p:txBody>
          <a:bodyPr wrap="square">
            <a:spAutoFit/>
          </a:bodyPr>
          <a:lstStyle/>
          <a:p>
            <a:r>
              <a:rPr lang="zh-CN" altLang="en-US" b="1" dirty="0">
                <a:solidFill>
                  <a:srgbClr val="FFC000"/>
                </a:solidFill>
              </a:rPr>
              <a:t>结论：</a:t>
            </a:r>
            <a:r>
              <a:rPr lang="zh-CN" altLang="en-US" dirty="0"/>
              <a:t>等深分箱的每一个箱内的数量不是应该一样吗？为什么现在看上去差异很大。原因是这样的：现在总样本有</a:t>
            </a:r>
            <a:r>
              <a:rPr lang="en-US" altLang="zh-CN" dirty="0"/>
              <a:t>800 </a:t>
            </a:r>
            <a:r>
              <a:rPr lang="zh-CN" altLang="en-US" dirty="0"/>
              <a:t>多个，如果要分成</a:t>
            </a:r>
            <a:r>
              <a:rPr lang="en-US" altLang="zh-CN" dirty="0"/>
              <a:t>5 </a:t>
            </a:r>
            <a:r>
              <a:rPr lang="zh-CN" altLang="en-US" dirty="0"/>
              <a:t>个等份的话，每一份应该有</a:t>
            </a:r>
            <a:r>
              <a:rPr lang="en-US" altLang="zh-CN" dirty="0"/>
              <a:t>100 </a:t>
            </a:r>
            <a:r>
              <a:rPr lang="zh-CN" altLang="en-US" dirty="0"/>
              <a:t>多个样本，按照年龄从高到低排序，可能正好位于</a:t>
            </a:r>
            <a:r>
              <a:rPr lang="en-US" altLang="zh-CN" dirty="0"/>
              <a:t>5 </a:t>
            </a:r>
            <a:r>
              <a:rPr lang="zh-CN" altLang="en-US" dirty="0"/>
              <a:t>等分的那些临界点的年龄相同的人比较多，例如</a:t>
            </a:r>
            <a:r>
              <a:rPr lang="en-US" altLang="zh-CN" dirty="0"/>
              <a:t>30 </a:t>
            </a:r>
            <a:r>
              <a:rPr lang="zh-CN" altLang="en-US" dirty="0"/>
              <a:t>岁的乘客比较多，正好</a:t>
            </a:r>
            <a:r>
              <a:rPr lang="en-US" altLang="zh-CN" dirty="0"/>
              <a:t>30 </a:t>
            </a:r>
            <a:r>
              <a:rPr lang="zh-CN" altLang="en-US" dirty="0"/>
              <a:t>岁是一个临界点，由于分箱必须要保证不重不漏，如果把</a:t>
            </a:r>
            <a:r>
              <a:rPr lang="en-US" altLang="zh-CN" dirty="0"/>
              <a:t>30 </a:t>
            </a:r>
            <a:r>
              <a:rPr lang="zh-CN" altLang="en-US" dirty="0"/>
              <a:t>岁归入到</a:t>
            </a:r>
            <a:r>
              <a:rPr lang="en-US" altLang="zh-CN" dirty="0"/>
              <a:t>(28.0, 30.0]</a:t>
            </a:r>
            <a:r>
              <a:rPr lang="zh-CN" altLang="en-US" dirty="0"/>
              <a:t>这个箱的话，这个箱的样本数量自然可能就会比较多了。等深分箱可能出现无法分箱的情况。</a:t>
            </a:r>
          </a:p>
        </p:txBody>
      </p:sp>
      <p:sp>
        <p:nvSpPr>
          <p:cNvPr id="10" name="矩形 9">
            <a:extLst>
              <a:ext uri="{FF2B5EF4-FFF2-40B4-BE49-F238E27FC236}">
                <a16:creationId xmlns:a16="http://schemas.microsoft.com/office/drawing/2014/main" id="{52D952D7-598B-4DAE-81BF-E5DD34B8BA69}"/>
              </a:ext>
            </a:extLst>
          </p:cNvPr>
          <p:cNvSpPr/>
          <p:nvPr/>
        </p:nvSpPr>
        <p:spPr>
          <a:xfrm>
            <a:off x="888749" y="1194957"/>
            <a:ext cx="1850186" cy="400110"/>
          </a:xfrm>
          <a:prstGeom prst="rect">
            <a:avLst/>
          </a:prstGeom>
        </p:spPr>
        <p:txBody>
          <a:bodyPr wrap="none">
            <a:spAutoFit/>
          </a:bodyPr>
          <a:lstStyle/>
          <a:p>
            <a:r>
              <a:rPr lang="zh-CN" altLang="en-US" sz="2000" b="1" dirty="0"/>
              <a:t>连续变量分箱</a:t>
            </a:r>
            <a:r>
              <a:rPr lang="en-US" altLang="zh-CN" sz="2000" b="1" dirty="0"/>
              <a:t>: </a:t>
            </a:r>
            <a:endParaRPr lang="zh-CN" altLang="en-US" sz="2000" b="1" dirty="0"/>
          </a:p>
        </p:txBody>
      </p:sp>
    </p:spTree>
    <p:extLst>
      <p:ext uri="{BB962C8B-B14F-4D97-AF65-F5344CB8AC3E}">
        <p14:creationId xmlns:p14="http://schemas.microsoft.com/office/powerpoint/2010/main" val="469351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分箱</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pPr/>
              <a:t>36</a:t>
            </a:fld>
            <a:endParaRPr lang="zh-CN" altLang="en-US" dirty="0"/>
          </a:p>
        </p:txBody>
      </p:sp>
      <p:pic>
        <p:nvPicPr>
          <p:cNvPr id="11" name="图片 10">
            <a:extLst>
              <a:ext uri="{FF2B5EF4-FFF2-40B4-BE49-F238E27FC236}">
                <a16:creationId xmlns:a16="http://schemas.microsoft.com/office/drawing/2014/main" id="{D0B4A73F-BF5C-4B93-A01D-81459725DE91}"/>
              </a:ext>
            </a:extLst>
          </p:cNvPr>
          <p:cNvPicPr>
            <a:picLocks noChangeAspect="1"/>
          </p:cNvPicPr>
          <p:nvPr/>
        </p:nvPicPr>
        <p:blipFill>
          <a:blip r:embed="rId2"/>
          <a:stretch>
            <a:fillRect/>
          </a:stretch>
        </p:blipFill>
        <p:spPr>
          <a:xfrm>
            <a:off x="1353857" y="1705951"/>
            <a:ext cx="9033387" cy="833119"/>
          </a:xfrm>
          <a:prstGeom prst="rect">
            <a:avLst/>
          </a:prstGeom>
        </p:spPr>
      </p:pic>
      <p:pic>
        <p:nvPicPr>
          <p:cNvPr id="12" name="图片 11">
            <a:extLst>
              <a:ext uri="{FF2B5EF4-FFF2-40B4-BE49-F238E27FC236}">
                <a16:creationId xmlns:a16="http://schemas.microsoft.com/office/drawing/2014/main" id="{B04EBCBE-E9EB-4B10-9D96-D84B60C7430D}"/>
              </a:ext>
            </a:extLst>
          </p:cNvPr>
          <p:cNvPicPr>
            <a:picLocks noChangeAspect="1"/>
          </p:cNvPicPr>
          <p:nvPr/>
        </p:nvPicPr>
        <p:blipFill>
          <a:blip r:embed="rId3"/>
          <a:stretch>
            <a:fillRect/>
          </a:stretch>
        </p:blipFill>
        <p:spPr>
          <a:xfrm>
            <a:off x="1252734" y="2977026"/>
            <a:ext cx="9870987" cy="3456844"/>
          </a:xfrm>
          <a:prstGeom prst="rect">
            <a:avLst/>
          </a:prstGeom>
        </p:spPr>
      </p:pic>
      <p:sp>
        <p:nvSpPr>
          <p:cNvPr id="13" name="矩形 12">
            <a:extLst>
              <a:ext uri="{FF2B5EF4-FFF2-40B4-BE49-F238E27FC236}">
                <a16:creationId xmlns:a16="http://schemas.microsoft.com/office/drawing/2014/main" id="{412EA065-2724-4792-9AF8-9914BE5014AF}"/>
              </a:ext>
            </a:extLst>
          </p:cNvPr>
          <p:cNvSpPr/>
          <p:nvPr/>
        </p:nvSpPr>
        <p:spPr>
          <a:xfrm>
            <a:off x="888749" y="1143441"/>
            <a:ext cx="3401893" cy="400110"/>
          </a:xfrm>
          <a:prstGeom prst="rect">
            <a:avLst/>
          </a:prstGeom>
        </p:spPr>
        <p:txBody>
          <a:bodyPr wrap="none">
            <a:spAutoFit/>
          </a:bodyPr>
          <a:lstStyle/>
          <a:p>
            <a:r>
              <a:rPr lang="zh-CN" altLang="en-US" sz="2000" b="1" dirty="0"/>
              <a:t>连续变量分箱</a:t>
            </a:r>
            <a:r>
              <a:rPr lang="en-US" altLang="zh-CN" sz="2000" b="1" dirty="0"/>
              <a:t>:</a:t>
            </a:r>
            <a:r>
              <a:rPr lang="zh-CN" altLang="en-US" sz="2000" dirty="0"/>
              <a:t>查看分箱结果</a:t>
            </a:r>
            <a:r>
              <a:rPr lang="en-US" altLang="zh-CN" sz="2000" dirty="0"/>
              <a:t> </a:t>
            </a:r>
            <a:endParaRPr lang="zh-CN" altLang="en-US" sz="2000" dirty="0"/>
          </a:p>
        </p:txBody>
      </p:sp>
    </p:spTree>
    <p:extLst>
      <p:ext uri="{BB962C8B-B14F-4D97-AF65-F5344CB8AC3E}">
        <p14:creationId xmlns:p14="http://schemas.microsoft.com/office/powerpoint/2010/main" val="24113127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标准化和归一化</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latin typeface="+mj-ea"/>
                <a:ea typeface="+mj-ea"/>
              </a:rPr>
              <a:pPr/>
              <a:t>37</a:t>
            </a:fld>
            <a:endParaRPr lang="zh-CN" altLang="en-US">
              <a:latin typeface="+mj-ea"/>
              <a:ea typeface="+mj-ea"/>
            </a:endParaRPr>
          </a:p>
        </p:txBody>
      </p:sp>
      <p:sp>
        <p:nvSpPr>
          <p:cNvPr id="7" name="矩形 6">
            <a:extLst>
              <a:ext uri="{FF2B5EF4-FFF2-40B4-BE49-F238E27FC236}">
                <a16:creationId xmlns:a16="http://schemas.microsoft.com/office/drawing/2014/main" id="{6A44A8DD-D784-4240-AE9A-8B09E68497C9}"/>
              </a:ext>
            </a:extLst>
          </p:cNvPr>
          <p:cNvSpPr/>
          <p:nvPr/>
        </p:nvSpPr>
        <p:spPr>
          <a:xfrm>
            <a:off x="676343" y="1260617"/>
            <a:ext cx="7167141" cy="646331"/>
          </a:xfrm>
          <a:prstGeom prst="rect">
            <a:avLst/>
          </a:prstGeom>
        </p:spPr>
        <p:txBody>
          <a:bodyPr wrap="square">
            <a:spAutoFit/>
          </a:bodyPr>
          <a:lstStyle/>
          <a:p>
            <a:r>
              <a:rPr lang="zh-CN" altLang="en-US" b="1" dirty="0">
                <a:solidFill>
                  <a:srgbClr val="FFC000"/>
                </a:solidFill>
                <a:latin typeface="+mj-ea"/>
                <a:ea typeface="+mj-ea"/>
              </a:rPr>
              <a:t>标准化和归一化</a:t>
            </a:r>
            <a:r>
              <a:rPr lang="zh-CN" altLang="en-US" dirty="0">
                <a:latin typeface="+mj-ea"/>
                <a:ea typeface="+mj-ea"/>
              </a:rPr>
              <a:t>都属于对变量进行无量纲化处理的方法，目的就是为了使</a:t>
            </a:r>
            <a:r>
              <a:rPr lang="zh-CN" altLang="en-US" dirty="0">
                <a:solidFill>
                  <a:srgbClr val="FFC000"/>
                </a:solidFill>
                <a:latin typeface="+mj-ea"/>
                <a:ea typeface="+mj-ea"/>
              </a:rPr>
              <a:t>不同规格尺度</a:t>
            </a:r>
            <a:r>
              <a:rPr lang="zh-CN" altLang="en-US" dirty="0">
                <a:latin typeface="+mj-ea"/>
                <a:ea typeface="+mj-ea"/>
              </a:rPr>
              <a:t>的数据转换到 </a:t>
            </a:r>
            <a:r>
              <a:rPr lang="zh-CN" altLang="en-US" dirty="0">
                <a:solidFill>
                  <a:srgbClr val="FFC000"/>
                </a:solidFill>
                <a:latin typeface="+mj-ea"/>
                <a:ea typeface="+mj-ea"/>
              </a:rPr>
              <a:t>同一规格尺度</a:t>
            </a:r>
            <a:r>
              <a:rPr lang="zh-CN" altLang="en-US" dirty="0">
                <a:latin typeface="+mj-ea"/>
                <a:ea typeface="+mj-ea"/>
              </a:rPr>
              <a:t>上。为什么要这么做？</a:t>
            </a:r>
          </a:p>
        </p:txBody>
      </p:sp>
      <p:sp>
        <p:nvSpPr>
          <p:cNvPr id="8" name="矩形 7">
            <a:extLst>
              <a:ext uri="{FF2B5EF4-FFF2-40B4-BE49-F238E27FC236}">
                <a16:creationId xmlns:a16="http://schemas.microsoft.com/office/drawing/2014/main" id="{C2191E7E-2B24-4FD0-B72D-92F591C0D7A7}"/>
              </a:ext>
            </a:extLst>
          </p:cNvPr>
          <p:cNvSpPr/>
          <p:nvPr/>
        </p:nvSpPr>
        <p:spPr>
          <a:xfrm>
            <a:off x="676343" y="2331703"/>
            <a:ext cx="7021474" cy="1477328"/>
          </a:xfrm>
          <a:prstGeom prst="rect">
            <a:avLst/>
          </a:prstGeom>
        </p:spPr>
        <p:txBody>
          <a:bodyPr wrap="square">
            <a:spAutoFit/>
          </a:bodyPr>
          <a:lstStyle/>
          <a:p>
            <a:r>
              <a:rPr lang="zh-CN" altLang="en-US" dirty="0">
                <a:latin typeface="+mj-ea"/>
                <a:ea typeface="+mj-ea"/>
              </a:rPr>
              <a:t>无量纲化可以让不属于同一量纲的特征值可以比较：例如身高 </a:t>
            </a:r>
            <a:r>
              <a:rPr lang="en-US" altLang="zh-CN" dirty="0">
                <a:latin typeface="+mj-ea"/>
                <a:ea typeface="+mj-ea"/>
              </a:rPr>
              <a:t>(cm)</a:t>
            </a:r>
            <a:r>
              <a:rPr lang="zh-CN" altLang="en-US" dirty="0">
                <a:latin typeface="+mj-ea"/>
                <a:ea typeface="+mj-ea"/>
              </a:rPr>
              <a:t>，体重</a:t>
            </a:r>
            <a:r>
              <a:rPr lang="en-US" altLang="zh-CN" dirty="0">
                <a:latin typeface="+mj-ea"/>
                <a:ea typeface="+mj-ea"/>
              </a:rPr>
              <a:t>(kg)</a:t>
            </a:r>
          </a:p>
          <a:p>
            <a:pPr marL="285750" indent="-285750">
              <a:buFont typeface="Arial" panose="020B0604020202020204" pitchFamily="34" charset="0"/>
              <a:buChar char="•"/>
            </a:pPr>
            <a:r>
              <a:rPr lang="zh-CN" altLang="en-US" dirty="0">
                <a:latin typeface="+mj-ea"/>
                <a:ea typeface="+mj-ea"/>
              </a:rPr>
              <a:t>无量纲化后模型收敛会加快（运行速度较快）</a:t>
            </a:r>
            <a:endParaRPr lang="en-US" altLang="zh-CN" dirty="0">
              <a:latin typeface="+mj-ea"/>
              <a:ea typeface="+mj-ea"/>
            </a:endParaRPr>
          </a:p>
          <a:p>
            <a:pPr marL="285750" indent="-285750">
              <a:buFont typeface="Arial" panose="020B0604020202020204" pitchFamily="34" charset="0"/>
              <a:buChar char="•"/>
            </a:pPr>
            <a:r>
              <a:rPr lang="zh-CN" altLang="en-US" dirty="0">
                <a:latin typeface="+mj-ea"/>
                <a:ea typeface="+mj-ea"/>
              </a:rPr>
              <a:t>无量纲化对一些模型的结果影响较大，一般都是涉及到距离计算的模型和算法，例如 </a:t>
            </a:r>
            <a:r>
              <a:rPr lang="en-US" altLang="zh-CN" dirty="0">
                <a:latin typeface="+mj-ea"/>
                <a:ea typeface="+mj-ea"/>
              </a:rPr>
              <a:t>KNN</a:t>
            </a:r>
            <a:r>
              <a:rPr lang="zh-CN" altLang="en-US" dirty="0">
                <a:latin typeface="+mj-ea"/>
                <a:ea typeface="+mj-ea"/>
              </a:rPr>
              <a:t>，聚类分析，</a:t>
            </a:r>
            <a:r>
              <a:rPr lang="en-US" altLang="zh-CN" dirty="0">
                <a:latin typeface="+mj-ea"/>
                <a:ea typeface="+mj-ea"/>
              </a:rPr>
              <a:t>SVM </a:t>
            </a:r>
            <a:r>
              <a:rPr lang="zh-CN" altLang="en-US" dirty="0">
                <a:latin typeface="+mj-ea"/>
                <a:ea typeface="+mj-ea"/>
              </a:rPr>
              <a:t>等。</a:t>
            </a:r>
          </a:p>
        </p:txBody>
      </p:sp>
      <p:pic>
        <p:nvPicPr>
          <p:cNvPr id="9" name="图片 8">
            <a:extLst>
              <a:ext uri="{FF2B5EF4-FFF2-40B4-BE49-F238E27FC236}">
                <a16:creationId xmlns:a16="http://schemas.microsoft.com/office/drawing/2014/main" id="{B8C20437-E320-48CC-854F-E8FCE71F04B4}"/>
              </a:ext>
            </a:extLst>
          </p:cNvPr>
          <p:cNvPicPr>
            <a:picLocks noChangeAspect="1"/>
          </p:cNvPicPr>
          <p:nvPr/>
        </p:nvPicPr>
        <p:blipFill>
          <a:blip r:embed="rId2"/>
          <a:stretch>
            <a:fillRect/>
          </a:stretch>
        </p:blipFill>
        <p:spPr>
          <a:xfrm>
            <a:off x="826019" y="4492063"/>
            <a:ext cx="8198933" cy="1805763"/>
          </a:xfrm>
          <a:prstGeom prst="rect">
            <a:avLst/>
          </a:prstGeom>
        </p:spPr>
      </p:pic>
    </p:spTree>
    <p:extLst>
      <p:ext uri="{BB962C8B-B14F-4D97-AF65-F5344CB8AC3E}">
        <p14:creationId xmlns:p14="http://schemas.microsoft.com/office/powerpoint/2010/main" val="17379256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标准化</a:t>
            </a:r>
            <a:r>
              <a:rPr lang="zh-CN" altLang="en-US" dirty="0">
                <a:ea typeface="思源黑体 CN ExtraLight" panose="020B0200000000000000" charset="-122"/>
              </a:rPr>
              <a:t>和</a:t>
            </a:r>
            <a:r>
              <a:rPr lang="zh-CN" altLang="en-US" dirty="0">
                <a:latin typeface="+mj-ea"/>
              </a:rPr>
              <a:t>归一化</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pPr/>
              <a:t>38</a:t>
            </a:fld>
            <a:endParaRPr lang="zh-CN" altLang="en-US"/>
          </a:p>
        </p:txBody>
      </p:sp>
      <p:sp>
        <p:nvSpPr>
          <p:cNvPr id="11" name="矩形 10">
            <a:extLst>
              <a:ext uri="{FF2B5EF4-FFF2-40B4-BE49-F238E27FC236}">
                <a16:creationId xmlns:a16="http://schemas.microsoft.com/office/drawing/2014/main" id="{A661BC0A-1445-4838-8315-EC911521B328}"/>
              </a:ext>
            </a:extLst>
          </p:cNvPr>
          <p:cNvSpPr/>
          <p:nvPr/>
        </p:nvSpPr>
        <p:spPr>
          <a:xfrm>
            <a:off x="616823" y="1268029"/>
            <a:ext cx="6096000" cy="646331"/>
          </a:xfrm>
          <a:prstGeom prst="rect">
            <a:avLst/>
          </a:prstGeom>
        </p:spPr>
        <p:txBody>
          <a:bodyPr>
            <a:spAutoFit/>
          </a:bodyPr>
          <a:lstStyle/>
          <a:p>
            <a:r>
              <a:rPr lang="zh-CN" altLang="en-US" b="1" dirty="0">
                <a:solidFill>
                  <a:srgbClr val="FFC000"/>
                </a:solidFill>
              </a:rPr>
              <a:t>归一化</a:t>
            </a:r>
            <a:r>
              <a:rPr lang="zh-CN" altLang="en-US" dirty="0"/>
              <a:t>就是把原始的连续型变量转换为范围在</a:t>
            </a:r>
            <a:r>
              <a:rPr lang="en-US" altLang="zh-CN" dirty="0"/>
              <a:t>【a-b】</a:t>
            </a:r>
            <a:r>
              <a:rPr lang="zh-CN" altLang="en-US" dirty="0"/>
              <a:t>之间的变量，常见的 </a:t>
            </a:r>
            <a:r>
              <a:rPr lang="en-US" altLang="zh-CN" dirty="0"/>
              <a:t>a=0</a:t>
            </a:r>
            <a:r>
              <a:rPr lang="zh-CN" altLang="en-US" dirty="0"/>
              <a:t>， </a:t>
            </a:r>
            <a:r>
              <a:rPr lang="en-US" altLang="zh-CN" dirty="0"/>
              <a:t>b=1</a:t>
            </a:r>
            <a:r>
              <a:rPr lang="zh-CN" altLang="en-US" dirty="0"/>
              <a:t>，转换公式如下：</a:t>
            </a:r>
          </a:p>
        </p:txBody>
      </p:sp>
      <p:pic>
        <p:nvPicPr>
          <p:cNvPr id="12" name="图片 11">
            <a:extLst>
              <a:ext uri="{FF2B5EF4-FFF2-40B4-BE49-F238E27FC236}">
                <a16:creationId xmlns:a16="http://schemas.microsoft.com/office/drawing/2014/main" id="{94CC0CEB-110F-4EF8-9274-53C728B53B5A}"/>
              </a:ext>
            </a:extLst>
          </p:cNvPr>
          <p:cNvPicPr>
            <a:picLocks noChangeAspect="1"/>
          </p:cNvPicPr>
          <p:nvPr/>
        </p:nvPicPr>
        <p:blipFill>
          <a:blip r:embed="rId2"/>
          <a:stretch>
            <a:fillRect/>
          </a:stretch>
        </p:blipFill>
        <p:spPr>
          <a:xfrm>
            <a:off x="2347015" y="2355981"/>
            <a:ext cx="2458911" cy="783778"/>
          </a:xfrm>
          <a:prstGeom prst="rect">
            <a:avLst/>
          </a:prstGeom>
        </p:spPr>
      </p:pic>
      <p:pic>
        <p:nvPicPr>
          <p:cNvPr id="13" name="图片 12">
            <a:extLst>
              <a:ext uri="{FF2B5EF4-FFF2-40B4-BE49-F238E27FC236}">
                <a16:creationId xmlns:a16="http://schemas.microsoft.com/office/drawing/2014/main" id="{BC23F0D2-954F-4621-85B3-0B1A6395BEFE}"/>
              </a:ext>
            </a:extLst>
          </p:cNvPr>
          <p:cNvPicPr>
            <a:picLocks noChangeAspect="1"/>
          </p:cNvPicPr>
          <p:nvPr/>
        </p:nvPicPr>
        <p:blipFill>
          <a:blip r:embed="rId3"/>
          <a:stretch>
            <a:fillRect/>
          </a:stretch>
        </p:blipFill>
        <p:spPr>
          <a:xfrm>
            <a:off x="857078" y="3645936"/>
            <a:ext cx="7392102" cy="2712487"/>
          </a:xfrm>
          <a:prstGeom prst="rect">
            <a:avLst/>
          </a:prstGeom>
        </p:spPr>
      </p:pic>
    </p:spTree>
    <p:extLst>
      <p:ext uri="{BB962C8B-B14F-4D97-AF65-F5344CB8AC3E}">
        <p14:creationId xmlns:p14="http://schemas.microsoft.com/office/powerpoint/2010/main" val="7848405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标准化</a:t>
            </a:r>
            <a:r>
              <a:rPr lang="zh-CN" altLang="en-US" dirty="0">
                <a:ea typeface="思源黑体 CN ExtraLight" panose="020B0200000000000000" charset="-122"/>
              </a:rPr>
              <a:t>和归一化</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a:xfrm>
            <a:off x="8649236" y="6369253"/>
            <a:ext cx="2909888" cy="206381"/>
          </a:xfrm>
        </p:spPr>
        <p:txBody>
          <a:bodyPr/>
          <a:lstStyle/>
          <a:p>
            <a:fld id="{5DD3DB80-B894-403A-B48E-6FDC1A72010E}" type="slidenum">
              <a:rPr lang="zh-CN" altLang="en-US" smtClean="0"/>
              <a:pPr/>
              <a:t>39</a:t>
            </a:fld>
            <a:endParaRPr lang="zh-CN" altLang="en-US"/>
          </a:p>
        </p:txBody>
      </p:sp>
      <p:sp>
        <p:nvSpPr>
          <p:cNvPr id="12" name="矩形 11">
            <a:extLst>
              <a:ext uri="{FF2B5EF4-FFF2-40B4-BE49-F238E27FC236}">
                <a16:creationId xmlns:a16="http://schemas.microsoft.com/office/drawing/2014/main" id="{C0F74051-449F-4AC4-9465-A7A57326A227}"/>
              </a:ext>
            </a:extLst>
          </p:cNvPr>
          <p:cNvSpPr/>
          <p:nvPr/>
        </p:nvSpPr>
        <p:spPr>
          <a:xfrm>
            <a:off x="586191" y="1300040"/>
            <a:ext cx="6096000" cy="646331"/>
          </a:xfrm>
          <a:prstGeom prst="rect">
            <a:avLst/>
          </a:prstGeom>
        </p:spPr>
        <p:txBody>
          <a:bodyPr>
            <a:spAutoFit/>
          </a:bodyPr>
          <a:lstStyle/>
          <a:p>
            <a:r>
              <a:rPr lang="zh-CN" altLang="en-US" dirty="0"/>
              <a:t>我们需要使用 </a:t>
            </a:r>
            <a:r>
              <a:rPr lang="en-US" altLang="zh-CN" dirty="0" err="1"/>
              <a:t>sklearn.preprocessing.MinMaxScaler</a:t>
            </a:r>
            <a:r>
              <a:rPr lang="en-US" altLang="zh-CN" dirty="0"/>
              <a:t>()</a:t>
            </a:r>
            <a:r>
              <a:rPr lang="zh-CN" altLang="en-US" dirty="0"/>
              <a:t>方法来进行</a:t>
            </a:r>
            <a:r>
              <a:rPr lang="zh-CN" altLang="en-US" b="1" dirty="0">
                <a:solidFill>
                  <a:srgbClr val="FFC000"/>
                </a:solidFill>
              </a:rPr>
              <a:t>归一化</a:t>
            </a:r>
            <a:r>
              <a:rPr lang="zh-CN" altLang="en-US" dirty="0"/>
              <a:t>：</a:t>
            </a:r>
          </a:p>
        </p:txBody>
      </p:sp>
      <p:pic>
        <p:nvPicPr>
          <p:cNvPr id="13" name="图片 12">
            <a:extLst>
              <a:ext uri="{FF2B5EF4-FFF2-40B4-BE49-F238E27FC236}">
                <a16:creationId xmlns:a16="http://schemas.microsoft.com/office/drawing/2014/main" id="{1158ADEF-F854-4070-8035-6564F03F8D2D}"/>
              </a:ext>
            </a:extLst>
          </p:cNvPr>
          <p:cNvPicPr>
            <a:picLocks noChangeAspect="1"/>
          </p:cNvPicPr>
          <p:nvPr/>
        </p:nvPicPr>
        <p:blipFill>
          <a:blip r:embed="rId2"/>
          <a:stretch>
            <a:fillRect/>
          </a:stretch>
        </p:blipFill>
        <p:spPr>
          <a:xfrm>
            <a:off x="789581" y="2256453"/>
            <a:ext cx="5892610" cy="1844883"/>
          </a:xfrm>
          <a:prstGeom prst="rect">
            <a:avLst/>
          </a:prstGeom>
        </p:spPr>
      </p:pic>
      <p:pic>
        <p:nvPicPr>
          <p:cNvPr id="14" name="图片 13">
            <a:extLst>
              <a:ext uri="{FF2B5EF4-FFF2-40B4-BE49-F238E27FC236}">
                <a16:creationId xmlns:a16="http://schemas.microsoft.com/office/drawing/2014/main" id="{38436932-276F-441C-9802-888334D69731}"/>
              </a:ext>
            </a:extLst>
          </p:cNvPr>
          <p:cNvPicPr>
            <a:picLocks noChangeAspect="1"/>
          </p:cNvPicPr>
          <p:nvPr/>
        </p:nvPicPr>
        <p:blipFill>
          <a:blip r:embed="rId3"/>
          <a:stretch>
            <a:fillRect/>
          </a:stretch>
        </p:blipFill>
        <p:spPr>
          <a:xfrm>
            <a:off x="789580" y="4673869"/>
            <a:ext cx="10021617" cy="1651535"/>
          </a:xfrm>
          <a:prstGeom prst="rect">
            <a:avLst/>
          </a:prstGeom>
        </p:spPr>
      </p:pic>
      <p:sp>
        <p:nvSpPr>
          <p:cNvPr id="15" name="ïš1îḓê">
            <a:extLst>
              <a:ext uri="{FF2B5EF4-FFF2-40B4-BE49-F238E27FC236}">
                <a16:creationId xmlns:a16="http://schemas.microsoft.com/office/drawing/2014/main" id="{B5345C39-9517-4C92-B51B-43D46B2C7A27}"/>
              </a:ext>
            </a:extLst>
          </p:cNvPr>
          <p:cNvSpPr/>
          <p:nvPr/>
        </p:nvSpPr>
        <p:spPr bwMode="auto">
          <a:xfrm>
            <a:off x="8982284" y="2522270"/>
            <a:ext cx="688748" cy="667643"/>
          </a:xfrm>
          <a:custGeom>
            <a:avLst/>
            <a:gdLst>
              <a:gd name="T0" fmla="*/ 99 w 414"/>
              <a:gd name="T1" fmla="*/ 389 h 401"/>
              <a:gd name="T2" fmla="*/ 11 w 414"/>
              <a:gd name="T3" fmla="*/ 298 h 401"/>
              <a:gd name="T4" fmla="*/ 12 w 414"/>
              <a:gd name="T5" fmla="*/ 257 h 401"/>
              <a:gd name="T6" fmla="*/ 274 w 414"/>
              <a:gd name="T7" fmla="*/ 11 h 401"/>
              <a:gd name="T8" fmla="*/ 314 w 414"/>
              <a:gd name="T9" fmla="*/ 12 h 401"/>
              <a:gd name="T10" fmla="*/ 403 w 414"/>
              <a:gd name="T11" fmla="*/ 103 h 401"/>
              <a:gd name="T12" fmla="*/ 402 w 414"/>
              <a:gd name="T13" fmla="*/ 144 h 401"/>
              <a:gd name="T14" fmla="*/ 139 w 414"/>
              <a:gd name="T15" fmla="*/ 390 h 401"/>
              <a:gd name="T16" fmla="*/ 99 w 414"/>
              <a:gd name="T17" fmla="*/ 389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4" h="401">
                <a:moveTo>
                  <a:pt x="99" y="389"/>
                </a:moveTo>
                <a:cubicBezTo>
                  <a:pt x="11" y="298"/>
                  <a:pt x="11" y="298"/>
                  <a:pt x="11" y="298"/>
                </a:cubicBezTo>
                <a:cubicBezTo>
                  <a:pt x="0" y="287"/>
                  <a:pt x="0" y="268"/>
                  <a:pt x="12" y="257"/>
                </a:cubicBezTo>
                <a:cubicBezTo>
                  <a:pt x="274" y="11"/>
                  <a:pt x="274" y="11"/>
                  <a:pt x="274" y="11"/>
                </a:cubicBezTo>
                <a:cubicBezTo>
                  <a:pt x="286" y="0"/>
                  <a:pt x="304" y="1"/>
                  <a:pt x="314" y="12"/>
                </a:cubicBezTo>
                <a:cubicBezTo>
                  <a:pt x="403" y="103"/>
                  <a:pt x="403" y="103"/>
                  <a:pt x="403" y="103"/>
                </a:cubicBezTo>
                <a:cubicBezTo>
                  <a:pt x="414" y="114"/>
                  <a:pt x="413" y="133"/>
                  <a:pt x="402" y="144"/>
                </a:cubicBezTo>
                <a:cubicBezTo>
                  <a:pt x="139" y="390"/>
                  <a:pt x="139" y="390"/>
                  <a:pt x="139" y="390"/>
                </a:cubicBezTo>
                <a:cubicBezTo>
                  <a:pt x="128" y="401"/>
                  <a:pt x="110" y="400"/>
                  <a:pt x="99" y="389"/>
                </a:cubicBezTo>
                <a:close/>
              </a:path>
            </a:pathLst>
          </a:custGeom>
          <a:solidFill>
            <a:srgbClr val="C7C8CA"/>
          </a:solidFill>
          <a:ln w="9525">
            <a:noFill/>
            <a:round/>
            <a:headEnd/>
            <a:tailEnd/>
          </a:ln>
        </p:spPr>
        <p:txBody>
          <a:bodyPr anchor="ctr"/>
          <a:lstStyle/>
          <a:p>
            <a:pPr algn="ctr"/>
            <a:endParaRPr/>
          </a:p>
        </p:txBody>
      </p:sp>
      <p:sp>
        <p:nvSpPr>
          <p:cNvPr id="16" name="í$ḻïḋè">
            <a:extLst>
              <a:ext uri="{FF2B5EF4-FFF2-40B4-BE49-F238E27FC236}">
                <a16:creationId xmlns:a16="http://schemas.microsoft.com/office/drawing/2014/main" id="{BCB4ED75-6136-4D90-B15B-79B0D571D75D}"/>
              </a:ext>
            </a:extLst>
          </p:cNvPr>
          <p:cNvSpPr/>
          <p:nvPr/>
        </p:nvSpPr>
        <p:spPr bwMode="auto">
          <a:xfrm>
            <a:off x="9142115" y="1219710"/>
            <a:ext cx="1845337" cy="1815088"/>
          </a:xfrm>
          <a:custGeom>
            <a:avLst/>
            <a:gdLst>
              <a:gd name="T0" fmla="*/ 917 w 1109"/>
              <a:gd name="T1" fmla="*/ 204 h 1090"/>
              <a:gd name="T2" fmla="*/ 208 w 1109"/>
              <a:gd name="T3" fmla="*/ 188 h 1090"/>
              <a:gd name="T4" fmla="*/ 192 w 1109"/>
              <a:gd name="T5" fmla="*/ 886 h 1090"/>
              <a:gd name="T6" fmla="*/ 901 w 1109"/>
              <a:gd name="T7" fmla="*/ 902 h 1090"/>
              <a:gd name="T8" fmla="*/ 917 w 1109"/>
              <a:gd name="T9" fmla="*/ 204 h 1090"/>
              <a:gd name="T10" fmla="*/ 295 w 1109"/>
              <a:gd name="T11" fmla="*/ 789 h 1090"/>
              <a:gd name="T12" fmla="*/ 307 w 1109"/>
              <a:gd name="T13" fmla="*/ 290 h 1090"/>
              <a:gd name="T14" fmla="*/ 814 w 1109"/>
              <a:gd name="T15" fmla="*/ 302 h 1090"/>
              <a:gd name="T16" fmla="*/ 802 w 1109"/>
              <a:gd name="T17" fmla="*/ 800 h 1090"/>
              <a:gd name="T18" fmla="*/ 295 w 1109"/>
              <a:gd name="T19" fmla="*/ 789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9" h="1090">
                <a:moveTo>
                  <a:pt x="917" y="204"/>
                </a:moveTo>
                <a:cubicBezTo>
                  <a:pt x="726" y="7"/>
                  <a:pt x="409" y="0"/>
                  <a:pt x="208" y="188"/>
                </a:cubicBezTo>
                <a:cubicBezTo>
                  <a:pt x="8" y="377"/>
                  <a:pt x="0" y="689"/>
                  <a:pt x="192" y="886"/>
                </a:cubicBezTo>
                <a:cubicBezTo>
                  <a:pt x="383" y="1083"/>
                  <a:pt x="700" y="1090"/>
                  <a:pt x="901" y="902"/>
                </a:cubicBezTo>
                <a:cubicBezTo>
                  <a:pt x="1101" y="714"/>
                  <a:pt x="1109" y="401"/>
                  <a:pt x="917" y="204"/>
                </a:cubicBezTo>
                <a:close/>
                <a:moveTo>
                  <a:pt x="295" y="789"/>
                </a:moveTo>
                <a:cubicBezTo>
                  <a:pt x="159" y="648"/>
                  <a:pt x="164" y="425"/>
                  <a:pt x="307" y="290"/>
                </a:cubicBezTo>
                <a:cubicBezTo>
                  <a:pt x="450" y="156"/>
                  <a:pt x="677" y="161"/>
                  <a:pt x="814" y="302"/>
                </a:cubicBezTo>
                <a:cubicBezTo>
                  <a:pt x="950" y="443"/>
                  <a:pt x="945" y="666"/>
                  <a:pt x="802" y="800"/>
                </a:cubicBezTo>
                <a:cubicBezTo>
                  <a:pt x="659" y="935"/>
                  <a:pt x="432" y="929"/>
                  <a:pt x="295" y="789"/>
                </a:cubicBezTo>
                <a:close/>
              </a:path>
            </a:pathLst>
          </a:custGeom>
          <a:solidFill>
            <a:srgbClr val="C7C8CA"/>
          </a:solidFill>
          <a:ln w="9525">
            <a:noFill/>
            <a:round/>
            <a:headEnd/>
            <a:tailEnd/>
          </a:ln>
        </p:spPr>
        <p:txBody>
          <a:bodyPr anchor="ctr"/>
          <a:lstStyle/>
          <a:p>
            <a:pPr algn="ctr"/>
            <a:endParaRPr/>
          </a:p>
        </p:txBody>
      </p:sp>
      <p:sp>
        <p:nvSpPr>
          <p:cNvPr id="17" name="işḷïḑe">
            <a:extLst>
              <a:ext uri="{FF2B5EF4-FFF2-40B4-BE49-F238E27FC236}">
                <a16:creationId xmlns:a16="http://schemas.microsoft.com/office/drawing/2014/main" id="{04847A31-FE60-4ED6-B88D-9407C4462E8D}"/>
              </a:ext>
            </a:extLst>
          </p:cNvPr>
          <p:cNvSpPr/>
          <p:nvPr/>
        </p:nvSpPr>
        <p:spPr bwMode="auto">
          <a:xfrm>
            <a:off x="9167577" y="1199969"/>
            <a:ext cx="1845337" cy="1814385"/>
          </a:xfrm>
          <a:custGeom>
            <a:avLst/>
            <a:gdLst>
              <a:gd name="T0" fmla="*/ 918 w 1109"/>
              <a:gd name="T1" fmla="*/ 204 h 1090"/>
              <a:gd name="T2" fmla="*/ 208 w 1109"/>
              <a:gd name="T3" fmla="*/ 188 h 1090"/>
              <a:gd name="T4" fmla="*/ 192 w 1109"/>
              <a:gd name="T5" fmla="*/ 886 h 1090"/>
              <a:gd name="T6" fmla="*/ 901 w 1109"/>
              <a:gd name="T7" fmla="*/ 902 h 1090"/>
              <a:gd name="T8" fmla="*/ 918 w 1109"/>
              <a:gd name="T9" fmla="*/ 204 h 1090"/>
              <a:gd name="T10" fmla="*/ 450 w 1109"/>
              <a:gd name="T11" fmla="*/ 938 h 1090"/>
              <a:gd name="T12" fmla="*/ 162 w 1109"/>
              <a:gd name="T13" fmla="*/ 440 h 1090"/>
              <a:gd name="T14" fmla="*/ 660 w 1109"/>
              <a:gd name="T15" fmla="*/ 152 h 1090"/>
              <a:gd name="T16" fmla="*/ 948 w 1109"/>
              <a:gd name="T17" fmla="*/ 650 h 1090"/>
              <a:gd name="T18" fmla="*/ 450 w 1109"/>
              <a:gd name="T19" fmla="*/ 938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9" h="1090">
                <a:moveTo>
                  <a:pt x="918" y="204"/>
                </a:moveTo>
                <a:cubicBezTo>
                  <a:pt x="726" y="7"/>
                  <a:pt x="409" y="0"/>
                  <a:pt x="208" y="188"/>
                </a:cubicBezTo>
                <a:cubicBezTo>
                  <a:pt x="8" y="376"/>
                  <a:pt x="0" y="688"/>
                  <a:pt x="192" y="886"/>
                </a:cubicBezTo>
                <a:cubicBezTo>
                  <a:pt x="383" y="1083"/>
                  <a:pt x="701" y="1090"/>
                  <a:pt x="901" y="902"/>
                </a:cubicBezTo>
                <a:cubicBezTo>
                  <a:pt x="1101" y="713"/>
                  <a:pt x="1109" y="401"/>
                  <a:pt x="918" y="204"/>
                </a:cubicBezTo>
                <a:close/>
                <a:moveTo>
                  <a:pt x="450" y="938"/>
                </a:moveTo>
                <a:cubicBezTo>
                  <a:pt x="233" y="880"/>
                  <a:pt x="104" y="657"/>
                  <a:pt x="162" y="440"/>
                </a:cubicBezTo>
                <a:cubicBezTo>
                  <a:pt x="220" y="223"/>
                  <a:pt x="443" y="94"/>
                  <a:pt x="660" y="152"/>
                </a:cubicBezTo>
                <a:cubicBezTo>
                  <a:pt x="877" y="210"/>
                  <a:pt x="1006" y="433"/>
                  <a:pt x="948" y="650"/>
                </a:cubicBezTo>
                <a:cubicBezTo>
                  <a:pt x="890" y="867"/>
                  <a:pt x="667" y="996"/>
                  <a:pt x="450" y="938"/>
                </a:cubicBezTo>
                <a:close/>
              </a:path>
            </a:pathLst>
          </a:custGeom>
          <a:solidFill>
            <a:schemeClr val="tx1">
              <a:lumMod val="90000"/>
              <a:lumOff val="10000"/>
            </a:schemeClr>
          </a:solidFill>
          <a:ln w="9525">
            <a:noFill/>
            <a:round/>
            <a:headEnd/>
            <a:tailEnd/>
          </a:ln>
        </p:spPr>
        <p:txBody>
          <a:bodyPr anchor="ctr"/>
          <a:lstStyle/>
          <a:p>
            <a:pPr algn="ctr"/>
            <a:endParaRPr/>
          </a:p>
        </p:txBody>
      </p:sp>
      <p:sp>
        <p:nvSpPr>
          <p:cNvPr id="18" name="iŝḻïḋe">
            <a:extLst>
              <a:ext uri="{FF2B5EF4-FFF2-40B4-BE49-F238E27FC236}">
                <a16:creationId xmlns:a16="http://schemas.microsoft.com/office/drawing/2014/main" id="{207A70EB-CA75-4800-93E1-44361DC52A67}"/>
              </a:ext>
            </a:extLst>
          </p:cNvPr>
          <p:cNvSpPr/>
          <p:nvPr/>
        </p:nvSpPr>
        <p:spPr bwMode="auto">
          <a:xfrm>
            <a:off x="9693324" y="1714244"/>
            <a:ext cx="785834" cy="785834"/>
          </a:xfrm>
          <a:custGeom>
            <a:avLst/>
            <a:gdLst>
              <a:gd name="T0" fmla="*/ 181 w 472"/>
              <a:gd name="T1" fmla="*/ 441 h 472"/>
              <a:gd name="T2" fmla="*/ 30 w 472"/>
              <a:gd name="T3" fmla="*/ 181 h 472"/>
              <a:gd name="T4" fmla="*/ 291 w 472"/>
              <a:gd name="T5" fmla="*/ 30 h 472"/>
              <a:gd name="T6" fmla="*/ 441 w 472"/>
              <a:gd name="T7" fmla="*/ 291 h 472"/>
              <a:gd name="T8" fmla="*/ 181 w 472"/>
              <a:gd name="T9" fmla="*/ 441 h 472"/>
            </a:gdLst>
            <a:ahLst/>
            <a:cxnLst>
              <a:cxn ang="0">
                <a:pos x="T0" y="T1"/>
              </a:cxn>
              <a:cxn ang="0">
                <a:pos x="T2" y="T3"/>
              </a:cxn>
              <a:cxn ang="0">
                <a:pos x="T4" y="T5"/>
              </a:cxn>
              <a:cxn ang="0">
                <a:pos x="T6" y="T7"/>
              </a:cxn>
              <a:cxn ang="0">
                <a:pos x="T8" y="T9"/>
              </a:cxn>
            </a:cxnLst>
            <a:rect l="0" t="0" r="r" b="b"/>
            <a:pathLst>
              <a:path w="472" h="472">
                <a:moveTo>
                  <a:pt x="181" y="441"/>
                </a:moveTo>
                <a:cubicBezTo>
                  <a:pt x="67" y="411"/>
                  <a:pt x="0" y="294"/>
                  <a:pt x="30" y="181"/>
                </a:cubicBezTo>
                <a:cubicBezTo>
                  <a:pt x="60" y="67"/>
                  <a:pt x="177" y="0"/>
                  <a:pt x="291" y="30"/>
                </a:cubicBezTo>
                <a:cubicBezTo>
                  <a:pt x="404" y="60"/>
                  <a:pt x="472" y="177"/>
                  <a:pt x="441" y="291"/>
                </a:cubicBezTo>
                <a:cubicBezTo>
                  <a:pt x="411" y="404"/>
                  <a:pt x="294" y="472"/>
                  <a:pt x="181" y="441"/>
                </a:cubicBezTo>
                <a:close/>
              </a:path>
            </a:pathLst>
          </a:custGeom>
          <a:solidFill>
            <a:schemeClr val="tx1">
              <a:lumMod val="75000"/>
              <a:lumOff val="25000"/>
            </a:schemeClr>
          </a:solidFill>
          <a:ln w="9525">
            <a:noFill/>
            <a:round/>
            <a:headEnd/>
            <a:tailEnd/>
          </a:ln>
        </p:spPr>
        <p:txBody>
          <a:bodyPr anchor="ctr"/>
          <a:lstStyle/>
          <a:p>
            <a:pPr algn="ctr"/>
            <a:endParaRPr/>
          </a:p>
        </p:txBody>
      </p:sp>
      <p:sp>
        <p:nvSpPr>
          <p:cNvPr id="19" name="íṣļiḍe">
            <a:extLst>
              <a:ext uri="{FF2B5EF4-FFF2-40B4-BE49-F238E27FC236}">
                <a16:creationId xmlns:a16="http://schemas.microsoft.com/office/drawing/2014/main" id="{11FB71BA-7635-4E1A-B8FF-00844342AFE1}"/>
              </a:ext>
            </a:extLst>
          </p:cNvPr>
          <p:cNvSpPr/>
          <p:nvPr/>
        </p:nvSpPr>
        <p:spPr bwMode="auto">
          <a:xfrm>
            <a:off x="8789750" y="2850645"/>
            <a:ext cx="525531" cy="523421"/>
          </a:xfrm>
          <a:custGeom>
            <a:avLst/>
            <a:gdLst>
              <a:gd name="T0" fmla="*/ 303 w 316"/>
              <a:gd name="T1" fmla="*/ 163 h 314"/>
              <a:gd name="T2" fmla="*/ 158 w 316"/>
              <a:gd name="T3" fmla="*/ 13 h 314"/>
              <a:gd name="T4" fmla="*/ 112 w 316"/>
              <a:gd name="T5" fmla="*/ 12 h 314"/>
              <a:gd name="T6" fmla="*/ 0 w 316"/>
              <a:gd name="T7" fmla="*/ 118 h 314"/>
              <a:gd name="T8" fmla="*/ 190 w 316"/>
              <a:gd name="T9" fmla="*/ 314 h 314"/>
              <a:gd name="T10" fmla="*/ 302 w 316"/>
              <a:gd name="T11" fmla="*/ 208 h 314"/>
              <a:gd name="T12" fmla="*/ 303 w 316"/>
              <a:gd name="T13" fmla="*/ 163 h 314"/>
            </a:gdLst>
            <a:ahLst/>
            <a:cxnLst>
              <a:cxn ang="0">
                <a:pos x="T0" y="T1"/>
              </a:cxn>
              <a:cxn ang="0">
                <a:pos x="T2" y="T3"/>
              </a:cxn>
              <a:cxn ang="0">
                <a:pos x="T4" y="T5"/>
              </a:cxn>
              <a:cxn ang="0">
                <a:pos x="T6" y="T7"/>
              </a:cxn>
              <a:cxn ang="0">
                <a:pos x="T8" y="T9"/>
              </a:cxn>
              <a:cxn ang="0">
                <a:pos x="T10" y="T11"/>
              </a:cxn>
              <a:cxn ang="0">
                <a:pos x="T12" y="T13"/>
              </a:cxn>
            </a:cxnLst>
            <a:rect l="0" t="0" r="r" b="b"/>
            <a:pathLst>
              <a:path w="316" h="314">
                <a:moveTo>
                  <a:pt x="303" y="163"/>
                </a:moveTo>
                <a:cubicBezTo>
                  <a:pt x="158" y="13"/>
                  <a:pt x="158" y="13"/>
                  <a:pt x="158" y="13"/>
                </a:cubicBezTo>
                <a:cubicBezTo>
                  <a:pt x="146" y="1"/>
                  <a:pt x="125" y="0"/>
                  <a:pt x="112" y="12"/>
                </a:cubicBezTo>
                <a:cubicBezTo>
                  <a:pt x="0" y="118"/>
                  <a:pt x="0" y="118"/>
                  <a:pt x="0" y="118"/>
                </a:cubicBezTo>
                <a:cubicBezTo>
                  <a:pt x="190" y="314"/>
                  <a:pt x="190" y="314"/>
                  <a:pt x="190" y="314"/>
                </a:cubicBezTo>
                <a:cubicBezTo>
                  <a:pt x="302" y="208"/>
                  <a:pt x="302" y="208"/>
                  <a:pt x="302" y="208"/>
                </a:cubicBezTo>
                <a:cubicBezTo>
                  <a:pt x="315" y="196"/>
                  <a:pt x="316" y="176"/>
                  <a:pt x="303" y="163"/>
                </a:cubicBezTo>
                <a:close/>
              </a:path>
            </a:pathLst>
          </a:custGeom>
          <a:solidFill>
            <a:schemeClr val="tx1">
              <a:lumMod val="90000"/>
              <a:lumOff val="10000"/>
            </a:schemeClr>
          </a:solidFill>
          <a:ln w="9525">
            <a:noFill/>
            <a:round/>
            <a:headEnd/>
            <a:tailEnd/>
          </a:ln>
        </p:spPr>
        <p:txBody>
          <a:bodyPr anchor="ctr"/>
          <a:lstStyle/>
          <a:p>
            <a:pPr algn="ctr"/>
            <a:endParaRPr/>
          </a:p>
        </p:txBody>
      </p:sp>
      <p:sp>
        <p:nvSpPr>
          <p:cNvPr id="20" name="íṧļídè">
            <a:extLst>
              <a:ext uri="{FF2B5EF4-FFF2-40B4-BE49-F238E27FC236}">
                <a16:creationId xmlns:a16="http://schemas.microsoft.com/office/drawing/2014/main" id="{E06632EC-8C53-4DE3-9199-6620E68C862F}"/>
              </a:ext>
            </a:extLst>
          </p:cNvPr>
          <p:cNvSpPr/>
          <p:nvPr/>
        </p:nvSpPr>
        <p:spPr bwMode="auto">
          <a:xfrm>
            <a:off x="8399430" y="3052682"/>
            <a:ext cx="697190" cy="682417"/>
          </a:xfrm>
          <a:custGeom>
            <a:avLst/>
            <a:gdLst>
              <a:gd name="T0" fmla="*/ 452 w 991"/>
              <a:gd name="T1" fmla="*/ 970 h 970"/>
              <a:gd name="T2" fmla="*/ 0 w 991"/>
              <a:gd name="T3" fmla="*/ 506 h 970"/>
              <a:gd name="T4" fmla="*/ 542 w 991"/>
              <a:gd name="T5" fmla="*/ 0 h 970"/>
              <a:gd name="T6" fmla="*/ 991 w 991"/>
              <a:gd name="T7" fmla="*/ 464 h 970"/>
              <a:gd name="T8" fmla="*/ 452 w 991"/>
              <a:gd name="T9" fmla="*/ 970 h 970"/>
            </a:gdLst>
            <a:ahLst/>
            <a:cxnLst>
              <a:cxn ang="0">
                <a:pos x="T0" y="T1"/>
              </a:cxn>
              <a:cxn ang="0">
                <a:pos x="T2" y="T3"/>
              </a:cxn>
              <a:cxn ang="0">
                <a:pos x="T4" y="T5"/>
              </a:cxn>
              <a:cxn ang="0">
                <a:pos x="T6" y="T7"/>
              </a:cxn>
              <a:cxn ang="0">
                <a:pos x="T8" y="T9"/>
              </a:cxn>
            </a:cxnLst>
            <a:rect l="0" t="0" r="r" b="b"/>
            <a:pathLst>
              <a:path w="991" h="970">
                <a:moveTo>
                  <a:pt x="452" y="970"/>
                </a:moveTo>
                <a:lnTo>
                  <a:pt x="0" y="506"/>
                </a:lnTo>
                <a:lnTo>
                  <a:pt x="542" y="0"/>
                </a:lnTo>
                <a:lnTo>
                  <a:pt x="991" y="464"/>
                </a:lnTo>
                <a:lnTo>
                  <a:pt x="452" y="970"/>
                </a:lnTo>
                <a:close/>
              </a:path>
            </a:pathLst>
          </a:custGeom>
          <a:solidFill>
            <a:schemeClr val="tx1">
              <a:lumMod val="75000"/>
              <a:lumOff val="25000"/>
            </a:schemeClr>
          </a:solidFill>
          <a:ln w="9525">
            <a:noFill/>
            <a:round/>
            <a:headEnd/>
            <a:tailEnd/>
          </a:ln>
        </p:spPr>
        <p:txBody>
          <a:bodyPr anchor="ctr"/>
          <a:lstStyle/>
          <a:p>
            <a:pPr algn="ctr"/>
            <a:endParaRPr/>
          </a:p>
        </p:txBody>
      </p:sp>
      <p:sp>
        <p:nvSpPr>
          <p:cNvPr id="21" name="iṥḻide">
            <a:extLst>
              <a:ext uri="{FF2B5EF4-FFF2-40B4-BE49-F238E27FC236}">
                <a16:creationId xmlns:a16="http://schemas.microsoft.com/office/drawing/2014/main" id="{C5429864-D396-438D-8BDA-3E438E71B5F6}"/>
              </a:ext>
            </a:extLst>
          </p:cNvPr>
          <p:cNvSpPr/>
          <p:nvPr/>
        </p:nvSpPr>
        <p:spPr bwMode="auto">
          <a:xfrm>
            <a:off x="8171438" y="3420232"/>
            <a:ext cx="530455" cy="526235"/>
          </a:xfrm>
          <a:custGeom>
            <a:avLst/>
            <a:gdLst>
              <a:gd name="T0" fmla="*/ 14 w 319"/>
              <a:gd name="T1" fmla="*/ 108 h 316"/>
              <a:gd name="T2" fmla="*/ 13 w 319"/>
              <a:gd name="T3" fmla="*/ 154 h 316"/>
              <a:gd name="T4" fmla="*/ 158 w 319"/>
              <a:gd name="T5" fmla="*/ 303 h 316"/>
              <a:gd name="T6" fmla="*/ 204 w 319"/>
              <a:gd name="T7" fmla="*/ 304 h 316"/>
              <a:gd name="T8" fmla="*/ 319 w 319"/>
              <a:gd name="T9" fmla="*/ 196 h 316"/>
              <a:gd name="T10" fmla="*/ 128 w 319"/>
              <a:gd name="T11" fmla="*/ 0 h 316"/>
              <a:gd name="T12" fmla="*/ 14 w 319"/>
              <a:gd name="T13" fmla="*/ 108 h 316"/>
            </a:gdLst>
            <a:ahLst/>
            <a:cxnLst>
              <a:cxn ang="0">
                <a:pos x="T0" y="T1"/>
              </a:cxn>
              <a:cxn ang="0">
                <a:pos x="T2" y="T3"/>
              </a:cxn>
              <a:cxn ang="0">
                <a:pos x="T4" y="T5"/>
              </a:cxn>
              <a:cxn ang="0">
                <a:pos x="T6" y="T7"/>
              </a:cxn>
              <a:cxn ang="0">
                <a:pos x="T8" y="T9"/>
              </a:cxn>
              <a:cxn ang="0">
                <a:pos x="T10" y="T11"/>
              </a:cxn>
              <a:cxn ang="0">
                <a:pos x="T12" y="T13"/>
              </a:cxn>
            </a:cxnLst>
            <a:rect l="0" t="0" r="r" b="b"/>
            <a:pathLst>
              <a:path w="319" h="316">
                <a:moveTo>
                  <a:pt x="14" y="108"/>
                </a:moveTo>
                <a:cubicBezTo>
                  <a:pt x="1" y="120"/>
                  <a:pt x="0" y="141"/>
                  <a:pt x="13" y="154"/>
                </a:cubicBezTo>
                <a:cubicBezTo>
                  <a:pt x="158" y="303"/>
                  <a:pt x="158" y="303"/>
                  <a:pt x="158" y="303"/>
                </a:cubicBezTo>
                <a:cubicBezTo>
                  <a:pt x="170" y="316"/>
                  <a:pt x="191" y="316"/>
                  <a:pt x="204" y="304"/>
                </a:cubicBezTo>
                <a:cubicBezTo>
                  <a:pt x="319" y="196"/>
                  <a:pt x="319" y="196"/>
                  <a:pt x="319" y="196"/>
                </a:cubicBezTo>
                <a:cubicBezTo>
                  <a:pt x="128" y="0"/>
                  <a:pt x="128" y="0"/>
                  <a:pt x="128" y="0"/>
                </a:cubicBezTo>
                <a:lnTo>
                  <a:pt x="14" y="108"/>
                </a:lnTo>
                <a:close/>
              </a:path>
            </a:pathLst>
          </a:custGeom>
          <a:solidFill>
            <a:schemeClr val="tx1">
              <a:lumMod val="90000"/>
              <a:lumOff val="10000"/>
            </a:schemeClr>
          </a:solidFill>
          <a:ln w="9525">
            <a:noFill/>
            <a:round/>
            <a:headEnd/>
            <a:tailEnd/>
          </a:ln>
        </p:spPr>
        <p:txBody>
          <a:bodyPr anchor="ctr"/>
          <a:lstStyle/>
          <a:p>
            <a:pPr algn="ctr"/>
            <a:endParaRPr/>
          </a:p>
        </p:txBody>
      </p:sp>
    </p:spTree>
    <p:extLst>
      <p:ext uri="{BB962C8B-B14F-4D97-AF65-F5344CB8AC3E}">
        <p14:creationId xmlns:p14="http://schemas.microsoft.com/office/powerpoint/2010/main" val="19091318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标准化和归一化</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latin typeface="+mj-ea"/>
                <a:ea typeface="+mj-ea"/>
              </a:rPr>
              <a:pPr/>
              <a:t>40</a:t>
            </a:fld>
            <a:endParaRPr lang="zh-CN" altLang="en-US">
              <a:latin typeface="+mj-ea"/>
              <a:ea typeface="+mj-ea"/>
            </a:endParaRPr>
          </a:p>
        </p:txBody>
      </p:sp>
      <p:sp>
        <p:nvSpPr>
          <p:cNvPr id="11" name="矩形 10">
            <a:extLst>
              <a:ext uri="{FF2B5EF4-FFF2-40B4-BE49-F238E27FC236}">
                <a16:creationId xmlns:a16="http://schemas.microsoft.com/office/drawing/2014/main" id="{E7317533-C778-4E84-B38B-1F8CEE67FF5F}"/>
              </a:ext>
            </a:extLst>
          </p:cNvPr>
          <p:cNvSpPr/>
          <p:nvPr/>
        </p:nvSpPr>
        <p:spPr>
          <a:xfrm>
            <a:off x="547554" y="1188593"/>
            <a:ext cx="6096000" cy="646331"/>
          </a:xfrm>
          <a:prstGeom prst="rect">
            <a:avLst/>
          </a:prstGeom>
        </p:spPr>
        <p:txBody>
          <a:bodyPr>
            <a:spAutoFit/>
          </a:bodyPr>
          <a:lstStyle/>
          <a:p>
            <a:r>
              <a:rPr lang="zh-CN" altLang="en-US" b="1" dirty="0">
                <a:solidFill>
                  <a:srgbClr val="FFC000"/>
                </a:solidFill>
                <a:latin typeface="+mj-ea"/>
                <a:ea typeface="+mj-ea"/>
              </a:rPr>
              <a:t>标准化</a:t>
            </a:r>
            <a:r>
              <a:rPr lang="zh-CN" altLang="en-US" dirty="0">
                <a:latin typeface="+mj-ea"/>
                <a:ea typeface="+mj-ea"/>
              </a:rPr>
              <a:t>要做的事情就是把原始的连续型变量转换为 均值为 </a:t>
            </a:r>
            <a:r>
              <a:rPr lang="en-US" altLang="zh-CN" dirty="0">
                <a:latin typeface="+mj-ea"/>
                <a:ea typeface="+mj-ea"/>
              </a:rPr>
              <a:t>0</a:t>
            </a:r>
            <a:r>
              <a:rPr lang="zh-CN" altLang="en-US" dirty="0">
                <a:latin typeface="+mj-ea"/>
                <a:ea typeface="+mj-ea"/>
              </a:rPr>
              <a:t>，标准差为 </a:t>
            </a:r>
            <a:r>
              <a:rPr lang="en-US" altLang="zh-CN" dirty="0">
                <a:latin typeface="+mj-ea"/>
                <a:ea typeface="+mj-ea"/>
              </a:rPr>
              <a:t>1 </a:t>
            </a:r>
            <a:r>
              <a:rPr lang="zh-CN" altLang="en-US" dirty="0">
                <a:latin typeface="+mj-ea"/>
                <a:ea typeface="+mj-ea"/>
              </a:rPr>
              <a:t>的变量，转换公式如下：</a:t>
            </a:r>
          </a:p>
        </p:txBody>
      </p:sp>
      <p:sp>
        <p:nvSpPr>
          <p:cNvPr id="12" name="矩形 11">
            <a:extLst>
              <a:ext uri="{FF2B5EF4-FFF2-40B4-BE49-F238E27FC236}">
                <a16:creationId xmlns:a16="http://schemas.microsoft.com/office/drawing/2014/main" id="{96D0E69B-412C-4D7C-B770-C88893529ACE}"/>
              </a:ext>
            </a:extLst>
          </p:cNvPr>
          <p:cNvSpPr/>
          <p:nvPr/>
        </p:nvSpPr>
        <p:spPr>
          <a:xfrm>
            <a:off x="547554" y="2203442"/>
            <a:ext cx="6096000" cy="646331"/>
          </a:xfrm>
          <a:prstGeom prst="rect">
            <a:avLst/>
          </a:prstGeom>
        </p:spPr>
        <p:txBody>
          <a:bodyPr>
            <a:spAutoFit/>
          </a:bodyPr>
          <a:lstStyle/>
          <a:p>
            <a:r>
              <a:rPr lang="zh-CN" altLang="en-US" dirty="0">
                <a:latin typeface="+mj-ea"/>
                <a:ea typeface="+mj-ea"/>
              </a:rPr>
              <a:t>我们需要使用 </a:t>
            </a:r>
            <a:r>
              <a:rPr lang="en-US" altLang="zh-CN" dirty="0" err="1">
                <a:latin typeface="+mj-ea"/>
                <a:ea typeface="+mj-ea"/>
              </a:rPr>
              <a:t>sklearn.preprocessing.StandardScaler</a:t>
            </a:r>
            <a:r>
              <a:rPr lang="en-US" altLang="zh-CN" dirty="0">
                <a:latin typeface="+mj-ea"/>
                <a:ea typeface="+mj-ea"/>
              </a:rPr>
              <a:t>()</a:t>
            </a:r>
            <a:r>
              <a:rPr lang="zh-CN" altLang="en-US" dirty="0">
                <a:latin typeface="+mj-ea"/>
                <a:ea typeface="+mj-ea"/>
              </a:rPr>
              <a:t>方法来进行标准化：</a:t>
            </a:r>
          </a:p>
        </p:txBody>
      </p:sp>
      <p:pic>
        <p:nvPicPr>
          <p:cNvPr id="13" name="图片 12">
            <a:extLst>
              <a:ext uri="{FF2B5EF4-FFF2-40B4-BE49-F238E27FC236}">
                <a16:creationId xmlns:a16="http://schemas.microsoft.com/office/drawing/2014/main" id="{3126DECF-156A-4C32-9FC2-57D6196DD6C8}"/>
              </a:ext>
            </a:extLst>
          </p:cNvPr>
          <p:cNvPicPr>
            <a:picLocks noChangeAspect="1"/>
          </p:cNvPicPr>
          <p:nvPr/>
        </p:nvPicPr>
        <p:blipFill>
          <a:blip r:embed="rId2"/>
          <a:stretch>
            <a:fillRect/>
          </a:stretch>
        </p:blipFill>
        <p:spPr>
          <a:xfrm>
            <a:off x="6643554" y="1418411"/>
            <a:ext cx="5437986" cy="2216391"/>
          </a:xfrm>
          <a:prstGeom prst="rect">
            <a:avLst/>
          </a:prstGeom>
        </p:spPr>
      </p:pic>
      <p:pic>
        <p:nvPicPr>
          <p:cNvPr id="14" name="图片 13">
            <a:extLst>
              <a:ext uri="{FF2B5EF4-FFF2-40B4-BE49-F238E27FC236}">
                <a16:creationId xmlns:a16="http://schemas.microsoft.com/office/drawing/2014/main" id="{04CCE09B-BABE-476E-A5FA-CD79C42EFE6E}"/>
              </a:ext>
            </a:extLst>
          </p:cNvPr>
          <p:cNvPicPr>
            <a:picLocks noChangeAspect="1"/>
          </p:cNvPicPr>
          <p:nvPr/>
        </p:nvPicPr>
        <p:blipFill>
          <a:blip r:embed="rId3"/>
          <a:stretch>
            <a:fillRect/>
          </a:stretch>
        </p:blipFill>
        <p:spPr>
          <a:xfrm>
            <a:off x="669924" y="4102558"/>
            <a:ext cx="10989289" cy="1841038"/>
          </a:xfrm>
          <a:prstGeom prst="rect">
            <a:avLst/>
          </a:prstGeom>
        </p:spPr>
      </p:pic>
    </p:spTree>
    <p:extLst>
      <p:ext uri="{BB962C8B-B14F-4D97-AF65-F5344CB8AC3E}">
        <p14:creationId xmlns:p14="http://schemas.microsoft.com/office/powerpoint/2010/main" val="40437892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628-EBE4-4D7D-8A38-3E90238CAA8B}"/>
              </a:ext>
            </a:extLst>
          </p:cNvPr>
          <p:cNvSpPr>
            <a:spLocks noGrp="1"/>
          </p:cNvSpPr>
          <p:nvPr>
            <p:ph type="title"/>
          </p:nvPr>
        </p:nvSpPr>
        <p:spPr>
          <a:xfrm>
            <a:off x="669924" y="296214"/>
            <a:ext cx="5769513" cy="732486"/>
          </a:xfrm>
        </p:spPr>
        <p:txBody>
          <a:bodyPr/>
          <a:lstStyle/>
          <a:p>
            <a:r>
              <a:rPr lang="zh-CN" altLang="en-US" dirty="0">
                <a:latin typeface="+mj-ea"/>
              </a:rPr>
              <a:t>标准化和归一化</a:t>
            </a:r>
          </a:p>
        </p:txBody>
      </p:sp>
      <p:sp>
        <p:nvSpPr>
          <p:cNvPr id="4" name="灯片编号占位符 3">
            <a:extLst>
              <a:ext uri="{FF2B5EF4-FFF2-40B4-BE49-F238E27FC236}">
                <a16:creationId xmlns:a16="http://schemas.microsoft.com/office/drawing/2014/main" id="{222B8A71-80FB-4067-BFDD-87A2A51FCE27}"/>
              </a:ext>
            </a:extLst>
          </p:cNvPr>
          <p:cNvSpPr>
            <a:spLocks noGrp="1"/>
          </p:cNvSpPr>
          <p:nvPr>
            <p:ph type="sldNum" sz="quarter" idx="12"/>
          </p:nvPr>
        </p:nvSpPr>
        <p:spPr/>
        <p:txBody>
          <a:bodyPr/>
          <a:lstStyle/>
          <a:p>
            <a:fld id="{5DD3DB80-B894-403A-B48E-6FDC1A72010E}" type="slidenum">
              <a:rPr lang="zh-CN" altLang="en-US" smtClean="0">
                <a:latin typeface="+mj-ea"/>
                <a:ea typeface="+mj-ea"/>
              </a:rPr>
              <a:pPr/>
              <a:t>41</a:t>
            </a:fld>
            <a:endParaRPr lang="zh-CN" altLang="en-US">
              <a:latin typeface="+mj-ea"/>
              <a:ea typeface="+mj-ea"/>
            </a:endParaRPr>
          </a:p>
        </p:txBody>
      </p:sp>
      <p:sp>
        <p:nvSpPr>
          <p:cNvPr id="7" name="矩形 6">
            <a:extLst>
              <a:ext uri="{FF2B5EF4-FFF2-40B4-BE49-F238E27FC236}">
                <a16:creationId xmlns:a16="http://schemas.microsoft.com/office/drawing/2014/main" id="{92D151A4-680D-4AE8-946F-8D7B8AAF78A8}"/>
              </a:ext>
            </a:extLst>
          </p:cNvPr>
          <p:cNvSpPr/>
          <p:nvPr/>
        </p:nvSpPr>
        <p:spPr>
          <a:xfrm>
            <a:off x="748744" y="1236636"/>
            <a:ext cx="2492990" cy="400110"/>
          </a:xfrm>
          <a:prstGeom prst="rect">
            <a:avLst/>
          </a:prstGeom>
        </p:spPr>
        <p:txBody>
          <a:bodyPr wrap="none">
            <a:spAutoFit/>
          </a:bodyPr>
          <a:lstStyle/>
          <a:p>
            <a:r>
              <a:rPr lang="zh-CN" altLang="en-US" sz="2000" b="1" dirty="0">
                <a:latin typeface="+mj-ea"/>
                <a:ea typeface="+mj-ea"/>
              </a:rPr>
              <a:t>标准化和归一化比较</a:t>
            </a:r>
          </a:p>
        </p:txBody>
      </p:sp>
      <p:sp>
        <p:nvSpPr>
          <p:cNvPr id="8" name="矩形 7">
            <a:extLst>
              <a:ext uri="{FF2B5EF4-FFF2-40B4-BE49-F238E27FC236}">
                <a16:creationId xmlns:a16="http://schemas.microsoft.com/office/drawing/2014/main" id="{2778AE35-EAD0-4FB0-82EB-FDA4931E4B61}"/>
              </a:ext>
            </a:extLst>
          </p:cNvPr>
          <p:cNvSpPr/>
          <p:nvPr/>
        </p:nvSpPr>
        <p:spPr>
          <a:xfrm>
            <a:off x="854647" y="2472457"/>
            <a:ext cx="6096000" cy="1477328"/>
          </a:xfrm>
          <a:prstGeom prst="rect">
            <a:avLst/>
          </a:prstGeom>
        </p:spPr>
        <p:txBody>
          <a:bodyPr>
            <a:spAutoFit/>
          </a:bodyPr>
          <a:lstStyle/>
          <a:p>
            <a:pPr marL="285750" indent="-285750">
              <a:buFont typeface="Arial" panose="020B0604020202020204" pitchFamily="34" charset="0"/>
              <a:buChar char="•"/>
            </a:pPr>
            <a:r>
              <a:rPr lang="zh-CN" altLang="en-US" dirty="0">
                <a:latin typeface="+mj-ea"/>
                <a:ea typeface="+mj-ea"/>
              </a:rPr>
              <a:t>对于归一化来说：如果出现异常点，影响了最大值和最小值，那么结果显然会发生改变 </a:t>
            </a:r>
            <a:endParaRPr lang="en-US" altLang="zh-CN" dirty="0">
              <a:latin typeface="+mj-ea"/>
              <a:ea typeface="+mj-ea"/>
            </a:endParaRPr>
          </a:p>
          <a:p>
            <a:pPr marL="285750" indent="-285750">
              <a:buFont typeface="Arial" panose="020B0604020202020204" pitchFamily="34" charset="0"/>
              <a:buChar char="•"/>
            </a:pPr>
            <a:r>
              <a:rPr lang="zh-CN" altLang="en-US" dirty="0">
                <a:latin typeface="+mj-ea"/>
                <a:ea typeface="+mj-ea"/>
              </a:rPr>
              <a:t>对于标准化来说：如果出现异常点，由于具有一定数据量，少量的异常点对于平均值的影响并不大， 从而方差改变较小。</a:t>
            </a:r>
            <a:r>
              <a:rPr lang="zh-CN" altLang="en-US" b="1" dirty="0">
                <a:solidFill>
                  <a:srgbClr val="A80C26"/>
                </a:solidFill>
                <a:latin typeface="+mj-ea"/>
                <a:ea typeface="+mj-ea"/>
              </a:rPr>
              <a:t>（标准化更常用）</a:t>
            </a:r>
          </a:p>
        </p:txBody>
      </p:sp>
      <p:pic>
        <p:nvPicPr>
          <p:cNvPr id="9" name="图片 8">
            <a:extLst>
              <a:ext uri="{FF2B5EF4-FFF2-40B4-BE49-F238E27FC236}">
                <a16:creationId xmlns:a16="http://schemas.microsoft.com/office/drawing/2014/main" id="{BA05BF50-B4D9-4208-B9ED-9CD5908095B5}"/>
              </a:ext>
            </a:extLst>
          </p:cNvPr>
          <p:cNvPicPr>
            <a:picLocks noChangeAspect="1"/>
          </p:cNvPicPr>
          <p:nvPr/>
        </p:nvPicPr>
        <p:blipFill>
          <a:blip r:embed="rId2"/>
          <a:stretch>
            <a:fillRect/>
          </a:stretch>
        </p:blipFill>
        <p:spPr>
          <a:xfrm>
            <a:off x="1230976" y="4075509"/>
            <a:ext cx="4264674" cy="2643330"/>
          </a:xfrm>
          <a:prstGeom prst="rect">
            <a:avLst/>
          </a:prstGeom>
        </p:spPr>
      </p:pic>
      <p:pic>
        <p:nvPicPr>
          <p:cNvPr id="11" name="图片 10">
            <a:extLst>
              <a:ext uri="{FF2B5EF4-FFF2-40B4-BE49-F238E27FC236}">
                <a16:creationId xmlns:a16="http://schemas.microsoft.com/office/drawing/2014/main" id="{0921339C-6F06-4877-A026-ED1CDD0C7277}"/>
              </a:ext>
            </a:extLst>
          </p:cNvPr>
          <p:cNvPicPr>
            <a:picLocks noChangeAspect="1"/>
          </p:cNvPicPr>
          <p:nvPr/>
        </p:nvPicPr>
        <p:blipFill>
          <a:blip r:embed="rId3"/>
          <a:stretch>
            <a:fillRect/>
          </a:stretch>
        </p:blipFill>
        <p:spPr>
          <a:xfrm>
            <a:off x="3363313" y="1194118"/>
            <a:ext cx="5086873" cy="1152615"/>
          </a:xfrm>
          <a:prstGeom prst="rect">
            <a:avLst/>
          </a:prstGeom>
        </p:spPr>
      </p:pic>
    </p:spTree>
    <p:extLst>
      <p:ext uri="{BB962C8B-B14F-4D97-AF65-F5344CB8AC3E}">
        <p14:creationId xmlns:p14="http://schemas.microsoft.com/office/powerpoint/2010/main" val="20147051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28A4DE6-CC58-47DF-A4F8-451A92F65A96}"/>
              </a:ext>
            </a:extLst>
          </p:cNvPr>
          <p:cNvSpPr/>
          <p:nvPr/>
        </p:nvSpPr>
        <p:spPr>
          <a:xfrm>
            <a:off x="673100" y="2882900"/>
            <a:ext cx="11518900" cy="1104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p:cNvSpPr>
            <a:spLocks noGrp="1"/>
          </p:cNvSpPr>
          <p:nvPr>
            <p:ph type="title"/>
          </p:nvPr>
        </p:nvSpPr>
        <p:spPr>
          <a:xfrm>
            <a:off x="3074824" y="1837555"/>
            <a:ext cx="4215811" cy="895350"/>
          </a:xfrm>
        </p:spPr>
        <p:txBody>
          <a:bodyPr>
            <a:noAutofit/>
          </a:bodyPr>
          <a:lstStyle/>
          <a:p>
            <a:pPr algn="ctr" defTabSz="608965">
              <a:lnSpc>
                <a:spcPct val="130000"/>
              </a:lnSpc>
            </a:pPr>
            <a:r>
              <a:rPr lang="zh-CN" altLang="en-US" sz="6000" dirty="0">
                <a:solidFill>
                  <a:srgbClr val="FFC000"/>
                </a:solidFill>
                <a:latin typeface="+mj-ea"/>
              </a:rPr>
              <a:t>数据</a:t>
            </a:r>
            <a:r>
              <a:rPr lang="zh-CN" altLang="en-US" sz="6000" dirty="0">
                <a:latin typeface="+mj-ea"/>
              </a:rPr>
              <a:t>预处理</a:t>
            </a:r>
          </a:p>
        </p:txBody>
      </p:sp>
      <p:sp>
        <p:nvSpPr>
          <p:cNvPr id="6" name="文本占位符 5"/>
          <p:cNvSpPr>
            <a:spLocks noGrp="1"/>
          </p:cNvSpPr>
          <p:nvPr>
            <p:ph type="body" idx="1"/>
          </p:nvPr>
        </p:nvSpPr>
        <p:spPr>
          <a:xfrm>
            <a:off x="3673481" y="3231612"/>
            <a:ext cx="3313184" cy="986064"/>
          </a:xfrm>
        </p:spPr>
        <p:txBody>
          <a:bodyPr>
            <a:normAutofit/>
          </a:bodyPr>
          <a:lstStyle/>
          <a:p>
            <a:pPr algn="ctr" defTabSz="608965">
              <a:lnSpc>
                <a:spcPct val="130000"/>
              </a:lnSpc>
            </a:pPr>
            <a:r>
              <a:rPr lang="zh-CN" altLang="en-US" sz="4000" b="1" dirty="0">
                <a:solidFill>
                  <a:schemeClr val="bg1"/>
                </a:solidFill>
                <a:highlight>
                  <a:srgbClr val="FFC000"/>
                </a:highlight>
                <a:latin typeface="+mj-ea"/>
                <a:ea typeface="+mj-ea"/>
              </a:rPr>
              <a:t>数据质量分析</a:t>
            </a:r>
          </a:p>
        </p:txBody>
      </p:sp>
    </p:spTree>
    <p:extLst>
      <p:ext uri="{BB962C8B-B14F-4D97-AF65-F5344CB8AC3E}">
        <p14:creationId xmlns:p14="http://schemas.microsoft.com/office/powerpoint/2010/main" val="3708281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4F70C-F51F-4520-832F-2C4161B4B6FB}"/>
              </a:ext>
            </a:extLst>
          </p:cNvPr>
          <p:cNvSpPr>
            <a:spLocks noGrp="1"/>
          </p:cNvSpPr>
          <p:nvPr>
            <p:ph type="title"/>
          </p:nvPr>
        </p:nvSpPr>
        <p:spPr>
          <a:xfrm>
            <a:off x="669925" y="386371"/>
            <a:ext cx="4755106" cy="642329"/>
          </a:xfrm>
        </p:spPr>
        <p:txBody>
          <a:bodyPr>
            <a:normAutofit fontScale="90000"/>
          </a:bodyPr>
          <a:lstStyle/>
          <a:p>
            <a:r>
              <a:rPr lang="zh-CN" altLang="en-US" dirty="0">
                <a:latin typeface="+mj-ea"/>
              </a:rPr>
              <a:t>数据质量分析</a:t>
            </a:r>
          </a:p>
        </p:txBody>
      </p:sp>
      <p:sp>
        <p:nvSpPr>
          <p:cNvPr id="4" name="灯片编号占位符 3">
            <a:extLst>
              <a:ext uri="{FF2B5EF4-FFF2-40B4-BE49-F238E27FC236}">
                <a16:creationId xmlns:a16="http://schemas.microsoft.com/office/drawing/2014/main" id="{87BDEC39-A0D8-4E2E-8039-253EF0F17C3D}"/>
              </a:ext>
            </a:extLst>
          </p:cNvPr>
          <p:cNvSpPr>
            <a:spLocks noGrp="1"/>
          </p:cNvSpPr>
          <p:nvPr>
            <p:ph type="sldNum" sz="quarter" idx="12"/>
          </p:nvPr>
        </p:nvSpPr>
        <p:spPr/>
        <p:txBody>
          <a:bodyPr/>
          <a:lstStyle/>
          <a:p>
            <a:fld id="{5DD3DB80-B894-403A-B48E-6FDC1A72010E}" type="slidenum">
              <a:rPr lang="zh-CN" altLang="en-US" smtClean="0">
                <a:latin typeface="+mj-ea"/>
                <a:ea typeface="+mj-ea"/>
              </a:rPr>
              <a:pPr/>
              <a:t>43</a:t>
            </a:fld>
            <a:endParaRPr lang="zh-CN" altLang="en-US">
              <a:latin typeface="+mj-ea"/>
              <a:ea typeface="+mj-ea"/>
            </a:endParaRPr>
          </a:p>
        </p:txBody>
      </p:sp>
      <p:grpSp>
        <p:nvGrpSpPr>
          <p:cNvPr id="5" name="f1f41b4a-117a-43cd-a554-f923c269f72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E656B843-6CEF-407C-8FD3-7B31A4467809}"/>
              </a:ext>
            </a:extLst>
          </p:cNvPr>
          <p:cNvGrpSpPr>
            <a:grpSpLocks noChangeAspect="1"/>
          </p:cNvGrpSpPr>
          <p:nvPr>
            <p:custDataLst>
              <p:tags r:id="rId1"/>
            </p:custDataLst>
          </p:nvPr>
        </p:nvGrpSpPr>
        <p:grpSpPr>
          <a:xfrm>
            <a:off x="2949486" y="2698124"/>
            <a:ext cx="10440389" cy="3085011"/>
            <a:chOff x="673104" y="2109462"/>
            <a:chExt cx="10845796" cy="3108098"/>
          </a:xfrm>
        </p:grpSpPr>
        <p:grpSp>
          <p:nvGrpSpPr>
            <p:cNvPr id="6" name="ïṩḻîḓê">
              <a:extLst>
                <a:ext uri="{FF2B5EF4-FFF2-40B4-BE49-F238E27FC236}">
                  <a16:creationId xmlns:a16="http://schemas.microsoft.com/office/drawing/2014/main" id="{503E533F-8D39-4B04-B21F-79C61EBAAF76}"/>
                </a:ext>
              </a:extLst>
            </p:cNvPr>
            <p:cNvGrpSpPr/>
            <p:nvPr/>
          </p:nvGrpSpPr>
          <p:grpSpPr>
            <a:xfrm>
              <a:off x="4296000" y="2256912"/>
              <a:ext cx="4812667" cy="2960648"/>
              <a:chOff x="3689667" y="2158226"/>
              <a:chExt cx="4812667" cy="2960648"/>
            </a:xfrm>
          </p:grpSpPr>
          <p:sp>
            <p:nvSpPr>
              <p:cNvPr id="16" name="îSlïḑé">
                <a:extLst>
                  <a:ext uri="{FF2B5EF4-FFF2-40B4-BE49-F238E27FC236}">
                    <a16:creationId xmlns:a16="http://schemas.microsoft.com/office/drawing/2014/main" id="{75A6EBDF-4E10-4074-8306-218792AF5F52}"/>
                  </a:ext>
                </a:extLst>
              </p:cNvPr>
              <p:cNvSpPr/>
              <p:nvPr/>
            </p:nvSpPr>
            <p:spPr>
              <a:xfrm>
                <a:off x="3689667" y="2436138"/>
                <a:ext cx="2014538" cy="2014538"/>
              </a:xfrm>
              <a:prstGeom prst="ellipse">
                <a:avLst/>
              </a:prstGeom>
              <a:solidFill>
                <a:schemeClr val="accent1">
                  <a:alpha val="8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2000" b="1" dirty="0">
                    <a:latin typeface="+mj-ea"/>
                    <a:ea typeface="+mj-ea"/>
                  </a:rPr>
                  <a:t>异常值</a:t>
                </a:r>
              </a:p>
            </p:txBody>
          </p:sp>
          <p:sp>
            <p:nvSpPr>
              <p:cNvPr id="17" name="iṥlíḋe">
                <a:extLst>
                  <a:ext uri="{FF2B5EF4-FFF2-40B4-BE49-F238E27FC236}">
                    <a16:creationId xmlns:a16="http://schemas.microsoft.com/office/drawing/2014/main" id="{32EA43B8-FA0B-41B9-9CA8-2EB4B4423D1F}"/>
                  </a:ext>
                </a:extLst>
              </p:cNvPr>
              <p:cNvSpPr/>
              <p:nvPr/>
            </p:nvSpPr>
            <p:spPr>
              <a:xfrm>
                <a:off x="6487796" y="2650208"/>
                <a:ext cx="2014538" cy="2014538"/>
              </a:xfrm>
              <a:prstGeom prst="ellipse">
                <a:avLst/>
              </a:prstGeom>
              <a:solidFill>
                <a:schemeClr val="accent1">
                  <a:alpha val="8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2000" b="1" dirty="0">
                    <a:latin typeface="+mj-ea"/>
                    <a:ea typeface="+mj-ea"/>
                  </a:rPr>
                  <a:t>重复数据</a:t>
                </a:r>
              </a:p>
            </p:txBody>
          </p:sp>
          <p:sp>
            <p:nvSpPr>
              <p:cNvPr id="18" name="iśľiḍê">
                <a:extLst>
                  <a:ext uri="{FF2B5EF4-FFF2-40B4-BE49-F238E27FC236}">
                    <a16:creationId xmlns:a16="http://schemas.microsoft.com/office/drawing/2014/main" id="{63527953-3944-4476-9D62-691EF90D22A6}"/>
                  </a:ext>
                </a:extLst>
              </p:cNvPr>
              <p:cNvSpPr/>
              <p:nvPr/>
            </p:nvSpPr>
            <p:spPr>
              <a:xfrm>
                <a:off x="5577689" y="3461569"/>
                <a:ext cx="1530467" cy="1530467"/>
              </a:xfrm>
              <a:prstGeom prst="ellipse">
                <a:avLst/>
              </a:prstGeom>
              <a:solidFill>
                <a:schemeClr val="tx1">
                  <a:lumMod val="65000"/>
                  <a:lumOff val="35000"/>
                  <a:alpha val="9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2000" b="1" dirty="0">
                    <a:latin typeface="+mj-ea"/>
                    <a:ea typeface="+mj-ea"/>
                  </a:rPr>
                  <a:t>不一致的值</a:t>
                </a:r>
              </a:p>
            </p:txBody>
          </p:sp>
          <p:sp>
            <p:nvSpPr>
              <p:cNvPr id="19" name="iSľîďe">
                <a:extLst>
                  <a:ext uri="{FF2B5EF4-FFF2-40B4-BE49-F238E27FC236}">
                    <a16:creationId xmlns:a16="http://schemas.microsoft.com/office/drawing/2014/main" id="{CAEBE72D-8BCF-4ACA-8D23-6ADEAC76844B}"/>
                  </a:ext>
                </a:extLst>
              </p:cNvPr>
              <p:cNvSpPr/>
              <p:nvPr/>
            </p:nvSpPr>
            <p:spPr>
              <a:xfrm>
                <a:off x="5304538" y="2158226"/>
                <a:ext cx="1681654" cy="1681654"/>
              </a:xfrm>
              <a:prstGeom prst="ellipse">
                <a:avLst/>
              </a:prstGeom>
              <a:solidFill>
                <a:schemeClr val="tx1">
                  <a:lumMod val="50000"/>
                  <a:lumOff val="50000"/>
                  <a:alpha val="9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2000" dirty="0">
                    <a:latin typeface="+mj-ea"/>
                    <a:ea typeface="+mj-ea"/>
                    <a:cs typeface="Arial" panose="020B0604020202020204" pitchFamily="34" charset="0"/>
                  </a:rPr>
                  <a:t>缺失值</a:t>
                </a:r>
                <a:endParaRPr lang="en-US" altLang="zh-CN" sz="2000" dirty="0">
                  <a:latin typeface="+mj-ea"/>
                  <a:ea typeface="+mj-ea"/>
                  <a:cs typeface="Arial" panose="020B0604020202020204" pitchFamily="34" charset="0"/>
                </a:endParaRPr>
              </a:p>
            </p:txBody>
          </p:sp>
          <p:sp>
            <p:nvSpPr>
              <p:cNvPr id="20" name="íṣḷïḑé">
                <a:extLst>
                  <a:ext uri="{FF2B5EF4-FFF2-40B4-BE49-F238E27FC236}">
                    <a16:creationId xmlns:a16="http://schemas.microsoft.com/office/drawing/2014/main" id="{A03B4A91-32E7-49E1-9112-5E1B07469721}"/>
                  </a:ext>
                </a:extLst>
              </p:cNvPr>
              <p:cNvSpPr/>
              <p:nvPr/>
            </p:nvSpPr>
            <p:spPr>
              <a:xfrm>
                <a:off x="4718251" y="4028443"/>
                <a:ext cx="1090431" cy="1090431"/>
              </a:xfrm>
              <a:prstGeom prst="ellipse">
                <a:avLst/>
              </a:prstGeom>
              <a:solidFill>
                <a:schemeClr val="tx1">
                  <a:lumMod val="50000"/>
                  <a:lumOff val="50000"/>
                  <a:alpha val="9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2000" b="1" dirty="0">
                    <a:latin typeface="+mj-ea"/>
                    <a:ea typeface="+mj-ea"/>
                  </a:rPr>
                  <a:t>特殊符号</a:t>
                </a:r>
              </a:p>
            </p:txBody>
          </p:sp>
        </p:grpSp>
        <p:cxnSp>
          <p:nvCxnSpPr>
            <p:cNvPr id="14" name="直接连接符 13">
              <a:extLst>
                <a:ext uri="{FF2B5EF4-FFF2-40B4-BE49-F238E27FC236}">
                  <a16:creationId xmlns:a16="http://schemas.microsoft.com/office/drawing/2014/main" id="{F5894032-D6B7-4472-ADE7-F1B0726ADD15}"/>
                </a:ext>
              </a:extLst>
            </p:cNvPr>
            <p:cNvCxnSpPr/>
            <p:nvPr/>
          </p:nvCxnSpPr>
          <p:spPr>
            <a:xfrm>
              <a:off x="673104" y="2109462"/>
              <a:ext cx="384359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6D0E5D2A-A8E4-4EA6-9E27-FE17EF472ABA}"/>
                </a:ext>
              </a:extLst>
            </p:cNvPr>
            <p:cNvCxnSpPr>
              <a:cxnSpLocks/>
            </p:cNvCxnSpPr>
            <p:nvPr/>
          </p:nvCxnSpPr>
          <p:spPr>
            <a:xfrm>
              <a:off x="9207396" y="5192646"/>
              <a:ext cx="2311504" cy="0"/>
            </a:xfrm>
            <a:prstGeom prst="line">
              <a:avLst/>
            </a:prstGeom>
            <a:ln w="3175" cap="rnd">
              <a:solidFill>
                <a:schemeClr val="tx2">
                  <a:lumMod val="40000"/>
                  <a:lumOff val="6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
        <p:nvSpPr>
          <p:cNvPr id="21" name="Rectangle 47">
            <a:extLst>
              <a:ext uri="{FF2B5EF4-FFF2-40B4-BE49-F238E27FC236}">
                <a16:creationId xmlns:a16="http://schemas.microsoft.com/office/drawing/2014/main" id="{B97A746E-51D4-47F3-A82D-AB8961763508}"/>
              </a:ext>
            </a:extLst>
          </p:cNvPr>
          <p:cNvSpPr/>
          <p:nvPr/>
        </p:nvSpPr>
        <p:spPr>
          <a:xfrm>
            <a:off x="717641" y="1243770"/>
            <a:ext cx="10617705" cy="677108"/>
          </a:xfrm>
          <a:prstGeom prst="rect">
            <a:avLst/>
          </a:prstGeom>
        </p:spPr>
        <p:txBody>
          <a:bodyPr wrap="square" lIns="0" tIns="0" rIns="0" bIns="0">
            <a:spAutoFit/>
          </a:bodyPr>
          <a:lstStyle/>
          <a:p>
            <a:r>
              <a:rPr lang="zh-CN" altLang="en-US" sz="2400" b="1" dirty="0">
                <a:latin typeface="+mj-ea"/>
                <a:ea typeface="+mj-ea"/>
                <a:cs typeface="Arial" panose="020B0604020202020204" pitchFamily="34" charset="0"/>
              </a:rPr>
              <a:t>概念</a:t>
            </a:r>
            <a:r>
              <a:rPr lang="zh-CN" altLang="en-US" sz="2000" dirty="0">
                <a:latin typeface="+mj-ea"/>
                <a:ea typeface="+mj-ea"/>
                <a:cs typeface="Arial" panose="020B0604020202020204" pitchFamily="34" charset="0"/>
              </a:rPr>
              <a:t>：数据质量分析是数据挖掘中数据准备过程中的重要一环，是数据预处理的前提，也是数据挖掘分析结论有效性和准确性的基础。没有可信的数据，数据挖掘构建的模型都没有意义。</a:t>
            </a:r>
            <a:endParaRPr lang="en-US" altLang="zh-CN" sz="2000" dirty="0">
              <a:latin typeface="+mj-ea"/>
              <a:ea typeface="+mj-ea"/>
              <a:cs typeface="Arial" panose="020B0604020202020204" pitchFamily="34" charset="0"/>
            </a:endParaRPr>
          </a:p>
        </p:txBody>
      </p:sp>
      <p:sp>
        <p:nvSpPr>
          <p:cNvPr id="22" name="文本框 21">
            <a:extLst>
              <a:ext uri="{FF2B5EF4-FFF2-40B4-BE49-F238E27FC236}">
                <a16:creationId xmlns:a16="http://schemas.microsoft.com/office/drawing/2014/main" id="{EFD4D1F7-24C9-4AC3-BCBA-FD8E313A2750}"/>
              </a:ext>
            </a:extLst>
          </p:cNvPr>
          <p:cNvSpPr txBox="1"/>
          <p:nvPr/>
        </p:nvSpPr>
        <p:spPr>
          <a:xfrm>
            <a:off x="669925" y="2291678"/>
            <a:ext cx="10617705" cy="738664"/>
          </a:xfrm>
          <a:prstGeom prst="rect">
            <a:avLst/>
          </a:prstGeom>
          <a:noFill/>
        </p:spPr>
        <p:txBody>
          <a:bodyPr wrap="square" rtlCol="0">
            <a:spAutoFit/>
          </a:bodyPr>
          <a:lstStyle/>
          <a:p>
            <a:r>
              <a:rPr lang="zh-CN" altLang="zh-CN" sz="2400" b="1" dirty="0">
                <a:latin typeface="+mj-ea"/>
                <a:ea typeface="+mj-ea"/>
                <a:cs typeface="Arial" panose="020B0604020202020204" pitchFamily="34" charset="0"/>
              </a:rPr>
              <a:t>意义</a:t>
            </a:r>
            <a:r>
              <a:rPr lang="zh-CN" altLang="zh-CN" sz="2000" dirty="0">
                <a:latin typeface="+mj-ea"/>
                <a:ea typeface="+mj-ea"/>
                <a:cs typeface="Arial" panose="020B0604020202020204" pitchFamily="34" charset="0"/>
              </a:rPr>
              <a:t>： 建模前评估检查原始数据中是否存在不符合要求的脏数据以及如何处理这些脏数据。 </a:t>
            </a:r>
          </a:p>
          <a:p>
            <a:endParaRPr lang="zh-CN" altLang="en-US" dirty="0">
              <a:latin typeface="+mj-ea"/>
              <a:ea typeface="+mj-ea"/>
            </a:endParaRPr>
          </a:p>
        </p:txBody>
      </p:sp>
      <p:sp>
        <p:nvSpPr>
          <p:cNvPr id="23" name="文本框 22">
            <a:extLst>
              <a:ext uri="{FF2B5EF4-FFF2-40B4-BE49-F238E27FC236}">
                <a16:creationId xmlns:a16="http://schemas.microsoft.com/office/drawing/2014/main" id="{5ED6FBCB-8084-4494-96D6-F278BFF742A5}"/>
              </a:ext>
            </a:extLst>
          </p:cNvPr>
          <p:cNvSpPr txBox="1"/>
          <p:nvPr/>
        </p:nvSpPr>
        <p:spPr>
          <a:xfrm>
            <a:off x="590445" y="4076254"/>
            <a:ext cx="5883342" cy="1884618"/>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en-US" sz="2000" dirty="0">
                <a:latin typeface="+mj-ea"/>
                <a:ea typeface="+mj-ea"/>
                <a:cs typeface="Arial" panose="020B0604020202020204" pitchFamily="34" charset="0"/>
              </a:rPr>
              <a:t>缺失值</a:t>
            </a:r>
            <a:endParaRPr lang="en-US" altLang="zh-CN" sz="2000" dirty="0">
              <a:latin typeface="+mj-ea"/>
              <a:ea typeface="+mj-ea"/>
              <a:cs typeface="Arial" panose="020B0604020202020204" pitchFamily="34" charset="0"/>
            </a:endParaRPr>
          </a:p>
          <a:p>
            <a:pPr marL="285750" indent="-285750">
              <a:lnSpc>
                <a:spcPct val="150000"/>
              </a:lnSpc>
              <a:buFont typeface="Wingdings" panose="05000000000000000000" pitchFamily="2" charset="2"/>
              <a:buChar char="Ø"/>
            </a:pPr>
            <a:r>
              <a:rPr lang="zh-CN" altLang="en-US" sz="2000" dirty="0">
                <a:latin typeface="+mj-ea"/>
                <a:ea typeface="+mj-ea"/>
                <a:cs typeface="Arial" panose="020B0604020202020204" pitchFamily="34" charset="0"/>
              </a:rPr>
              <a:t>异常值</a:t>
            </a:r>
            <a:endParaRPr lang="en-US" altLang="zh-CN" sz="2000" dirty="0">
              <a:latin typeface="+mj-ea"/>
              <a:ea typeface="+mj-ea"/>
              <a:cs typeface="Arial" panose="020B0604020202020204" pitchFamily="34" charset="0"/>
            </a:endParaRPr>
          </a:p>
          <a:p>
            <a:pPr marL="285750" indent="-285750">
              <a:lnSpc>
                <a:spcPct val="150000"/>
              </a:lnSpc>
              <a:buFont typeface="Wingdings" panose="05000000000000000000" pitchFamily="2" charset="2"/>
              <a:buChar char="Ø"/>
            </a:pPr>
            <a:r>
              <a:rPr lang="zh-CN" altLang="en-US" sz="2000" dirty="0">
                <a:latin typeface="+mj-ea"/>
                <a:ea typeface="+mj-ea"/>
                <a:cs typeface="Arial" panose="020B0604020202020204" pitchFamily="34" charset="0"/>
              </a:rPr>
              <a:t>不一致的值</a:t>
            </a:r>
            <a:endParaRPr lang="en-US" altLang="zh-CN" sz="2000" dirty="0">
              <a:latin typeface="+mj-ea"/>
              <a:ea typeface="+mj-ea"/>
              <a:cs typeface="Arial" panose="020B0604020202020204" pitchFamily="34" charset="0"/>
            </a:endParaRPr>
          </a:p>
          <a:p>
            <a:pPr marL="285750" indent="-285750">
              <a:lnSpc>
                <a:spcPct val="150000"/>
              </a:lnSpc>
              <a:buFont typeface="Wingdings" panose="05000000000000000000" pitchFamily="2" charset="2"/>
              <a:buChar char="Ø"/>
            </a:pPr>
            <a:r>
              <a:rPr lang="zh-CN" altLang="en-US" sz="2000" dirty="0">
                <a:latin typeface="+mj-ea"/>
                <a:ea typeface="+mj-ea"/>
                <a:cs typeface="Arial" panose="020B0604020202020204" pitchFamily="34" charset="0"/>
              </a:rPr>
              <a:t>重复数据及含有特殊符号（如</a:t>
            </a:r>
            <a:r>
              <a:rPr lang="en-US" altLang="zh-CN" sz="2000" dirty="0">
                <a:latin typeface="+mj-ea"/>
                <a:ea typeface="+mj-ea"/>
                <a:cs typeface="Arial" panose="020B0604020202020204" pitchFamily="34" charset="0"/>
              </a:rPr>
              <a:t>#</a:t>
            </a:r>
            <a:r>
              <a:rPr lang="zh-CN" altLang="en-US" sz="2000" dirty="0">
                <a:latin typeface="+mj-ea"/>
                <a:ea typeface="+mj-ea"/>
                <a:cs typeface="Arial" panose="020B0604020202020204" pitchFamily="34" charset="0"/>
              </a:rPr>
              <a:t>、￥、*）的数据</a:t>
            </a:r>
          </a:p>
        </p:txBody>
      </p:sp>
      <p:sp>
        <p:nvSpPr>
          <p:cNvPr id="24" name="文本框 23">
            <a:extLst>
              <a:ext uri="{FF2B5EF4-FFF2-40B4-BE49-F238E27FC236}">
                <a16:creationId xmlns:a16="http://schemas.microsoft.com/office/drawing/2014/main" id="{D3C33D89-C017-4FC6-BB2C-4E5DB437A2DB}"/>
              </a:ext>
            </a:extLst>
          </p:cNvPr>
          <p:cNvSpPr txBox="1"/>
          <p:nvPr/>
        </p:nvSpPr>
        <p:spPr>
          <a:xfrm>
            <a:off x="605593" y="3480505"/>
            <a:ext cx="1723549" cy="400110"/>
          </a:xfrm>
          <a:prstGeom prst="rect">
            <a:avLst/>
          </a:prstGeom>
          <a:noFill/>
        </p:spPr>
        <p:txBody>
          <a:bodyPr wrap="none" rtlCol="0">
            <a:spAutoFit/>
          </a:bodyPr>
          <a:lstStyle/>
          <a:p>
            <a:r>
              <a:rPr lang="zh-CN" altLang="en-US" sz="2000" b="1" dirty="0">
                <a:solidFill>
                  <a:srgbClr val="FFC000"/>
                </a:solidFill>
                <a:latin typeface="+mj-ea"/>
                <a:ea typeface="+mj-ea"/>
                <a:cs typeface="Arial" panose="020B0604020202020204" pitchFamily="34" charset="0"/>
              </a:rPr>
              <a:t>脏数据</a:t>
            </a:r>
            <a:r>
              <a:rPr lang="zh-CN" altLang="en-US" sz="2000" dirty="0">
                <a:latin typeface="+mj-ea"/>
                <a:ea typeface="+mj-ea"/>
                <a:cs typeface="Arial" panose="020B0604020202020204" pitchFamily="34" charset="0"/>
              </a:rPr>
              <a:t>包括：</a:t>
            </a:r>
          </a:p>
        </p:txBody>
      </p:sp>
    </p:spTree>
    <p:extLst>
      <p:ext uri="{BB962C8B-B14F-4D97-AF65-F5344CB8AC3E}">
        <p14:creationId xmlns:p14="http://schemas.microsoft.com/office/powerpoint/2010/main" val="2335219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additive="base">
                                        <p:cTn id="14" dur="500" fill="hold"/>
                                        <p:tgtEl>
                                          <p:spTgt spid="23"/>
                                        </p:tgtEl>
                                        <p:attrNameLst>
                                          <p:attrName>ppt_x</p:attrName>
                                        </p:attrNameLst>
                                      </p:cBhvr>
                                      <p:tavLst>
                                        <p:tav tm="0">
                                          <p:val>
                                            <p:strVal val="#ppt_x"/>
                                          </p:val>
                                        </p:tav>
                                        <p:tav tm="100000">
                                          <p:val>
                                            <p:strVal val="#ppt_x"/>
                                          </p:val>
                                        </p:tav>
                                      </p:tavLst>
                                    </p:anim>
                                    <p:anim calcmode="lin" valueType="num">
                                      <p:cBhvr additive="base">
                                        <p:cTn id="15"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mj-ea"/>
              </a:rPr>
              <a:t>缺失值分析</a:t>
            </a: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latin typeface="+mj-ea"/>
                <a:ea typeface="+mj-ea"/>
              </a:rPr>
              <a:pPr/>
              <a:t>44</a:t>
            </a:fld>
            <a:endParaRPr lang="zh-CN" altLang="en-US" dirty="0">
              <a:latin typeface="+mj-ea"/>
              <a:ea typeface="+mj-ea"/>
            </a:endParaRPr>
          </a:p>
        </p:txBody>
      </p:sp>
      <p:sp>
        <p:nvSpPr>
          <p:cNvPr id="5" name="文本框 4">
            <a:extLst>
              <a:ext uri="{FF2B5EF4-FFF2-40B4-BE49-F238E27FC236}">
                <a16:creationId xmlns:a16="http://schemas.microsoft.com/office/drawing/2014/main" id="{DEA6D55C-14E8-4577-99EC-8DD73F914550}"/>
              </a:ext>
            </a:extLst>
          </p:cNvPr>
          <p:cNvSpPr txBox="1"/>
          <p:nvPr/>
        </p:nvSpPr>
        <p:spPr>
          <a:xfrm>
            <a:off x="521648" y="1133874"/>
            <a:ext cx="2726748" cy="400110"/>
          </a:xfrm>
          <a:prstGeom prst="rect">
            <a:avLst/>
          </a:prstGeom>
          <a:noFill/>
        </p:spPr>
        <p:txBody>
          <a:bodyPr wrap="square" rtlCol="0">
            <a:spAutoFit/>
          </a:bodyPr>
          <a:lstStyle/>
          <a:p>
            <a:r>
              <a:rPr lang="zh-CN" altLang="en-US" sz="2000" b="1" dirty="0">
                <a:latin typeface="+mj-ea"/>
                <a:ea typeface="+mj-ea"/>
                <a:cs typeface="Arial" panose="020B0604020202020204" pitchFamily="34" charset="0"/>
              </a:rPr>
              <a:t>为什么要处理缺失值？</a:t>
            </a:r>
          </a:p>
        </p:txBody>
      </p:sp>
      <p:sp>
        <p:nvSpPr>
          <p:cNvPr id="6" name="文本框 5">
            <a:extLst>
              <a:ext uri="{FF2B5EF4-FFF2-40B4-BE49-F238E27FC236}">
                <a16:creationId xmlns:a16="http://schemas.microsoft.com/office/drawing/2014/main" id="{756340A4-4658-436E-9C37-BCFE348DEC76}"/>
              </a:ext>
            </a:extLst>
          </p:cNvPr>
          <p:cNvSpPr txBox="1"/>
          <p:nvPr/>
        </p:nvSpPr>
        <p:spPr>
          <a:xfrm>
            <a:off x="750943" y="1685958"/>
            <a:ext cx="10473647" cy="677108"/>
          </a:xfrm>
          <a:prstGeom prst="rect">
            <a:avLst/>
          </a:prstGeom>
          <a:noFill/>
        </p:spPr>
        <p:txBody>
          <a:bodyPr wrap="square" rtlCol="0">
            <a:spAutoFit/>
          </a:bodyPr>
          <a:lstStyle/>
          <a:p>
            <a:r>
              <a:rPr lang="zh-CN" altLang="en-US" dirty="0">
                <a:latin typeface="+mj-ea"/>
                <a:ea typeface="+mj-ea"/>
              </a:rPr>
              <a:t>训练集中的缺失值会削弱模型的拟合能力或得到有偏差的模型，这是因为模型没有正确学习到变量之间的关系，这会得到错误的预测值或分类</a:t>
            </a:r>
            <a:r>
              <a:rPr lang="zh-CN" altLang="en-US" sz="2000" dirty="0">
                <a:latin typeface="+mj-ea"/>
                <a:ea typeface="+mj-ea"/>
                <a:cs typeface="Arial" panose="020B0604020202020204" pitchFamily="34" charset="0"/>
              </a:rPr>
              <a:t>。</a:t>
            </a:r>
          </a:p>
        </p:txBody>
      </p:sp>
      <p:pic>
        <p:nvPicPr>
          <p:cNvPr id="7" name="Picture 2" descr="https://images2017.cnblogs.com/blog/702365/201709/702365-20170905170606069-512153017.png">
            <a:extLst>
              <a:ext uri="{FF2B5EF4-FFF2-40B4-BE49-F238E27FC236}">
                <a16:creationId xmlns:a16="http://schemas.microsoft.com/office/drawing/2014/main" id="{684D5F05-CA2E-4A8F-A974-06EC9F3AA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7451" y="2515040"/>
            <a:ext cx="6915150" cy="274320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66A4E34B-C5E1-43BB-819A-9D13E8A59B37}"/>
              </a:ext>
            </a:extLst>
          </p:cNvPr>
          <p:cNvSpPr txBox="1"/>
          <p:nvPr/>
        </p:nvSpPr>
        <p:spPr>
          <a:xfrm>
            <a:off x="750944" y="5764470"/>
            <a:ext cx="10473647" cy="646331"/>
          </a:xfrm>
          <a:prstGeom prst="rect">
            <a:avLst/>
          </a:prstGeom>
          <a:noFill/>
        </p:spPr>
        <p:txBody>
          <a:bodyPr wrap="square" rtlCol="0">
            <a:spAutoFit/>
          </a:bodyPr>
          <a:lstStyle/>
          <a:p>
            <a:r>
              <a:rPr lang="zh-CN" altLang="en-US" dirty="0">
                <a:latin typeface="+mj-ea"/>
                <a:ea typeface="+mj-ea"/>
              </a:rPr>
              <a:t>上图是有缺失值的数据集与补全后的数据集，左边的表格是没有对缺失值进行处理，从表中可以推断出男性和女性玩板球的几率相同，但是通过观察右边的表格，可以看得出女性玩板球的概率要高于男性。</a:t>
            </a:r>
            <a:endParaRPr lang="zh-CN" altLang="en-US" sz="2000" dirty="0">
              <a:latin typeface="+mj-ea"/>
              <a:ea typeface="+mj-ea"/>
              <a:cs typeface="Arial" panose="020B0604020202020204" pitchFamily="34" charset="0"/>
            </a:endParaRPr>
          </a:p>
        </p:txBody>
      </p:sp>
    </p:spTree>
    <p:extLst>
      <p:ext uri="{BB962C8B-B14F-4D97-AF65-F5344CB8AC3E}">
        <p14:creationId xmlns:p14="http://schemas.microsoft.com/office/powerpoint/2010/main" val="17459202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mj-ea"/>
              </a:rPr>
              <a:t>缺失值分析</a:t>
            </a: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latin typeface="+mj-ea"/>
                <a:ea typeface="+mj-ea"/>
              </a:rPr>
              <a:pPr/>
              <a:t>45</a:t>
            </a:fld>
            <a:endParaRPr lang="zh-CN" altLang="en-US" dirty="0">
              <a:latin typeface="+mj-ea"/>
              <a:ea typeface="+mj-ea"/>
            </a:endParaRPr>
          </a:p>
        </p:txBody>
      </p:sp>
      <p:sp>
        <p:nvSpPr>
          <p:cNvPr id="22" name="文本框 21">
            <a:extLst>
              <a:ext uri="{FF2B5EF4-FFF2-40B4-BE49-F238E27FC236}">
                <a16:creationId xmlns:a16="http://schemas.microsoft.com/office/drawing/2014/main" id="{16C1DF9B-77AD-418F-94CE-A00B2321B9C9}"/>
              </a:ext>
            </a:extLst>
          </p:cNvPr>
          <p:cNvSpPr txBox="1"/>
          <p:nvPr/>
        </p:nvSpPr>
        <p:spPr>
          <a:xfrm>
            <a:off x="521648" y="1090379"/>
            <a:ext cx="2726748" cy="400110"/>
          </a:xfrm>
          <a:prstGeom prst="rect">
            <a:avLst/>
          </a:prstGeom>
          <a:noFill/>
        </p:spPr>
        <p:txBody>
          <a:bodyPr wrap="square" rtlCol="0">
            <a:spAutoFit/>
          </a:bodyPr>
          <a:lstStyle/>
          <a:p>
            <a:r>
              <a:rPr lang="zh-CN" altLang="en-US" sz="2000" b="1" dirty="0">
                <a:latin typeface="+mj-ea"/>
                <a:ea typeface="+mj-ea"/>
              </a:rPr>
              <a:t>为什么会存在缺失值？</a:t>
            </a:r>
          </a:p>
        </p:txBody>
      </p:sp>
      <p:sp>
        <p:nvSpPr>
          <p:cNvPr id="23" name="文本框 22">
            <a:extLst>
              <a:ext uri="{FF2B5EF4-FFF2-40B4-BE49-F238E27FC236}">
                <a16:creationId xmlns:a16="http://schemas.microsoft.com/office/drawing/2014/main" id="{3749EC87-087A-4D6C-B0E0-AF8F2B69A105}"/>
              </a:ext>
            </a:extLst>
          </p:cNvPr>
          <p:cNvSpPr txBox="1"/>
          <p:nvPr/>
        </p:nvSpPr>
        <p:spPr>
          <a:xfrm>
            <a:off x="750943" y="1595808"/>
            <a:ext cx="10473647" cy="369332"/>
          </a:xfrm>
          <a:prstGeom prst="rect">
            <a:avLst/>
          </a:prstGeom>
          <a:noFill/>
        </p:spPr>
        <p:txBody>
          <a:bodyPr wrap="square" rtlCol="0">
            <a:spAutoFit/>
          </a:bodyPr>
          <a:lstStyle/>
          <a:p>
            <a:r>
              <a:rPr lang="zh-CN" altLang="en-US" dirty="0">
                <a:solidFill>
                  <a:srgbClr val="FF0000"/>
                </a:solidFill>
                <a:latin typeface="+mj-ea"/>
                <a:ea typeface="+mj-ea"/>
              </a:rPr>
              <a:t>上例可见处理缺失值的重要性，产生缺失值的原因主要出现在两个阶段：</a:t>
            </a:r>
            <a:endParaRPr lang="zh-CN" altLang="en-US" sz="2000" dirty="0">
              <a:solidFill>
                <a:srgbClr val="FF0000"/>
              </a:solidFill>
              <a:latin typeface="+mj-ea"/>
              <a:ea typeface="+mj-ea"/>
              <a:cs typeface="Arial" panose="020B0604020202020204" pitchFamily="34" charset="0"/>
            </a:endParaRPr>
          </a:p>
        </p:txBody>
      </p:sp>
      <p:sp>
        <p:nvSpPr>
          <p:cNvPr id="24" name="文本框 23">
            <a:extLst>
              <a:ext uri="{FF2B5EF4-FFF2-40B4-BE49-F238E27FC236}">
                <a16:creationId xmlns:a16="http://schemas.microsoft.com/office/drawing/2014/main" id="{55411417-CF6E-4D18-A1F6-CF271A72BA64}"/>
              </a:ext>
            </a:extLst>
          </p:cNvPr>
          <p:cNvSpPr txBox="1"/>
          <p:nvPr/>
        </p:nvSpPr>
        <p:spPr>
          <a:xfrm>
            <a:off x="565369" y="2070459"/>
            <a:ext cx="10730891" cy="4690515"/>
          </a:xfrm>
          <a:prstGeom prst="rect">
            <a:avLst/>
          </a:prstGeom>
          <a:noFill/>
        </p:spPr>
        <p:txBody>
          <a:bodyPr wrap="square" rtlCol="0">
            <a:spAutoFit/>
          </a:bodyPr>
          <a:lstStyle/>
          <a:p>
            <a:pPr marL="342900" indent="-342900">
              <a:lnSpc>
                <a:spcPct val="120000"/>
              </a:lnSpc>
              <a:buFont typeface="+mj-lt"/>
              <a:buAutoNum type="arabicPeriod"/>
            </a:pPr>
            <a:r>
              <a:rPr lang="zh-CN" altLang="en-US" b="1" dirty="0">
                <a:latin typeface="+mj-ea"/>
                <a:ea typeface="+mj-ea"/>
              </a:rPr>
              <a:t>数据提取：</a:t>
            </a:r>
            <a:r>
              <a:rPr lang="zh-CN" altLang="en-US" dirty="0">
                <a:latin typeface="+mj-ea"/>
                <a:ea typeface="+mj-ea"/>
              </a:rPr>
              <a:t>在数据提取阶段可能会出现差错，在这种情况下，应该校验数据的正确性。一些哈希程序能够确保数据是正确的，在提取数据阶段出现的错误比较容易发现并且也容易纠正。</a:t>
            </a:r>
          </a:p>
          <a:p>
            <a:pPr marL="342900" indent="-342900">
              <a:lnSpc>
                <a:spcPct val="120000"/>
              </a:lnSpc>
              <a:buFont typeface="+mj-lt"/>
              <a:buAutoNum type="arabicPeriod"/>
            </a:pPr>
            <a:r>
              <a:rPr lang="zh-CN" altLang="en-US" b="1" dirty="0">
                <a:latin typeface="+mj-ea"/>
                <a:ea typeface="+mj-ea"/>
              </a:rPr>
              <a:t>数据收集：</a:t>
            </a:r>
            <a:r>
              <a:rPr lang="zh-CN" altLang="en-US" dirty="0">
                <a:latin typeface="+mj-ea"/>
                <a:ea typeface="+mj-ea"/>
              </a:rPr>
              <a:t>数据收集阶段出现的错误相对来说 比较难修正，主要分为以下</a:t>
            </a:r>
            <a:r>
              <a:rPr lang="en-US" altLang="zh-CN" dirty="0">
                <a:latin typeface="+mj-ea"/>
                <a:ea typeface="+mj-ea"/>
              </a:rPr>
              <a:t>4</a:t>
            </a:r>
            <a:r>
              <a:rPr lang="zh-CN" altLang="en-US" dirty="0">
                <a:latin typeface="+mj-ea"/>
                <a:ea typeface="+mj-ea"/>
              </a:rPr>
              <a:t>类：</a:t>
            </a:r>
          </a:p>
          <a:p>
            <a:pPr marL="800100" lvl="1" indent="-342900">
              <a:lnSpc>
                <a:spcPct val="120000"/>
              </a:lnSpc>
              <a:buFont typeface="+mj-ea"/>
              <a:buAutoNum type="circleNumDbPlain"/>
            </a:pPr>
            <a:r>
              <a:rPr lang="zh-CN" altLang="en-US" b="1" dirty="0">
                <a:latin typeface="+mj-ea"/>
                <a:ea typeface="+mj-ea"/>
              </a:rPr>
              <a:t>完全随机丢失：</a:t>
            </a:r>
            <a:r>
              <a:rPr lang="zh-CN" altLang="en-US" dirty="0">
                <a:latin typeface="+mj-ea"/>
                <a:ea typeface="+mj-ea"/>
              </a:rPr>
              <a:t>这种情形对于所有观察结果，丢失变量的概率是相同的。例如：数据收集过程的受访者决定在抛出一个公平的硬币之后，他们将宣布他们的收入。如果为正面，受访者宣布他</a:t>
            </a:r>
            <a:r>
              <a:rPr lang="en-US" altLang="zh-CN" dirty="0">
                <a:latin typeface="+mj-ea"/>
                <a:ea typeface="+mj-ea"/>
              </a:rPr>
              <a:t>/</a:t>
            </a:r>
            <a:r>
              <a:rPr lang="zh-CN" altLang="en-US" dirty="0">
                <a:latin typeface="+mj-ea"/>
                <a:ea typeface="+mj-ea"/>
              </a:rPr>
              <a:t>她的收入，反之亦然。这里每个观察值具有相同的缺失值的机会。</a:t>
            </a:r>
          </a:p>
          <a:p>
            <a:pPr marL="800100" lvl="1" indent="-342900">
              <a:lnSpc>
                <a:spcPct val="120000"/>
              </a:lnSpc>
              <a:buFont typeface="+mj-ea"/>
              <a:buAutoNum type="circleNumDbPlain"/>
            </a:pPr>
            <a:r>
              <a:rPr lang="zh-CN" altLang="en-US" b="1" dirty="0">
                <a:latin typeface="+mj-ea"/>
                <a:ea typeface="+mj-ea"/>
              </a:rPr>
              <a:t>随机丢失：</a:t>
            </a:r>
            <a:r>
              <a:rPr lang="zh-CN" altLang="en-US" dirty="0">
                <a:latin typeface="+mj-ea"/>
                <a:ea typeface="+mj-ea"/>
              </a:rPr>
              <a:t>这种情形是变量的值随机丢失并且丢失的比率因其他输入变量的不同值</a:t>
            </a:r>
            <a:r>
              <a:rPr lang="en-US" altLang="zh-CN" dirty="0">
                <a:latin typeface="+mj-ea"/>
                <a:ea typeface="+mj-ea"/>
              </a:rPr>
              <a:t>/</a:t>
            </a:r>
            <a:r>
              <a:rPr lang="zh-CN" altLang="en-US" dirty="0">
                <a:latin typeface="+mj-ea"/>
                <a:ea typeface="+mj-ea"/>
              </a:rPr>
              <a:t>级别而变化 。例如：对年龄数据进行采集时，女性的数据的缺失率相对男性来说较高。</a:t>
            </a:r>
          </a:p>
          <a:p>
            <a:pPr marL="800100" lvl="1" indent="-342900">
              <a:lnSpc>
                <a:spcPct val="120000"/>
              </a:lnSpc>
              <a:buFont typeface="+mj-ea"/>
              <a:buAutoNum type="circleNumDbPlain"/>
            </a:pPr>
            <a:r>
              <a:rPr lang="zh-CN" altLang="en-US" b="1" dirty="0">
                <a:latin typeface="+mj-ea"/>
                <a:ea typeface="+mj-ea"/>
              </a:rPr>
              <a:t>不可预测因子导致缺失：</a:t>
            </a:r>
            <a:r>
              <a:rPr lang="zh-CN" altLang="en-US" dirty="0">
                <a:latin typeface="+mj-ea"/>
                <a:ea typeface="+mj-ea"/>
              </a:rPr>
              <a:t>这种情形数据并不是随机缺失，而是受一切潜在的因子影响，例如：在医学研究中，如果一个特定的诊断导致病人不舒适，那么这项研究就很有可能被抛弃。这个缺失值并不是随机发生，而是依赖于“不舒适”这一潜在的因子</a:t>
            </a:r>
          </a:p>
          <a:p>
            <a:pPr marL="800100" lvl="1" indent="-342900">
              <a:lnSpc>
                <a:spcPct val="120000"/>
              </a:lnSpc>
              <a:buFont typeface="+mj-ea"/>
              <a:buAutoNum type="circleNumDbPlain"/>
            </a:pPr>
            <a:r>
              <a:rPr lang="zh-CN" altLang="en-US" b="1" dirty="0">
                <a:latin typeface="+mj-ea"/>
                <a:ea typeface="+mj-ea"/>
              </a:rPr>
              <a:t>取决自身的缺失：</a:t>
            </a:r>
            <a:r>
              <a:rPr lang="zh-CN" altLang="en-US" dirty="0">
                <a:latin typeface="+mj-ea"/>
                <a:ea typeface="+mj-ea"/>
              </a:rPr>
              <a:t>这种情形是发生缺失的概率受缺失值本身影响，例如：收入较高和较低的人不愿意提供自己的收入。</a:t>
            </a:r>
          </a:p>
          <a:p>
            <a:endParaRPr lang="zh-CN" altLang="en-US" dirty="0">
              <a:latin typeface="+mj-ea"/>
              <a:ea typeface="+mj-ea"/>
            </a:endParaRPr>
          </a:p>
        </p:txBody>
      </p:sp>
    </p:spTree>
    <p:extLst>
      <p:ext uri="{BB962C8B-B14F-4D97-AF65-F5344CB8AC3E}">
        <p14:creationId xmlns:p14="http://schemas.microsoft.com/office/powerpoint/2010/main" val="22603567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mj-ea"/>
              </a:rPr>
              <a:t>异常值分析</a:t>
            </a:r>
          </a:p>
        </p:txBody>
      </p:sp>
      <p:sp>
        <p:nvSpPr>
          <p:cNvPr id="5" name="Rectangle 47">
            <a:extLst>
              <a:ext uri="{FF2B5EF4-FFF2-40B4-BE49-F238E27FC236}">
                <a16:creationId xmlns:a16="http://schemas.microsoft.com/office/drawing/2014/main" id="{459C7015-0716-4979-9EBE-1D0DBFDB9C8F}"/>
              </a:ext>
            </a:extLst>
          </p:cNvPr>
          <p:cNvSpPr/>
          <p:nvPr/>
        </p:nvSpPr>
        <p:spPr>
          <a:xfrm>
            <a:off x="902782" y="1261305"/>
            <a:ext cx="10301838" cy="1107996"/>
          </a:xfrm>
          <a:prstGeom prst="rect">
            <a:avLst/>
          </a:prstGeom>
        </p:spPr>
        <p:txBody>
          <a:bodyPr wrap="square" lIns="0" tIns="0" rIns="0" bIns="0">
            <a:spAutoFit/>
          </a:bodyPr>
          <a:lstStyle/>
          <a:p>
            <a:r>
              <a:rPr lang="zh-CN" altLang="en-US" b="1" dirty="0">
                <a:solidFill>
                  <a:srgbClr val="FFC000"/>
                </a:solidFill>
                <a:latin typeface="+mj-ea"/>
                <a:ea typeface="+mj-ea"/>
              </a:rPr>
              <a:t>异常值</a:t>
            </a:r>
            <a:r>
              <a:rPr lang="zh-CN" altLang="en-US" dirty="0">
                <a:latin typeface="+mj-ea"/>
                <a:ea typeface="+mj-ea"/>
              </a:rPr>
              <a:t>是分析师和数据科学家常用的术语，因为它需要密切关注，否则可能导致出现错误的估计。简单来说，异常点是一个远远超出整个样本总体的观测值。在这里举一个例子，当做客户分析的时候，发现客户的年平均收入是</a:t>
            </a:r>
            <a:r>
              <a:rPr lang="en-US" altLang="zh-CN" dirty="0">
                <a:latin typeface="+mj-ea"/>
                <a:ea typeface="+mj-ea"/>
              </a:rPr>
              <a:t>80</a:t>
            </a:r>
            <a:r>
              <a:rPr lang="zh-CN" altLang="en-US" dirty="0">
                <a:latin typeface="+mj-ea"/>
                <a:ea typeface="+mj-ea"/>
              </a:rPr>
              <a:t>万美元。但是，有两个客户的年收入为</a:t>
            </a:r>
            <a:r>
              <a:rPr lang="en-US" altLang="zh-CN" dirty="0">
                <a:latin typeface="+mj-ea"/>
              </a:rPr>
              <a:t>400</a:t>
            </a:r>
            <a:r>
              <a:rPr lang="zh-CN" altLang="en-US" dirty="0">
                <a:latin typeface="+mj-ea"/>
              </a:rPr>
              <a:t>万</a:t>
            </a:r>
            <a:r>
              <a:rPr lang="zh-CN" altLang="en-US" dirty="0">
                <a:latin typeface="+mj-ea"/>
                <a:ea typeface="+mj-ea"/>
              </a:rPr>
              <a:t>美元和</a:t>
            </a:r>
            <a:r>
              <a:rPr lang="en-US" altLang="zh-CN" dirty="0">
                <a:latin typeface="+mj-ea"/>
                <a:ea typeface="+mj-ea"/>
              </a:rPr>
              <a:t>420</a:t>
            </a:r>
            <a:r>
              <a:rPr lang="zh-CN" altLang="en-US" dirty="0">
                <a:latin typeface="+mj-ea"/>
                <a:ea typeface="+mj-ea"/>
              </a:rPr>
              <a:t>万美元。这两个客户的年收入远远高于其他人。这两个样本将被视为异常值。</a:t>
            </a:r>
            <a:endParaRPr lang="en-US" altLang="zh-CN" sz="2000" dirty="0">
              <a:latin typeface="+mj-ea"/>
              <a:ea typeface="+mj-ea"/>
              <a:cs typeface="Arial" panose="020B0604020202020204" pitchFamily="34" charset="0"/>
            </a:endParaRPr>
          </a:p>
        </p:txBody>
      </p:sp>
      <p:pic>
        <p:nvPicPr>
          <p:cNvPr id="6" name="Picture 6" descr="https://images2017.cnblogs.com/blog/702365/201709/702365-20170905170606944-53533861.png">
            <a:extLst>
              <a:ext uri="{FF2B5EF4-FFF2-40B4-BE49-F238E27FC236}">
                <a16:creationId xmlns:a16="http://schemas.microsoft.com/office/drawing/2014/main" id="{E6321B6D-E1CF-46D0-BC7B-D3514DBA99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023" y="2830821"/>
            <a:ext cx="4724235" cy="3222059"/>
          </a:xfrm>
          <a:prstGeom prst="rect">
            <a:avLst/>
          </a:prstGeom>
          <a:noFill/>
          <a:extLst>
            <a:ext uri="{909E8E84-426E-40DD-AFC4-6F175D3DCCD1}">
              <a14:hiddenFill xmlns:a14="http://schemas.microsoft.com/office/drawing/2010/main">
                <a:solidFill>
                  <a:srgbClr val="FFFFFF"/>
                </a:solidFill>
              </a14:hiddenFill>
            </a:ext>
          </a:extLst>
        </p:spPr>
      </p:pic>
      <p:sp>
        <p:nvSpPr>
          <p:cNvPr id="26" name="îṥľíḑê">
            <a:extLst>
              <a:ext uri="{FF2B5EF4-FFF2-40B4-BE49-F238E27FC236}">
                <a16:creationId xmlns:a16="http://schemas.microsoft.com/office/drawing/2014/main" id="{0C9BB535-CA8B-4ACF-991B-E614CB29C2B2}"/>
              </a:ext>
            </a:extLst>
          </p:cNvPr>
          <p:cNvSpPr/>
          <p:nvPr/>
        </p:nvSpPr>
        <p:spPr bwMode="auto">
          <a:xfrm>
            <a:off x="8800723" y="2436302"/>
            <a:ext cx="1784350" cy="3724282"/>
          </a:xfrm>
          <a:custGeom>
            <a:avLst/>
            <a:gdLst>
              <a:gd name="T0" fmla="*/ 75 w 128"/>
              <a:gd name="T1" fmla="*/ 147 h 268"/>
              <a:gd name="T2" fmla="*/ 75 w 128"/>
              <a:gd name="T3" fmla="*/ 125 h 268"/>
              <a:gd name="T4" fmla="*/ 128 w 128"/>
              <a:gd name="T5" fmla="*/ 63 h 268"/>
              <a:gd name="T6" fmla="*/ 64 w 128"/>
              <a:gd name="T7" fmla="*/ 0 h 268"/>
              <a:gd name="T8" fmla="*/ 0 w 128"/>
              <a:gd name="T9" fmla="*/ 63 h 268"/>
              <a:gd name="T10" fmla="*/ 52 w 128"/>
              <a:gd name="T11" fmla="*/ 125 h 268"/>
              <a:gd name="T12" fmla="*/ 52 w 128"/>
              <a:gd name="T13" fmla="*/ 147 h 268"/>
              <a:gd name="T14" fmla="*/ 46 w 128"/>
              <a:gd name="T15" fmla="*/ 161 h 268"/>
              <a:gd name="T16" fmla="*/ 46 w 128"/>
              <a:gd name="T17" fmla="*/ 250 h 268"/>
              <a:gd name="T18" fmla="*/ 64 w 128"/>
              <a:gd name="T19" fmla="*/ 268 h 268"/>
              <a:gd name="T20" fmla="*/ 82 w 128"/>
              <a:gd name="T21" fmla="*/ 250 h 268"/>
              <a:gd name="T22" fmla="*/ 82 w 128"/>
              <a:gd name="T23" fmla="*/ 161 h 268"/>
              <a:gd name="T24" fmla="*/ 75 w 128"/>
              <a:gd name="T25" fmla="*/ 147 h 268"/>
              <a:gd name="T26" fmla="*/ 13 w 128"/>
              <a:gd name="T27" fmla="*/ 63 h 268"/>
              <a:gd name="T28" fmla="*/ 64 w 128"/>
              <a:gd name="T29" fmla="*/ 14 h 268"/>
              <a:gd name="T30" fmla="*/ 114 w 128"/>
              <a:gd name="T31" fmla="*/ 63 h 268"/>
              <a:gd name="T32" fmla="*/ 64 w 128"/>
              <a:gd name="T33" fmla="*/ 113 h 268"/>
              <a:gd name="T34" fmla="*/ 13 w 128"/>
              <a:gd name="T35" fmla="*/ 63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8" h="268">
                <a:moveTo>
                  <a:pt x="75" y="147"/>
                </a:moveTo>
                <a:cubicBezTo>
                  <a:pt x="75" y="125"/>
                  <a:pt x="75" y="125"/>
                  <a:pt x="75" y="125"/>
                </a:cubicBezTo>
                <a:cubicBezTo>
                  <a:pt x="105" y="120"/>
                  <a:pt x="128" y="94"/>
                  <a:pt x="128" y="63"/>
                </a:cubicBezTo>
                <a:cubicBezTo>
                  <a:pt x="128" y="28"/>
                  <a:pt x="99" y="0"/>
                  <a:pt x="64" y="0"/>
                </a:cubicBezTo>
                <a:cubicBezTo>
                  <a:pt x="28" y="0"/>
                  <a:pt x="0" y="28"/>
                  <a:pt x="0" y="63"/>
                </a:cubicBezTo>
                <a:cubicBezTo>
                  <a:pt x="0" y="94"/>
                  <a:pt x="22" y="120"/>
                  <a:pt x="52" y="125"/>
                </a:cubicBezTo>
                <a:cubicBezTo>
                  <a:pt x="52" y="147"/>
                  <a:pt x="52" y="147"/>
                  <a:pt x="52" y="147"/>
                </a:cubicBezTo>
                <a:cubicBezTo>
                  <a:pt x="48" y="151"/>
                  <a:pt x="46" y="156"/>
                  <a:pt x="46" y="161"/>
                </a:cubicBezTo>
                <a:cubicBezTo>
                  <a:pt x="46" y="250"/>
                  <a:pt x="46" y="250"/>
                  <a:pt x="46" y="250"/>
                </a:cubicBezTo>
                <a:cubicBezTo>
                  <a:pt x="46" y="259"/>
                  <a:pt x="54" y="268"/>
                  <a:pt x="64" y="268"/>
                </a:cubicBezTo>
                <a:cubicBezTo>
                  <a:pt x="74" y="268"/>
                  <a:pt x="82" y="259"/>
                  <a:pt x="82" y="250"/>
                </a:cubicBezTo>
                <a:cubicBezTo>
                  <a:pt x="82" y="161"/>
                  <a:pt x="82" y="161"/>
                  <a:pt x="82" y="161"/>
                </a:cubicBezTo>
                <a:cubicBezTo>
                  <a:pt x="82" y="156"/>
                  <a:pt x="79" y="151"/>
                  <a:pt x="75" y="147"/>
                </a:cubicBezTo>
                <a:close/>
                <a:moveTo>
                  <a:pt x="13" y="63"/>
                </a:moveTo>
                <a:cubicBezTo>
                  <a:pt x="13" y="36"/>
                  <a:pt x="36" y="14"/>
                  <a:pt x="64" y="14"/>
                </a:cubicBezTo>
                <a:cubicBezTo>
                  <a:pt x="92" y="14"/>
                  <a:pt x="114" y="36"/>
                  <a:pt x="114" y="63"/>
                </a:cubicBezTo>
                <a:cubicBezTo>
                  <a:pt x="114" y="91"/>
                  <a:pt x="92" y="113"/>
                  <a:pt x="64" y="113"/>
                </a:cubicBezTo>
                <a:cubicBezTo>
                  <a:pt x="36" y="113"/>
                  <a:pt x="13" y="91"/>
                  <a:pt x="13" y="6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j-ea"/>
              <a:ea typeface="+mj-ea"/>
            </a:endParaRPr>
          </a:p>
        </p:txBody>
      </p:sp>
      <p:sp>
        <p:nvSpPr>
          <p:cNvPr id="28" name="ï$ļïḓê">
            <a:extLst>
              <a:ext uri="{FF2B5EF4-FFF2-40B4-BE49-F238E27FC236}">
                <a16:creationId xmlns:a16="http://schemas.microsoft.com/office/drawing/2014/main" id="{F0DF83B8-F66B-4ECD-83C3-2FD3E0ABCE4A}"/>
              </a:ext>
            </a:extLst>
          </p:cNvPr>
          <p:cNvSpPr/>
          <p:nvPr/>
        </p:nvSpPr>
        <p:spPr bwMode="auto">
          <a:xfrm>
            <a:off x="9035206" y="2830821"/>
            <a:ext cx="1268413" cy="1125540"/>
          </a:xfrm>
          <a:custGeom>
            <a:avLst/>
            <a:gdLst>
              <a:gd name="T0" fmla="*/ 19 w 91"/>
              <a:gd name="T1" fmla="*/ 0 h 81"/>
              <a:gd name="T2" fmla="*/ 0 w 91"/>
              <a:gd name="T3" fmla="*/ 36 h 81"/>
              <a:gd name="T4" fmla="*/ 46 w 91"/>
              <a:gd name="T5" fmla="*/ 81 h 81"/>
              <a:gd name="T6" fmla="*/ 91 w 91"/>
              <a:gd name="T7" fmla="*/ 45 h 81"/>
              <a:gd name="T8" fmla="*/ 19 w 91"/>
              <a:gd name="T9" fmla="*/ 0 h 81"/>
              <a:gd name="T10" fmla="*/ 13 w 91"/>
              <a:gd name="T11" fmla="*/ 34 h 81"/>
              <a:gd name="T12" fmla="*/ 25 w 91"/>
              <a:gd name="T13" fmla="*/ 21 h 81"/>
              <a:gd name="T14" fmla="*/ 37 w 91"/>
              <a:gd name="T15" fmla="*/ 34 h 81"/>
              <a:gd name="T16" fmla="*/ 25 w 91"/>
              <a:gd name="T17" fmla="*/ 48 h 81"/>
              <a:gd name="T18" fmla="*/ 13 w 91"/>
              <a:gd name="T19" fmla="*/ 34 h 81"/>
              <a:gd name="T20" fmla="*/ 25 w 91"/>
              <a:gd name="T21" fmla="*/ 66 h 81"/>
              <a:gd name="T22" fmla="*/ 50 w 91"/>
              <a:gd name="T23" fmla="*/ 21 h 81"/>
              <a:gd name="T24" fmla="*/ 56 w 91"/>
              <a:gd name="T25" fmla="*/ 21 h 81"/>
              <a:gd name="T26" fmla="*/ 31 w 91"/>
              <a:gd name="T27" fmla="*/ 66 h 81"/>
              <a:gd name="T28" fmla="*/ 25 w 91"/>
              <a:gd name="T29" fmla="*/ 66 h 81"/>
              <a:gd name="T30" fmla="*/ 56 w 91"/>
              <a:gd name="T31" fmla="*/ 66 h 81"/>
              <a:gd name="T32" fmla="*/ 44 w 91"/>
              <a:gd name="T33" fmla="*/ 53 h 81"/>
              <a:gd name="T34" fmla="*/ 57 w 91"/>
              <a:gd name="T35" fmla="*/ 39 h 81"/>
              <a:gd name="T36" fmla="*/ 68 w 91"/>
              <a:gd name="T37" fmla="*/ 52 h 81"/>
              <a:gd name="T38" fmla="*/ 56 w 91"/>
              <a:gd name="T39"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1" h="81">
                <a:moveTo>
                  <a:pt x="19" y="0"/>
                </a:moveTo>
                <a:cubicBezTo>
                  <a:pt x="7" y="8"/>
                  <a:pt x="0" y="21"/>
                  <a:pt x="0" y="36"/>
                </a:cubicBezTo>
                <a:cubicBezTo>
                  <a:pt x="0" y="61"/>
                  <a:pt x="20" y="81"/>
                  <a:pt x="46" y="81"/>
                </a:cubicBezTo>
                <a:cubicBezTo>
                  <a:pt x="68" y="81"/>
                  <a:pt x="87" y="66"/>
                  <a:pt x="91" y="45"/>
                </a:cubicBezTo>
                <a:cubicBezTo>
                  <a:pt x="75" y="20"/>
                  <a:pt x="49" y="3"/>
                  <a:pt x="19" y="0"/>
                </a:cubicBezTo>
                <a:close/>
                <a:moveTo>
                  <a:pt x="13" y="34"/>
                </a:moveTo>
                <a:cubicBezTo>
                  <a:pt x="13" y="27"/>
                  <a:pt x="18" y="21"/>
                  <a:pt x="25" y="21"/>
                </a:cubicBezTo>
                <a:cubicBezTo>
                  <a:pt x="33" y="21"/>
                  <a:pt x="37" y="26"/>
                  <a:pt x="37" y="34"/>
                </a:cubicBezTo>
                <a:cubicBezTo>
                  <a:pt x="37" y="43"/>
                  <a:pt x="31" y="48"/>
                  <a:pt x="25" y="48"/>
                </a:cubicBezTo>
                <a:cubicBezTo>
                  <a:pt x="18" y="48"/>
                  <a:pt x="13" y="43"/>
                  <a:pt x="13" y="34"/>
                </a:cubicBezTo>
                <a:close/>
                <a:moveTo>
                  <a:pt x="25" y="66"/>
                </a:moveTo>
                <a:cubicBezTo>
                  <a:pt x="50" y="21"/>
                  <a:pt x="50" y="21"/>
                  <a:pt x="50" y="21"/>
                </a:cubicBezTo>
                <a:cubicBezTo>
                  <a:pt x="56" y="21"/>
                  <a:pt x="56" y="21"/>
                  <a:pt x="56" y="21"/>
                </a:cubicBezTo>
                <a:cubicBezTo>
                  <a:pt x="31" y="66"/>
                  <a:pt x="31" y="66"/>
                  <a:pt x="31" y="66"/>
                </a:cubicBezTo>
                <a:lnTo>
                  <a:pt x="25" y="66"/>
                </a:lnTo>
                <a:close/>
                <a:moveTo>
                  <a:pt x="56" y="66"/>
                </a:moveTo>
                <a:cubicBezTo>
                  <a:pt x="50" y="66"/>
                  <a:pt x="44" y="61"/>
                  <a:pt x="44" y="53"/>
                </a:cubicBezTo>
                <a:cubicBezTo>
                  <a:pt x="44" y="45"/>
                  <a:pt x="49" y="39"/>
                  <a:pt x="57" y="39"/>
                </a:cubicBezTo>
                <a:cubicBezTo>
                  <a:pt x="64" y="39"/>
                  <a:pt x="68" y="44"/>
                  <a:pt x="68" y="52"/>
                </a:cubicBezTo>
                <a:cubicBezTo>
                  <a:pt x="68" y="61"/>
                  <a:pt x="63" y="66"/>
                  <a:pt x="56" y="66"/>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mj-ea"/>
              <a:ea typeface="+mj-ea"/>
            </a:endParaRPr>
          </a:p>
        </p:txBody>
      </p:sp>
      <p:sp>
        <p:nvSpPr>
          <p:cNvPr id="29" name="iṡḻíḍe">
            <a:extLst>
              <a:ext uri="{FF2B5EF4-FFF2-40B4-BE49-F238E27FC236}">
                <a16:creationId xmlns:a16="http://schemas.microsoft.com/office/drawing/2014/main" id="{658E4D21-2637-4E6C-8A79-AE1E6084E90C}"/>
              </a:ext>
            </a:extLst>
          </p:cNvPr>
          <p:cNvSpPr/>
          <p:nvPr/>
        </p:nvSpPr>
        <p:spPr bwMode="auto">
          <a:xfrm>
            <a:off x="8070333" y="2863778"/>
            <a:ext cx="1101725" cy="1263652"/>
          </a:xfrm>
          <a:custGeom>
            <a:avLst/>
            <a:gdLst>
              <a:gd name="T0" fmla="*/ 79 w 79"/>
              <a:gd name="T1" fmla="*/ 91 h 91"/>
              <a:gd name="T2" fmla="*/ 49 w 79"/>
              <a:gd name="T3" fmla="*/ 35 h 91"/>
              <a:gd name="T4" fmla="*/ 59 w 79"/>
              <a:gd name="T5" fmla="*/ 0 h 91"/>
              <a:gd name="T6" fmla="*/ 0 w 79"/>
              <a:gd name="T7" fmla="*/ 36 h 91"/>
              <a:gd name="T8" fmla="*/ 78 w 79"/>
              <a:gd name="T9" fmla="*/ 91 h 91"/>
              <a:gd name="T10" fmla="*/ 79 w 79"/>
              <a:gd name="T11" fmla="*/ 91 h 91"/>
            </a:gdLst>
            <a:ahLst/>
            <a:cxnLst>
              <a:cxn ang="0">
                <a:pos x="T0" y="T1"/>
              </a:cxn>
              <a:cxn ang="0">
                <a:pos x="T2" y="T3"/>
              </a:cxn>
              <a:cxn ang="0">
                <a:pos x="T4" y="T5"/>
              </a:cxn>
              <a:cxn ang="0">
                <a:pos x="T6" y="T7"/>
              </a:cxn>
              <a:cxn ang="0">
                <a:pos x="T8" y="T9"/>
              </a:cxn>
              <a:cxn ang="0">
                <a:pos x="T10" y="T11"/>
              </a:cxn>
            </a:cxnLst>
            <a:rect l="0" t="0" r="r" b="b"/>
            <a:pathLst>
              <a:path w="79" h="91">
                <a:moveTo>
                  <a:pt x="79" y="91"/>
                </a:moveTo>
                <a:cubicBezTo>
                  <a:pt x="61" y="79"/>
                  <a:pt x="49" y="58"/>
                  <a:pt x="49" y="35"/>
                </a:cubicBezTo>
                <a:cubicBezTo>
                  <a:pt x="49" y="22"/>
                  <a:pt x="53" y="10"/>
                  <a:pt x="59" y="0"/>
                </a:cubicBezTo>
                <a:cubicBezTo>
                  <a:pt x="35" y="5"/>
                  <a:pt x="15" y="18"/>
                  <a:pt x="0" y="36"/>
                </a:cubicBezTo>
                <a:cubicBezTo>
                  <a:pt x="78" y="91"/>
                  <a:pt x="78" y="91"/>
                  <a:pt x="78" y="91"/>
                </a:cubicBezTo>
                <a:lnTo>
                  <a:pt x="79" y="91"/>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j-ea"/>
              <a:ea typeface="+mj-ea"/>
            </a:endParaRPr>
          </a:p>
        </p:txBody>
      </p:sp>
      <p:sp>
        <p:nvSpPr>
          <p:cNvPr id="30" name="îšḻïḓê">
            <a:extLst>
              <a:ext uri="{FF2B5EF4-FFF2-40B4-BE49-F238E27FC236}">
                <a16:creationId xmlns:a16="http://schemas.microsoft.com/office/drawing/2014/main" id="{0193D663-8697-4D34-B72F-795CDDAA37C0}"/>
              </a:ext>
            </a:extLst>
          </p:cNvPr>
          <p:cNvSpPr/>
          <p:nvPr/>
        </p:nvSpPr>
        <p:spPr bwMode="auto">
          <a:xfrm>
            <a:off x="7817266" y="3393591"/>
            <a:ext cx="1296988" cy="2084391"/>
          </a:xfrm>
          <a:custGeom>
            <a:avLst/>
            <a:gdLst>
              <a:gd name="T0" fmla="*/ 17 w 93"/>
              <a:gd name="T1" fmla="*/ 0 h 150"/>
              <a:gd name="T2" fmla="*/ 0 w 93"/>
              <a:gd name="T3" fmla="*/ 55 h 150"/>
              <a:gd name="T4" fmla="*/ 71 w 93"/>
              <a:gd name="T5" fmla="*/ 150 h 150"/>
              <a:gd name="T6" fmla="*/ 93 w 93"/>
              <a:gd name="T7" fmla="*/ 54 h 150"/>
              <a:gd name="T8" fmla="*/ 17 w 93"/>
              <a:gd name="T9" fmla="*/ 0 h 150"/>
            </a:gdLst>
            <a:ahLst/>
            <a:cxnLst>
              <a:cxn ang="0">
                <a:pos x="T0" y="T1"/>
              </a:cxn>
              <a:cxn ang="0">
                <a:pos x="T2" y="T3"/>
              </a:cxn>
              <a:cxn ang="0">
                <a:pos x="T4" y="T5"/>
              </a:cxn>
              <a:cxn ang="0">
                <a:pos x="T6" y="T7"/>
              </a:cxn>
              <a:cxn ang="0">
                <a:pos x="T8" y="T9"/>
              </a:cxn>
            </a:cxnLst>
            <a:rect l="0" t="0" r="r" b="b"/>
            <a:pathLst>
              <a:path w="93" h="150">
                <a:moveTo>
                  <a:pt x="17" y="0"/>
                </a:moveTo>
                <a:cubicBezTo>
                  <a:pt x="6" y="16"/>
                  <a:pt x="0" y="35"/>
                  <a:pt x="0" y="55"/>
                </a:cubicBezTo>
                <a:cubicBezTo>
                  <a:pt x="0" y="100"/>
                  <a:pt x="30" y="137"/>
                  <a:pt x="71" y="150"/>
                </a:cubicBezTo>
                <a:cubicBezTo>
                  <a:pt x="93" y="54"/>
                  <a:pt x="93" y="54"/>
                  <a:pt x="93" y="54"/>
                </a:cubicBezTo>
                <a:lnTo>
                  <a:pt x="17" y="0"/>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j-ea"/>
              <a:ea typeface="+mj-ea"/>
            </a:endParaRPr>
          </a:p>
        </p:txBody>
      </p:sp>
      <p:sp>
        <p:nvSpPr>
          <p:cNvPr id="31" name="ïŝḷîḍè">
            <a:extLst>
              <a:ext uri="{FF2B5EF4-FFF2-40B4-BE49-F238E27FC236}">
                <a16:creationId xmlns:a16="http://schemas.microsoft.com/office/drawing/2014/main" id="{DE100D25-5548-4AD4-ACBE-9E717B7430E2}"/>
              </a:ext>
            </a:extLst>
          </p:cNvPr>
          <p:cNvSpPr/>
          <p:nvPr/>
        </p:nvSpPr>
        <p:spPr bwMode="auto">
          <a:xfrm>
            <a:off x="8858526" y="4163999"/>
            <a:ext cx="627063" cy="1349378"/>
          </a:xfrm>
          <a:custGeom>
            <a:avLst/>
            <a:gdLst>
              <a:gd name="T0" fmla="*/ 45 w 45"/>
              <a:gd name="T1" fmla="*/ 2 h 97"/>
              <a:gd name="T2" fmla="*/ 37 w 45"/>
              <a:gd name="T3" fmla="*/ 0 h 97"/>
              <a:gd name="T4" fmla="*/ 22 w 45"/>
              <a:gd name="T5" fmla="*/ 0 h 97"/>
              <a:gd name="T6" fmla="*/ 0 w 45"/>
              <a:gd name="T7" fmla="*/ 95 h 97"/>
              <a:gd name="T8" fmla="*/ 22 w 45"/>
              <a:gd name="T9" fmla="*/ 97 h 97"/>
              <a:gd name="T10" fmla="*/ 38 w 45"/>
              <a:gd name="T11" fmla="*/ 96 h 97"/>
              <a:gd name="T12" fmla="*/ 38 w 45"/>
              <a:gd name="T13" fmla="*/ 34 h 97"/>
              <a:gd name="T14" fmla="*/ 45 w 45"/>
              <a:gd name="T15" fmla="*/ 18 h 97"/>
              <a:gd name="T16" fmla="*/ 45 w 45"/>
              <a:gd name="T17" fmla="*/ 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97">
                <a:moveTo>
                  <a:pt x="45" y="2"/>
                </a:moveTo>
                <a:cubicBezTo>
                  <a:pt x="42" y="1"/>
                  <a:pt x="39" y="1"/>
                  <a:pt x="37" y="0"/>
                </a:cubicBezTo>
                <a:cubicBezTo>
                  <a:pt x="22" y="0"/>
                  <a:pt x="22" y="0"/>
                  <a:pt x="22" y="0"/>
                </a:cubicBezTo>
                <a:cubicBezTo>
                  <a:pt x="0" y="95"/>
                  <a:pt x="0" y="95"/>
                  <a:pt x="0" y="95"/>
                </a:cubicBezTo>
                <a:cubicBezTo>
                  <a:pt x="7" y="96"/>
                  <a:pt x="14" y="97"/>
                  <a:pt x="22" y="97"/>
                </a:cubicBezTo>
                <a:cubicBezTo>
                  <a:pt x="27" y="97"/>
                  <a:pt x="33" y="97"/>
                  <a:pt x="38" y="96"/>
                </a:cubicBezTo>
                <a:cubicBezTo>
                  <a:pt x="38" y="34"/>
                  <a:pt x="38" y="34"/>
                  <a:pt x="38" y="34"/>
                </a:cubicBezTo>
                <a:cubicBezTo>
                  <a:pt x="38" y="28"/>
                  <a:pt x="40" y="22"/>
                  <a:pt x="45" y="18"/>
                </a:cubicBezTo>
                <a:lnTo>
                  <a:pt x="45" y="2"/>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j-ea"/>
              <a:ea typeface="+mj-ea"/>
            </a:endParaRPr>
          </a:p>
        </p:txBody>
      </p:sp>
      <p:sp>
        <p:nvSpPr>
          <p:cNvPr id="32" name="iś1ïďe">
            <a:extLst>
              <a:ext uri="{FF2B5EF4-FFF2-40B4-BE49-F238E27FC236}">
                <a16:creationId xmlns:a16="http://schemas.microsoft.com/office/drawing/2014/main" id="{EAB87206-01C4-4AE7-80A6-F1E196B5F2E0}"/>
              </a:ext>
            </a:extLst>
          </p:cNvPr>
          <p:cNvSpPr/>
          <p:nvPr/>
        </p:nvSpPr>
        <p:spPr bwMode="auto">
          <a:xfrm>
            <a:off x="9867891" y="4168310"/>
            <a:ext cx="628650" cy="1057277"/>
          </a:xfrm>
          <a:custGeom>
            <a:avLst/>
            <a:gdLst>
              <a:gd name="T0" fmla="*/ 0 w 45"/>
              <a:gd name="T1" fmla="*/ 2 h 76"/>
              <a:gd name="T2" fmla="*/ 0 w 45"/>
              <a:gd name="T3" fmla="*/ 18 h 76"/>
              <a:gd name="T4" fmla="*/ 6 w 45"/>
              <a:gd name="T5" fmla="*/ 34 h 76"/>
              <a:gd name="T6" fmla="*/ 6 w 45"/>
              <a:gd name="T7" fmla="*/ 76 h 76"/>
              <a:gd name="T8" fmla="*/ 45 w 45"/>
              <a:gd name="T9" fmla="*/ 0 h 76"/>
              <a:gd name="T10" fmla="*/ 8 w 45"/>
              <a:gd name="T11" fmla="*/ 0 h 76"/>
              <a:gd name="T12" fmla="*/ 0 w 45"/>
              <a:gd name="T13" fmla="*/ 2 h 76"/>
            </a:gdLst>
            <a:ahLst/>
            <a:cxnLst>
              <a:cxn ang="0">
                <a:pos x="T0" y="T1"/>
              </a:cxn>
              <a:cxn ang="0">
                <a:pos x="T2" y="T3"/>
              </a:cxn>
              <a:cxn ang="0">
                <a:pos x="T4" y="T5"/>
              </a:cxn>
              <a:cxn ang="0">
                <a:pos x="T6" y="T7"/>
              </a:cxn>
              <a:cxn ang="0">
                <a:pos x="T8" y="T9"/>
              </a:cxn>
              <a:cxn ang="0">
                <a:pos x="T10" y="T11"/>
              </a:cxn>
              <a:cxn ang="0">
                <a:pos x="T12" y="T13"/>
              </a:cxn>
            </a:cxnLst>
            <a:rect l="0" t="0" r="r" b="b"/>
            <a:pathLst>
              <a:path w="45" h="76">
                <a:moveTo>
                  <a:pt x="0" y="2"/>
                </a:moveTo>
                <a:cubicBezTo>
                  <a:pt x="0" y="18"/>
                  <a:pt x="0" y="18"/>
                  <a:pt x="0" y="18"/>
                </a:cubicBezTo>
                <a:cubicBezTo>
                  <a:pt x="4" y="22"/>
                  <a:pt x="6" y="28"/>
                  <a:pt x="6" y="34"/>
                </a:cubicBezTo>
                <a:cubicBezTo>
                  <a:pt x="6" y="76"/>
                  <a:pt x="6" y="76"/>
                  <a:pt x="6" y="76"/>
                </a:cubicBezTo>
                <a:cubicBezTo>
                  <a:pt x="29" y="58"/>
                  <a:pt x="44" y="31"/>
                  <a:pt x="45" y="0"/>
                </a:cubicBezTo>
                <a:cubicBezTo>
                  <a:pt x="8" y="0"/>
                  <a:pt x="8" y="0"/>
                  <a:pt x="8" y="0"/>
                </a:cubicBezTo>
                <a:cubicBezTo>
                  <a:pt x="5" y="1"/>
                  <a:pt x="2" y="1"/>
                  <a:pt x="0" y="2"/>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j-ea"/>
              <a:ea typeface="+mj-ea"/>
            </a:endParaRPr>
          </a:p>
        </p:txBody>
      </p:sp>
      <p:sp>
        <p:nvSpPr>
          <p:cNvPr id="33" name="ïŝ1íďê">
            <a:extLst>
              <a:ext uri="{FF2B5EF4-FFF2-40B4-BE49-F238E27FC236}">
                <a16:creationId xmlns:a16="http://schemas.microsoft.com/office/drawing/2014/main" id="{EB4A2447-E306-46DA-B3C3-3A191EC0D9B8}"/>
              </a:ext>
            </a:extLst>
          </p:cNvPr>
          <p:cNvSpPr/>
          <p:nvPr/>
        </p:nvSpPr>
        <p:spPr bwMode="auto">
          <a:xfrm>
            <a:off x="10166766" y="3849617"/>
            <a:ext cx="320675" cy="277813"/>
          </a:xfrm>
          <a:custGeom>
            <a:avLst/>
            <a:gdLst>
              <a:gd name="T0" fmla="*/ 0 w 23"/>
              <a:gd name="T1" fmla="*/ 20 h 20"/>
              <a:gd name="T2" fmla="*/ 23 w 23"/>
              <a:gd name="T3" fmla="*/ 20 h 20"/>
              <a:gd name="T4" fmla="*/ 19 w 23"/>
              <a:gd name="T5" fmla="*/ 0 h 20"/>
              <a:gd name="T6" fmla="*/ 0 w 23"/>
              <a:gd name="T7" fmla="*/ 20 h 20"/>
            </a:gdLst>
            <a:ahLst/>
            <a:cxnLst>
              <a:cxn ang="0">
                <a:pos x="T0" y="T1"/>
              </a:cxn>
              <a:cxn ang="0">
                <a:pos x="T2" y="T3"/>
              </a:cxn>
              <a:cxn ang="0">
                <a:pos x="T4" y="T5"/>
              </a:cxn>
              <a:cxn ang="0">
                <a:pos x="T6" y="T7"/>
              </a:cxn>
            </a:cxnLst>
            <a:rect l="0" t="0" r="r" b="b"/>
            <a:pathLst>
              <a:path w="23" h="20">
                <a:moveTo>
                  <a:pt x="0" y="20"/>
                </a:moveTo>
                <a:cubicBezTo>
                  <a:pt x="23" y="20"/>
                  <a:pt x="23" y="20"/>
                  <a:pt x="23" y="20"/>
                </a:cubicBezTo>
                <a:cubicBezTo>
                  <a:pt x="22" y="13"/>
                  <a:pt x="21" y="6"/>
                  <a:pt x="19" y="0"/>
                </a:cubicBezTo>
                <a:cubicBezTo>
                  <a:pt x="15" y="8"/>
                  <a:pt x="8" y="15"/>
                  <a:pt x="0" y="20"/>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j-ea"/>
              <a:ea typeface="+mj-ea"/>
            </a:endParaRPr>
          </a:p>
        </p:txBody>
      </p:sp>
      <p:sp>
        <p:nvSpPr>
          <p:cNvPr id="34" name="灯片编号占位符 3">
            <a:extLst>
              <a:ext uri="{FF2B5EF4-FFF2-40B4-BE49-F238E27FC236}">
                <a16:creationId xmlns:a16="http://schemas.microsoft.com/office/drawing/2014/main" id="{642E06C1-7054-4D12-A1D5-1E36A124DFCA}"/>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smtClean="0">
                <a:latin typeface="+mj-ea"/>
                <a:ea typeface="+mj-ea"/>
              </a:rPr>
              <a:pPr/>
              <a:t>46</a:t>
            </a:fld>
            <a:endParaRPr lang="zh-CN" altLang="en-US" dirty="0">
              <a:latin typeface="+mj-ea"/>
              <a:ea typeface="+mj-ea"/>
            </a:endParaRPr>
          </a:p>
        </p:txBody>
      </p:sp>
    </p:spTree>
    <p:extLst>
      <p:ext uri="{BB962C8B-B14F-4D97-AF65-F5344CB8AC3E}">
        <p14:creationId xmlns:p14="http://schemas.microsoft.com/office/powerpoint/2010/main" val="30817176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mj-ea"/>
              </a:rPr>
              <a:t>异常值分析</a:t>
            </a: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latin typeface="+mj-ea"/>
                <a:ea typeface="+mj-ea"/>
              </a:rPr>
              <a:pPr/>
              <a:t>47</a:t>
            </a:fld>
            <a:endParaRPr lang="zh-CN" altLang="en-US" dirty="0">
              <a:latin typeface="+mj-ea"/>
              <a:ea typeface="+mj-ea"/>
            </a:endParaRPr>
          </a:p>
        </p:txBody>
      </p:sp>
      <p:sp>
        <p:nvSpPr>
          <p:cNvPr id="5" name="Rectangle 47">
            <a:extLst>
              <a:ext uri="{FF2B5EF4-FFF2-40B4-BE49-F238E27FC236}">
                <a16:creationId xmlns:a16="http://schemas.microsoft.com/office/drawing/2014/main" id="{EBD7EA8C-8150-4D39-973C-B8267B8A5F94}"/>
              </a:ext>
            </a:extLst>
          </p:cNvPr>
          <p:cNvSpPr/>
          <p:nvPr/>
        </p:nvSpPr>
        <p:spPr>
          <a:xfrm>
            <a:off x="875478" y="1654910"/>
            <a:ext cx="10340474" cy="1966244"/>
          </a:xfrm>
          <a:prstGeom prst="rect">
            <a:avLst/>
          </a:prstGeom>
        </p:spPr>
        <p:txBody>
          <a:bodyPr wrap="square" lIns="0" tIns="0" rIns="0" bIns="0">
            <a:spAutoFit/>
          </a:bodyPr>
          <a:lstStyle/>
          <a:p>
            <a:pPr>
              <a:lnSpc>
                <a:spcPct val="120000"/>
              </a:lnSpc>
            </a:pPr>
            <a:r>
              <a:rPr lang="zh-CN" altLang="en-US" dirty="0">
                <a:latin typeface="+mj-ea"/>
                <a:ea typeface="+mj-ea"/>
              </a:rPr>
              <a:t>异常值可以分为两种类型：单变量和多变量。刚刚讲述的是单变量异常值的例子。当看到单个变量的分布时，可以找到这些异常值。多变量异常值是</a:t>
            </a:r>
            <a:r>
              <a:rPr lang="en-US" altLang="zh-CN" dirty="0">
                <a:latin typeface="+mj-ea"/>
                <a:ea typeface="+mj-ea"/>
              </a:rPr>
              <a:t>n</a:t>
            </a:r>
            <a:r>
              <a:rPr lang="zh-CN" altLang="en-US" dirty="0">
                <a:latin typeface="+mj-ea"/>
                <a:ea typeface="+mj-ea"/>
              </a:rPr>
              <a:t>维空间中的异常值，为了找到它们，必须通过多维度的分布情况来查看。</a:t>
            </a:r>
            <a:br>
              <a:rPr lang="zh-CN" altLang="en-US" dirty="0">
                <a:latin typeface="+mj-ea"/>
                <a:ea typeface="+mj-ea"/>
              </a:rPr>
            </a:br>
            <a:r>
              <a:rPr lang="zh-CN" altLang="en-US" dirty="0">
                <a:latin typeface="+mj-ea"/>
                <a:ea typeface="+mj-ea"/>
              </a:rPr>
              <a:t>举一个例子来理解这一点。如果要了解身高和体重之间的关系，下面的例子是身高，体重的单变量和双变量分布。通过观察箱线图，并不能找到任何异常值（高于和低于</a:t>
            </a:r>
            <a:r>
              <a:rPr lang="en-US" altLang="zh-CN" dirty="0">
                <a:latin typeface="+mj-ea"/>
                <a:ea typeface="+mj-ea"/>
              </a:rPr>
              <a:t>1.5 * IQR</a:t>
            </a:r>
            <a:r>
              <a:rPr lang="zh-CN" altLang="en-US" dirty="0">
                <a:latin typeface="+mj-ea"/>
                <a:ea typeface="+mj-ea"/>
              </a:rPr>
              <a:t>）。然后再看散点图，可以看出有两个样本在一个特定的身高和体重的平均值以下。</a:t>
            </a:r>
            <a:endParaRPr lang="en-US" altLang="zh-CN" sz="2000" dirty="0">
              <a:latin typeface="+mj-ea"/>
              <a:ea typeface="+mj-ea"/>
              <a:cs typeface="Arial" panose="020B0604020202020204" pitchFamily="34" charset="0"/>
            </a:endParaRPr>
          </a:p>
        </p:txBody>
      </p:sp>
      <p:sp>
        <p:nvSpPr>
          <p:cNvPr id="6" name="文本框 5">
            <a:extLst>
              <a:ext uri="{FF2B5EF4-FFF2-40B4-BE49-F238E27FC236}">
                <a16:creationId xmlns:a16="http://schemas.microsoft.com/office/drawing/2014/main" id="{5410E193-5FC4-428E-99DE-FA2957FC4CA8}"/>
              </a:ext>
            </a:extLst>
          </p:cNvPr>
          <p:cNvSpPr txBox="1"/>
          <p:nvPr/>
        </p:nvSpPr>
        <p:spPr>
          <a:xfrm>
            <a:off x="669925" y="1131732"/>
            <a:ext cx="3110864" cy="400110"/>
          </a:xfrm>
          <a:prstGeom prst="rect">
            <a:avLst/>
          </a:prstGeom>
          <a:noFill/>
        </p:spPr>
        <p:txBody>
          <a:bodyPr wrap="square" rtlCol="0">
            <a:spAutoFit/>
          </a:bodyPr>
          <a:lstStyle/>
          <a:p>
            <a:r>
              <a:rPr lang="zh-CN" altLang="en-US" sz="2000" b="1" dirty="0">
                <a:latin typeface="+mj-ea"/>
                <a:ea typeface="+mj-ea"/>
              </a:rPr>
              <a:t>异常值的类型有哪些？</a:t>
            </a:r>
          </a:p>
        </p:txBody>
      </p:sp>
      <p:pic>
        <p:nvPicPr>
          <p:cNvPr id="7" name="Picture 2" descr="https://images2017.cnblogs.com/blog/702365/201709/702365-20170905170607335-1699114510.jpg">
            <a:extLst>
              <a:ext uri="{FF2B5EF4-FFF2-40B4-BE49-F238E27FC236}">
                <a16:creationId xmlns:a16="http://schemas.microsoft.com/office/drawing/2014/main" id="{B18BD8D4-268B-4D04-B770-991FB4237C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569" y="3879529"/>
            <a:ext cx="10102861" cy="2567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2377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mj-ea"/>
              </a:rPr>
              <a:t>异常值分析</a:t>
            </a: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latin typeface="+mj-ea"/>
                <a:ea typeface="+mj-ea"/>
              </a:rPr>
              <a:pPr/>
              <a:t>48</a:t>
            </a:fld>
            <a:endParaRPr lang="zh-CN" altLang="en-US" dirty="0">
              <a:latin typeface="+mj-ea"/>
              <a:ea typeface="+mj-ea"/>
            </a:endParaRPr>
          </a:p>
        </p:txBody>
      </p:sp>
      <p:sp>
        <p:nvSpPr>
          <p:cNvPr id="5" name="文本框 4">
            <a:extLst>
              <a:ext uri="{FF2B5EF4-FFF2-40B4-BE49-F238E27FC236}">
                <a16:creationId xmlns:a16="http://schemas.microsoft.com/office/drawing/2014/main" id="{B64F7981-F9F8-489C-AB35-78E63482ADC8}"/>
              </a:ext>
            </a:extLst>
          </p:cNvPr>
          <p:cNvSpPr txBox="1"/>
          <p:nvPr/>
        </p:nvSpPr>
        <p:spPr>
          <a:xfrm>
            <a:off x="750944" y="1150423"/>
            <a:ext cx="2236510" cy="400110"/>
          </a:xfrm>
          <a:prstGeom prst="rect">
            <a:avLst/>
          </a:prstGeom>
          <a:noFill/>
        </p:spPr>
        <p:txBody>
          <a:bodyPr wrap="none" rtlCol="0">
            <a:spAutoFit/>
          </a:bodyPr>
          <a:lstStyle/>
          <a:p>
            <a:r>
              <a:rPr lang="zh-CN" altLang="en-US" sz="2000" b="1" dirty="0">
                <a:latin typeface="+mj-ea"/>
                <a:ea typeface="+mj-ea"/>
              </a:rPr>
              <a:t>怎么检测异常值？</a:t>
            </a:r>
          </a:p>
        </p:txBody>
      </p:sp>
      <p:sp>
        <p:nvSpPr>
          <p:cNvPr id="6" name="文本框 5">
            <a:extLst>
              <a:ext uri="{FF2B5EF4-FFF2-40B4-BE49-F238E27FC236}">
                <a16:creationId xmlns:a16="http://schemas.microsoft.com/office/drawing/2014/main" id="{85AD4139-1716-4EAD-8816-E7E6CF61A3E8}"/>
              </a:ext>
            </a:extLst>
          </p:cNvPr>
          <p:cNvSpPr txBox="1"/>
          <p:nvPr/>
        </p:nvSpPr>
        <p:spPr>
          <a:xfrm>
            <a:off x="750944" y="1736333"/>
            <a:ext cx="10530949" cy="646331"/>
          </a:xfrm>
          <a:prstGeom prst="rect">
            <a:avLst/>
          </a:prstGeom>
          <a:noFill/>
        </p:spPr>
        <p:txBody>
          <a:bodyPr wrap="square" rtlCol="0">
            <a:spAutoFit/>
          </a:bodyPr>
          <a:lstStyle/>
          <a:p>
            <a:r>
              <a:rPr lang="zh-CN" altLang="en-US" dirty="0">
                <a:latin typeface="+mj-ea"/>
                <a:ea typeface="+mj-ea"/>
              </a:rPr>
              <a:t>常用的异常值检测方法是将其可视化，有很多异常值可视化的工具例如箱线图、直方图、散点图（在上面我们使用了箱线图和散点图进行了可视化）。下面是一些比较好的异常值探索方法：</a:t>
            </a:r>
          </a:p>
        </p:txBody>
      </p:sp>
      <p:sp>
        <p:nvSpPr>
          <p:cNvPr id="7" name="文本框 6">
            <a:extLst>
              <a:ext uri="{FF2B5EF4-FFF2-40B4-BE49-F238E27FC236}">
                <a16:creationId xmlns:a16="http://schemas.microsoft.com/office/drawing/2014/main" id="{700E9780-52C9-4F53-90A1-7092BF5E62CE}"/>
              </a:ext>
            </a:extLst>
          </p:cNvPr>
          <p:cNvSpPr txBox="1"/>
          <p:nvPr/>
        </p:nvSpPr>
        <p:spPr>
          <a:xfrm>
            <a:off x="1123174" y="5279472"/>
            <a:ext cx="2996489" cy="400110"/>
          </a:xfrm>
          <a:prstGeom prst="rect">
            <a:avLst/>
          </a:prstGeom>
          <a:noFill/>
        </p:spPr>
        <p:txBody>
          <a:bodyPr wrap="square" rtlCol="0">
            <a:spAutoFit/>
          </a:bodyPr>
          <a:lstStyle>
            <a:defPPr>
              <a:defRPr lang="zh-CN"/>
            </a:defPPr>
            <a:lvl1pPr lvl="0" eaLnBrk="0" fontAlgn="base" hangingPunct="0">
              <a:spcBef>
                <a:spcPct val="0"/>
              </a:spcBef>
              <a:spcAft>
                <a:spcPct val="0"/>
              </a:spcAft>
              <a:buFontTx/>
              <a:buChar char="•"/>
              <a:defRPr>
                <a:solidFill>
                  <a:srgbClr val="333333"/>
                </a:solidFill>
                <a:latin typeface="Microsoft YaHei Light" panose="020B0502040204020203" pitchFamily="34" charset="-122"/>
                <a:ea typeface="Microsoft YaHei Light" panose="020B0502040204020203" pitchFamily="34" charset="-122"/>
              </a:defRPr>
            </a:lvl1pPr>
          </a:lstStyle>
          <a:p>
            <a:pPr>
              <a:buNone/>
            </a:pPr>
            <a:r>
              <a:rPr lang="zh-CN" altLang="zh-CN" sz="2000" dirty="0">
                <a:solidFill>
                  <a:schemeClr val="tx1"/>
                </a:solidFill>
                <a:latin typeface="+mj-ea"/>
                <a:ea typeface="+mj-ea"/>
                <a:cs typeface="Arial" panose="020B0604020202020204" pitchFamily="34" charset="0"/>
              </a:rPr>
              <a:t>简单统计分析：3σ原则</a:t>
            </a:r>
          </a:p>
        </p:txBody>
      </p:sp>
      <p:pic>
        <p:nvPicPr>
          <p:cNvPr id="8" name="图片 7">
            <a:extLst>
              <a:ext uri="{FF2B5EF4-FFF2-40B4-BE49-F238E27FC236}">
                <a16:creationId xmlns:a16="http://schemas.microsoft.com/office/drawing/2014/main" id="{006FB8BF-E1E1-4004-839B-35C2CE2CD9E2}"/>
              </a:ext>
            </a:extLst>
          </p:cNvPr>
          <p:cNvPicPr>
            <a:picLocks noChangeAspect="1"/>
          </p:cNvPicPr>
          <p:nvPr/>
        </p:nvPicPr>
        <p:blipFill>
          <a:blip r:embed="rId2"/>
          <a:stretch>
            <a:fillRect/>
          </a:stretch>
        </p:blipFill>
        <p:spPr>
          <a:xfrm>
            <a:off x="813976" y="2704443"/>
            <a:ext cx="3614886" cy="2222782"/>
          </a:xfrm>
          <a:prstGeom prst="rect">
            <a:avLst/>
          </a:prstGeom>
        </p:spPr>
      </p:pic>
      <p:pic>
        <p:nvPicPr>
          <p:cNvPr id="9" name="图片 8">
            <a:extLst>
              <a:ext uri="{FF2B5EF4-FFF2-40B4-BE49-F238E27FC236}">
                <a16:creationId xmlns:a16="http://schemas.microsoft.com/office/drawing/2014/main" id="{5D384902-6127-4638-8270-2C3DADFF1AD4}"/>
              </a:ext>
            </a:extLst>
          </p:cNvPr>
          <p:cNvPicPr>
            <a:picLocks noChangeAspect="1"/>
          </p:cNvPicPr>
          <p:nvPr/>
        </p:nvPicPr>
        <p:blipFill>
          <a:blip r:embed="rId3"/>
          <a:stretch>
            <a:fillRect/>
          </a:stretch>
        </p:blipFill>
        <p:spPr>
          <a:xfrm>
            <a:off x="7896981" y="2568464"/>
            <a:ext cx="3071392" cy="2705750"/>
          </a:xfrm>
          <a:prstGeom prst="rect">
            <a:avLst/>
          </a:prstGeom>
        </p:spPr>
      </p:pic>
      <p:sp>
        <p:nvSpPr>
          <p:cNvPr id="10" name="文本框 9">
            <a:extLst>
              <a:ext uri="{FF2B5EF4-FFF2-40B4-BE49-F238E27FC236}">
                <a16:creationId xmlns:a16="http://schemas.microsoft.com/office/drawing/2014/main" id="{7176CD21-6BB5-4E05-804A-CF98A19756E3}"/>
              </a:ext>
            </a:extLst>
          </p:cNvPr>
          <p:cNvSpPr txBox="1"/>
          <p:nvPr/>
        </p:nvSpPr>
        <p:spPr>
          <a:xfrm>
            <a:off x="8174356" y="5279472"/>
            <a:ext cx="2236510" cy="400110"/>
          </a:xfrm>
          <a:prstGeom prst="rect">
            <a:avLst/>
          </a:prstGeom>
          <a:noFill/>
        </p:spPr>
        <p:txBody>
          <a:bodyPr wrap="none" rtlCol="0">
            <a:spAutoFit/>
          </a:bodyPr>
          <a:lstStyle/>
          <a:p>
            <a:pPr>
              <a:buNone/>
            </a:pPr>
            <a:r>
              <a:rPr lang="zh-CN" altLang="zh-CN" sz="2000" dirty="0">
                <a:latin typeface="+mj-ea"/>
                <a:ea typeface="+mj-ea"/>
                <a:cs typeface="Arial" panose="020B0604020202020204" pitchFamily="34" charset="0"/>
              </a:rPr>
              <a:t>箱线图法：分位数</a:t>
            </a:r>
          </a:p>
        </p:txBody>
      </p:sp>
      <p:grpSp>
        <p:nvGrpSpPr>
          <p:cNvPr id="12" name="iśľîḓê">
            <a:extLst>
              <a:ext uri="{FF2B5EF4-FFF2-40B4-BE49-F238E27FC236}">
                <a16:creationId xmlns:a16="http://schemas.microsoft.com/office/drawing/2014/main" id="{6668905B-315D-49C8-A66D-95E26DA718CB}"/>
              </a:ext>
            </a:extLst>
          </p:cNvPr>
          <p:cNvGrpSpPr/>
          <p:nvPr/>
        </p:nvGrpSpPr>
        <p:grpSpPr>
          <a:xfrm>
            <a:off x="4087367" y="2984884"/>
            <a:ext cx="4134167" cy="2222782"/>
            <a:chOff x="2932618" y="1700808"/>
            <a:chExt cx="6343757" cy="3462098"/>
          </a:xfrm>
        </p:grpSpPr>
        <p:sp>
          <p:nvSpPr>
            <p:cNvPr id="21" name="isḷíḓê">
              <a:extLst>
                <a:ext uri="{FF2B5EF4-FFF2-40B4-BE49-F238E27FC236}">
                  <a16:creationId xmlns:a16="http://schemas.microsoft.com/office/drawing/2014/main" id="{4AFB1709-B423-4516-AC97-5DAA7A77DDB5}"/>
                </a:ext>
              </a:extLst>
            </p:cNvPr>
            <p:cNvSpPr/>
            <p:nvPr/>
          </p:nvSpPr>
          <p:spPr bwMode="auto">
            <a:xfrm flipH="1">
              <a:off x="4892821" y="1700808"/>
              <a:ext cx="1731647" cy="1731645"/>
            </a:xfrm>
            <a:custGeom>
              <a:avLst/>
              <a:gdLst>
                <a:gd name="T0" fmla="*/ 2905 w 2905"/>
                <a:gd name="T1" fmla="*/ 0 h 2903"/>
                <a:gd name="T2" fmla="*/ 2830 w 2905"/>
                <a:gd name="T3" fmla="*/ 0 h 2903"/>
                <a:gd name="T4" fmla="*/ 2681 w 2905"/>
                <a:gd name="T5" fmla="*/ 7 h 2903"/>
                <a:gd name="T6" fmla="*/ 2535 w 2905"/>
                <a:gd name="T7" fmla="*/ 22 h 2903"/>
                <a:gd name="T8" fmla="*/ 2390 w 2905"/>
                <a:gd name="T9" fmla="*/ 44 h 2903"/>
                <a:gd name="T10" fmla="*/ 2249 w 2905"/>
                <a:gd name="T11" fmla="*/ 73 h 2903"/>
                <a:gd name="T12" fmla="*/ 2110 w 2905"/>
                <a:gd name="T13" fmla="*/ 110 h 2903"/>
                <a:gd name="T14" fmla="*/ 1973 w 2905"/>
                <a:gd name="T15" fmla="*/ 152 h 2903"/>
                <a:gd name="T16" fmla="*/ 1839 w 2905"/>
                <a:gd name="T17" fmla="*/ 201 h 2903"/>
                <a:gd name="T18" fmla="*/ 1709 w 2905"/>
                <a:gd name="T19" fmla="*/ 256 h 2903"/>
                <a:gd name="T20" fmla="*/ 1583 w 2905"/>
                <a:gd name="T21" fmla="*/ 317 h 2903"/>
                <a:gd name="T22" fmla="*/ 1460 w 2905"/>
                <a:gd name="T23" fmla="*/ 385 h 2903"/>
                <a:gd name="T24" fmla="*/ 1339 w 2905"/>
                <a:gd name="T25" fmla="*/ 456 h 2903"/>
                <a:gd name="T26" fmla="*/ 1224 w 2905"/>
                <a:gd name="T27" fmla="*/ 535 h 2903"/>
                <a:gd name="T28" fmla="*/ 1112 w 2905"/>
                <a:gd name="T29" fmla="*/ 619 h 2903"/>
                <a:gd name="T30" fmla="*/ 1004 w 2905"/>
                <a:gd name="T31" fmla="*/ 707 h 2903"/>
                <a:gd name="T32" fmla="*/ 901 w 2905"/>
                <a:gd name="T33" fmla="*/ 800 h 2903"/>
                <a:gd name="T34" fmla="*/ 802 w 2905"/>
                <a:gd name="T35" fmla="*/ 899 h 2903"/>
                <a:gd name="T36" fmla="*/ 709 w 2905"/>
                <a:gd name="T37" fmla="*/ 1004 h 2903"/>
                <a:gd name="T38" fmla="*/ 621 w 2905"/>
                <a:gd name="T39" fmla="*/ 1110 h 2903"/>
                <a:gd name="T40" fmla="*/ 537 w 2905"/>
                <a:gd name="T41" fmla="*/ 1222 h 2903"/>
                <a:gd name="T42" fmla="*/ 458 w 2905"/>
                <a:gd name="T43" fmla="*/ 1339 h 2903"/>
                <a:gd name="T44" fmla="*/ 385 w 2905"/>
                <a:gd name="T45" fmla="*/ 1458 h 2903"/>
                <a:gd name="T46" fmla="*/ 319 w 2905"/>
                <a:gd name="T47" fmla="*/ 1581 h 2903"/>
                <a:gd name="T48" fmla="*/ 257 w 2905"/>
                <a:gd name="T49" fmla="*/ 1709 h 2903"/>
                <a:gd name="T50" fmla="*/ 202 w 2905"/>
                <a:gd name="T51" fmla="*/ 1839 h 2903"/>
                <a:gd name="T52" fmla="*/ 154 w 2905"/>
                <a:gd name="T53" fmla="*/ 1973 h 2903"/>
                <a:gd name="T54" fmla="*/ 112 w 2905"/>
                <a:gd name="T55" fmla="*/ 2108 h 2903"/>
                <a:gd name="T56" fmla="*/ 75 w 2905"/>
                <a:gd name="T57" fmla="*/ 2247 h 2903"/>
                <a:gd name="T58" fmla="*/ 46 w 2905"/>
                <a:gd name="T59" fmla="*/ 2388 h 2903"/>
                <a:gd name="T60" fmla="*/ 24 w 2905"/>
                <a:gd name="T61" fmla="*/ 2533 h 2903"/>
                <a:gd name="T62" fmla="*/ 9 w 2905"/>
                <a:gd name="T63" fmla="*/ 2680 h 2903"/>
                <a:gd name="T64" fmla="*/ 2 w 2905"/>
                <a:gd name="T65" fmla="*/ 2828 h 2903"/>
                <a:gd name="T66" fmla="*/ 1744 w 2905"/>
                <a:gd name="T67" fmla="*/ 2903 h 2903"/>
                <a:gd name="T68" fmla="*/ 1744 w 2905"/>
                <a:gd name="T69" fmla="*/ 2843 h 2903"/>
                <a:gd name="T70" fmla="*/ 1757 w 2905"/>
                <a:gd name="T71" fmla="*/ 2725 h 2903"/>
                <a:gd name="T72" fmla="*/ 1780 w 2905"/>
                <a:gd name="T73" fmla="*/ 2614 h 2903"/>
                <a:gd name="T74" fmla="*/ 1813 w 2905"/>
                <a:gd name="T75" fmla="*/ 2504 h 2903"/>
                <a:gd name="T76" fmla="*/ 1857 w 2905"/>
                <a:gd name="T77" fmla="*/ 2399 h 2903"/>
                <a:gd name="T78" fmla="*/ 1910 w 2905"/>
                <a:gd name="T79" fmla="*/ 2300 h 2903"/>
                <a:gd name="T80" fmla="*/ 1974 w 2905"/>
                <a:gd name="T81" fmla="*/ 2209 h 2903"/>
                <a:gd name="T82" fmla="*/ 2044 w 2905"/>
                <a:gd name="T83" fmla="*/ 2123 h 2903"/>
                <a:gd name="T84" fmla="*/ 2123 w 2905"/>
                <a:gd name="T85" fmla="*/ 2044 h 2903"/>
                <a:gd name="T86" fmla="*/ 2209 w 2905"/>
                <a:gd name="T87" fmla="*/ 1973 h 2903"/>
                <a:gd name="T88" fmla="*/ 2302 w 2905"/>
                <a:gd name="T89" fmla="*/ 1910 h 2903"/>
                <a:gd name="T90" fmla="*/ 2401 w 2905"/>
                <a:gd name="T91" fmla="*/ 1855 h 2903"/>
                <a:gd name="T92" fmla="*/ 2506 w 2905"/>
                <a:gd name="T93" fmla="*/ 1811 h 2903"/>
                <a:gd name="T94" fmla="*/ 2614 w 2905"/>
                <a:gd name="T95" fmla="*/ 1778 h 2903"/>
                <a:gd name="T96" fmla="*/ 2727 w 2905"/>
                <a:gd name="T97" fmla="*/ 1755 h 2903"/>
                <a:gd name="T98" fmla="*/ 2844 w 2905"/>
                <a:gd name="T99" fmla="*/ 1744 h 2903"/>
                <a:gd name="T100" fmla="*/ 2905 w 2905"/>
                <a:gd name="T101" fmla="*/ 1742 h 2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05" h="2903">
                  <a:moveTo>
                    <a:pt x="2905" y="1742"/>
                  </a:moveTo>
                  <a:lnTo>
                    <a:pt x="2905" y="0"/>
                  </a:lnTo>
                  <a:lnTo>
                    <a:pt x="2905" y="0"/>
                  </a:lnTo>
                  <a:lnTo>
                    <a:pt x="2830" y="0"/>
                  </a:lnTo>
                  <a:lnTo>
                    <a:pt x="2755" y="4"/>
                  </a:lnTo>
                  <a:lnTo>
                    <a:pt x="2681" y="7"/>
                  </a:lnTo>
                  <a:lnTo>
                    <a:pt x="2608" y="15"/>
                  </a:lnTo>
                  <a:lnTo>
                    <a:pt x="2535" y="22"/>
                  </a:lnTo>
                  <a:lnTo>
                    <a:pt x="2462" y="33"/>
                  </a:lnTo>
                  <a:lnTo>
                    <a:pt x="2390" y="44"/>
                  </a:lnTo>
                  <a:lnTo>
                    <a:pt x="2319" y="59"/>
                  </a:lnTo>
                  <a:lnTo>
                    <a:pt x="2249" y="73"/>
                  </a:lnTo>
                  <a:lnTo>
                    <a:pt x="2180" y="92"/>
                  </a:lnTo>
                  <a:lnTo>
                    <a:pt x="2110" y="110"/>
                  </a:lnTo>
                  <a:lnTo>
                    <a:pt x="2040" y="130"/>
                  </a:lnTo>
                  <a:lnTo>
                    <a:pt x="1973" y="152"/>
                  </a:lnTo>
                  <a:lnTo>
                    <a:pt x="1907" y="176"/>
                  </a:lnTo>
                  <a:lnTo>
                    <a:pt x="1839" y="201"/>
                  </a:lnTo>
                  <a:lnTo>
                    <a:pt x="1775" y="227"/>
                  </a:lnTo>
                  <a:lnTo>
                    <a:pt x="1709" y="256"/>
                  </a:lnTo>
                  <a:lnTo>
                    <a:pt x="1645" y="286"/>
                  </a:lnTo>
                  <a:lnTo>
                    <a:pt x="1583" y="317"/>
                  </a:lnTo>
                  <a:lnTo>
                    <a:pt x="1520" y="350"/>
                  </a:lnTo>
                  <a:lnTo>
                    <a:pt x="1460" y="385"/>
                  </a:lnTo>
                  <a:lnTo>
                    <a:pt x="1399" y="419"/>
                  </a:lnTo>
                  <a:lnTo>
                    <a:pt x="1339" y="456"/>
                  </a:lnTo>
                  <a:lnTo>
                    <a:pt x="1280" y="495"/>
                  </a:lnTo>
                  <a:lnTo>
                    <a:pt x="1224" y="535"/>
                  </a:lnTo>
                  <a:lnTo>
                    <a:pt x="1167" y="577"/>
                  </a:lnTo>
                  <a:lnTo>
                    <a:pt x="1112" y="619"/>
                  </a:lnTo>
                  <a:lnTo>
                    <a:pt x="1057" y="663"/>
                  </a:lnTo>
                  <a:lnTo>
                    <a:pt x="1004" y="707"/>
                  </a:lnTo>
                  <a:lnTo>
                    <a:pt x="953" y="755"/>
                  </a:lnTo>
                  <a:lnTo>
                    <a:pt x="901" y="800"/>
                  </a:lnTo>
                  <a:lnTo>
                    <a:pt x="852" y="850"/>
                  </a:lnTo>
                  <a:lnTo>
                    <a:pt x="802" y="899"/>
                  </a:lnTo>
                  <a:lnTo>
                    <a:pt x="755" y="951"/>
                  </a:lnTo>
                  <a:lnTo>
                    <a:pt x="709" y="1004"/>
                  </a:lnTo>
                  <a:lnTo>
                    <a:pt x="663" y="1057"/>
                  </a:lnTo>
                  <a:lnTo>
                    <a:pt x="621" y="1110"/>
                  </a:lnTo>
                  <a:lnTo>
                    <a:pt x="577" y="1165"/>
                  </a:lnTo>
                  <a:lnTo>
                    <a:pt x="537" y="1222"/>
                  </a:lnTo>
                  <a:lnTo>
                    <a:pt x="497" y="1280"/>
                  </a:lnTo>
                  <a:lnTo>
                    <a:pt x="458" y="1339"/>
                  </a:lnTo>
                  <a:lnTo>
                    <a:pt x="422" y="1397"/>
                  </a:lnTo>
                  <a:lnTo>
                    <a:pt x="385" y="1458"/>
                  </a:lnTo>
                  <a:lnTo>
                    <a:pt x="352" y="1518"/>
                  </a:lnTo>
                  <a:lnTo>
                    <a:pt x="319" y="1581"/>
                  </a:lnTo>
                  <a:lnTo>
                    <a:pt x="288" y="1645"/>
                  </a:lnTo>
                  <a:lnTo>
                    <a:pt x="257" y="1709"/>
                  </a:lnTo>
                  <a:lnTo>
                    <a:pt x="229" y="1773"/>
                  </a:lnTo>
                  <a:lnTo>
                    <a:pt x="202" y="1839"/>
                  </a:lnTo>
                  <a:lnTo>
                    <a:pt x="178" y="1905"/>
                  </a:lnTo>
                  <a:lnTo>
                    <a:pt x="154" y="1973"/>
                  </a:lnTo>
                  <a:lnTo>
                    <a:pt x="132" y="2040"/>
                  </a:lnTo>
                  <a:lnTo>
                    <a:pt x="112" y="2108"/>
                  </a:lnTo>
                  <a:lnTo>
                    <a:pt x="92" y="2178"/>
                  </a:lnTo>
                  <a:lnTo>
                    <a:pt x="75" y="2247"/>
                  </a:lnTo>
                  <a:lnTo>
                    <a:pt x="61" y="2319"/>
                  </a:lnTo>
                  <a:lnTo>
                    <a:pt x="46" y="2388"/>
                  </a:lnTo>
                  <a:lnTo>
                    <a:pt x="35" y="2462"/>
                  </a:lnTo>
                  <a:lnTo>
                    <a:pt x="24" y="2533"/>
                  </a:lnTo>
                  <a:lnTo>
                    <a:pt x="17" y="2606"/>
                  </a:lnTo>
                  <a:lnTo>
                    <a:pt x="9" y="2680"/>
                  </a:lnTo>
                  <a:lnTo>
                    <a:pt x="4" y="2753"/>
                  </a:lnTo>
                  <a:lnTo>
                    <a:pt x="2" y="2828"/>
                  </a:lnTo>
                  <a:lnTo>
                    <a:pt x="0" y="2903"/>
                  </a:lnTo>
                  <a:lnTo>
                    <a:pt x="1744" y="2903"/>
                  </a:lnTo>
                  <a:lnTo>
                    <a:pt x="1744" y="2903"/>
                  </a:lnTo>
                  <a:lnTo>
                    <a:pt x="1744" y="2843"/>
                  </a:lnTo>
                  <a:lnTo>
                    <a:pt x="1749" y="2784"/>
                  </a:lnTo>
                  <a:lnTo>
                    <a:pt x="1757" y="2725"/>
                  </a:lnTo>
                  <a:lnTo>
                    <a:pt x="1766" y="2669"/>
                  </a:lnTo>
                  <a:lnTo>
                    <a:pt x="1780" y="2614"/>
                  </a:lnTo>
                  <a:lnTo>
                    <a:pt x="1795" y="2557"/>
                  </a:lnTo>
                  <a:lnTo>
                    <a:pt x="1813" y="2504"/>
                  </a:lnTo>
                  <a:lnTo>
                    <a:pt x="1833" y="2451"/>
                  </a:lnTo>
                  <a:lnTo>
                    <a:pt x="1857" y="2399"/>
                  </a:lnTo>
                  <a:lnTo>
                    <a:pt x="1883" y="2350"/>
                  </a:lnTo>
                  <a:lnTo>
                    <a:pt x="1910" y="2300"/>
                  </a:lnTo>
                  <a:lnTo>
                    <a:pt x="1941" y="2253"/>
                  </a:lnTo>
                  <a:lnTo>
                    <a:pt x="1974" y="2209"/>
                  </a:lnTo>
                  <a:lnTo>
                    <a:pt x="2007" y="2165"/>
                  </a:lnTo>
                  <a:lnTo>
                    <a:pt x="2044" y="2123"/>
                  </a:lnTo>
                  <a:lnTo>
                    <a:pt x="2082" y="2082"/>
                  </a:lnTo>
                  <a:lnTo>
                    <a:pt x="2123" y="2044"/>
                  </a:lnTo>
                  <a:lnTo>
                    <a:pt x="2165" y="2007"/>
                  </a:lnTo>
                  <a:lnTo>
                    <a:pt x="2209" y="1973"/>
                  </a:lnTo>
                  <a:lnTo>
                    <a:pt x="2255" y="1940"/>
                  </a:lnTo>
                  <a:lnTo>
                    <a:pt x="2302" y="1910"/>
                  </a:lnTo>
                  <a:lnTo>
                    <a:pt x="2350" y="1881"/>
                  </a:lnTo>
                  <a:lnTo>
                    <a:pt x="2401" y="1855"/>
                  </a:lnTo>
                  <a:lnTo>
                    <a:pt x="2452" y="1833"/>
                  </a:lnTo>
                  <a:lnTo>
                    <a:pt x="2506" y="1811"/>
                  </a:lnTo>
                  <a:lnTo>
                    <a:pt x="2559" y="1793"/>
                  </a:lnTo>
                  <a:lnTo>
                    <a:pt x="2614" y="1778"/>
                  </a:lnTo>
                  <a:lnTo>
                    <a:pt x="2670" y="1766"/>
                  </a:lnTo>
                  <a:lnTo>
                    <a:pt x="2727" y="1755"/>
                  </a:lnTo>
                  <a:lnTo>
                    <a:pt x="2786" y="1747"/>
                  </a:lnTo>
                  <a:lnTo>
                    <a:pt x="2844" y="1744"/>
                  </a:lnTo>
                  <a:lnTo>
                    <a:pt x="2905" y="1742"/>
                  </a:lnTo>
                  <a:lnTo>
                    <a:pt x="2905" y="1742"/>
                  </a:lnTo>
                  <a:close/>
                </a:path>
              </a:pathLst>
            </a:custGeom>
            <a:solidFill>
              <a:schemeClr val="tx2">
                <a:lumMod val="20000"/>
                <a:lumOff val="80000"/>
                <a:alpha val="40000"/>
              </a:schemeClr>
            </a:solidFill>
            <a:ln>
              <a:noFill/>
            </a:ln>
          </p:spPr>
          <p:txBody>
            <a:bodyPr anchor="ctr"/>
            <a:lstStyle/>
            <a:p>
              <a:pPr algn="ctr"/>
              <a:endParaRPr>
                <a:latin typeface="+mj-ea"/>
                <a:ea typeface="+mj-ea"/>
              </a:endParaRPr>
            </a:p>
          </p:txBody>
        </p:sp>
        <p:sp>
          <p:nvSpPr>
            <p:cNvPr id="22" name="íṡliḓe">
              <a:extLst>
                <a:ext uri="{FF2B5EF4-FFF2-40B4-BE49-F238E27FC236}">
                  <a16:creationId xmlns:a16="http://schemas.microsoft.com/office/drawing/2014/main" id="{C1E5F675-0A26-4438-880B-4ED581E127CB}"/>
                </a:ext>
              </a:extLst>
            </p:cNvPr>
            <p:cNvSpPr/>
            <p:nvPr/>
          </p:nvSpPr>
          <p:spPr bwMode="auto">
            <a:xfrm flipH="1">
              <a:off x="3161174" y="1700808"/>
              <a:ext cx="1731647" cy="1731645"/>
            </a:xfrm>
            <a:custGeom>
              <a:avLst/>
              <a:gdLst>
                <a:gd name="T0" fmla="*/ 0 w 2902"/>
                <a:gd name="T1" fmla="*/ 1742 h 2903"/>
                <a:gd name="T2" fmla="*/ 58 w 2902"/>
                <a:gd name="T3" fmla="*/ 1744 h 2903"/>
                <a:gd name="T4" fmla="*/ 176 w 2902"/>
                <a:gd name="T5" fmla="*/ 1755 h 2903"/>
                <a:gd name="T6" fmla="*/ 289 w 2902"/>
                <a:gd name="T7" fmla="*/ 1778 h 2903"/>
                <a:gd name="T8" fmla="*/ 399 w 2902"/>
                <a:gd name="T9" fmla="*/ 1811 h 2903"/>
                <a:gd name="T10" fmla="*/ 503 w 2902"/>
                <a:gd name="T11" fmla="*/ 1855 h 2903"/>
                <a:gd name="T12" fmla="*/ 602 w 2902"/>
                <a:gd name="T13" fmla="*/ 1910 h 2903"/>
                <a:gd name="T14" fmla="*/ 694 w 2902"/>
                <a:gd name="T15" fmla="*/ 1973 h 2903"/>
                <a:gd name="T16" fmla="*/ 780 w 2902"/>
                <a:gd name="T17" fmla="*/ 2044 h 2903"/>
                <a:gd name="T18" fmla="*/ 859 w 2902"/>
                <a:gd name="T19" fmla="*/ 2123 h 2903"/>
                <a:gd name="T20" fmla="*/ 930 w 2902"/>
                <a:gd name="T21" fmla="*/ 2209 h 2903"/>
                <a:gd name="T22" fmla="*/ 992 w 2902"/>
                <a:gd name="T23" fmla="*/ 2300 h 2903"/>
                <a:gd name="T24" fmla="*/ 1045 w 2902"/>
                <a:gd name="T25" fmla="*/ 2399 h 2903"/>
                <a:gd name="T26" fmla="*/ 1089 w 2902"/>
                <a:gd name="T27" fmla="*/ 2504 h 2903"/>
                <a:gd name="T28" fmla="*/ 1124 w 2902"/>
                <a:gd name="T29" fmla="*/ 2614 h 2903"/>
                <a:gd name="T30" fmla="*/ 1148 w 2902"/>
                <a:gd name="T31" fmla="*/ 2725 h 2903"/>
                <a:gd name="T32" fmla="*/ 1159 w 2902"/>
                <a:gd name="T33" fmla="*/ 2843 h 2903"/>
                <a:gd name="T34" fmla="*/ 2902 w 2902"/>
                <a:gd name="T35" fmla="*/ 2903 h 2903"/>
                <a:gd name="T36" fmla="*/ 2900 w 2902"/>
                <a:gd name="T37" fmla="*/ 2828 h 2903"/>
                <a:gd name="T38" fmla="*/ 2893 w 2902"/>
                <a:gd name="T39" fmla="*/ 2680 h 2903"/>
                <a:gd name="T40" fmla="*/ 2879 w 2902"/>
                <a:gd name="T41" fmla="*/ 2533 h 2903"/>
                <a:gd name="T42" fmla="*/ 2857 w 2902"/>
                <a:gd name="T43" fmla="*/ 2388 h 2903"/>
                <a:gd name="T44" fmla="*/ 2827 w 2902"/>
                <a:gd name="T45" fmla="*/ 2247 h 2903"/>
                <a:gd name="T46" fmla="*/ 2792 w 2902"/>
                <a:gd name="T47" fmla="*/ 2108 h 2903"/>
                <a:gd name="T48" fmla="*/ 2750 w 2902"/>
                <a:gd name="T49" fmla="*/ 1973 h 2903"/>
                <a:gd name="T50" fmla="*/ 2701 w 2902"/>
                <a:gd name="T51" fmla="*/ 1839 h 2903"/>
                <a:gd name="T52" fmla="*/ 2646 w 2902"/>
                <a:gd name="T53" fmla="*/ 1709 h 2903"/>
                <a:gd name="T54" fmla="*/ 2586 w 2902"/>
                <a:gd name="T55" fmla="*/ 1581 h 2903"/>
                <a:gd name="T56" fmla="*/ 2518 w 2902"/>
                <a:gd name="T57" fmla="*/ 1458 h 2903"/>
                <a:gd name="T58" fmla="*/ 2445 w 2902"/>
                <a:gd name="T59" fmla="*/ 1339 h 2903"/>
                <a:gd name="T60" fmla="*/ 2368 w 2902"/>
                <a:gd name="T61" fmla="*/ 1222 h 2903"/>
                <a:gd name="T62" fmla="*/ 2283 w 2902"/>
                <a:gd name="T63" fmla="*/ 1110 h 2903"/>
                <a:gd name="T64" fmla="*/ 2194 w 2902"/>
                <a:gd name="T65" fmla="*/ 1004 h 2903"/>
                <a:gd name="T66" fmla="*/ 2100 w 2902"/>
                <a:gd name="T67" fmla="*/ 899 h 2903"/>
                <a:gd name="T68" fmla="*/ 2001 w 2902"/>
                <a:gd name="T69" fmla="*/ 800 h 2903"/>
                <a:gd name="T70" fmla="*/ 1899 w 2902"/>
                <a:gd name="T71" fmla="*/ 707 h 2903"/>
                <a:gd name="T72" fmla="*/ 1791 w 2902"/>
                <a:gd name="T73" fmla="*/ 619 h 2903"/>
                <a:gd name="T74" fmla="*/ 1679 w 2902"/>
                <a:gd name="T75" fmla="*/ 535 h 2903"/>
                <a:gd name="T76" fmla="*/ 1564 w 2902"/>
                <a:gd name="T77" fmla="*/ 456 h 2903"/>
                <a:gd name="T78" fmla="*/ 1445 w 2902"/>
                <a:gd name="T79" fmla="*/ 385 h 2903"/>
                <a:gd name="T80" fmla="*/ 1320 w 2902"/>
                <a:gd name="T81" fmla="*/ 317 h 2903"/>
                <a:gd name="T82" fmla="*/ 1194 w 2902"/>
                <a:gd name="T83" fmla="*/ 256 h 2903"/>
                <a:gd name="T84" fmla="*/ 1064 w 2902"/>
                <a:gd name="T85" fmla="*/ 201 h 2903"/>
                <a:gd name="T86" fmla="*/ 930 w 2902"/>
                <a:gd name="T87" fmla="*/ 152 h 2903"/>
                <a:gd name="T88" fmla="*/ 795 w 2902"/>
                <a:gd name="T89" fmla="*/ 110 h 2903"/>
                <a:gd name="T90" fmla="*/ 655 w 2902"/>
                <a:gd name="T91" fmla="*/ 73 h 2903"/>
                <a:gd name="T92" fmla="*/ 512 w 2902"/>
                <a:gd name="T93" fmla="*/ 44 h 2903"/>
                <a:gd name="T94" fmla="*/ 370 w 2902"/>
                <a:gd name="T95" fmla="*/ 22 h 2903"/>
                <a:gd name="T96" fmla="*/ 223 w 2902"/>
                <a:gd name="T97" fmla="*/ 7 h 2903"/>
                <a:gd name="T98" fmla="*/ 75 w 2902"/>
                <a:gd name="T99" fmla="*/ 0 h 2903"/>
                <a:gd name="T100" fmla="*/ 0 w 2902"/>
                <a:gd name="T101" fmla="*/ 0 h 2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02" h="2903">
                  <a:moveTo>
                    <a:pt x="0" y="0"/>
                  </a:moveTo>
                  <a:lnTo>
                    <a:pt x="0" y="1742"/>
                  </a:lnTo>
                  <a:lnTo>
                    <a:pt x="0" y="1742"/>
                  </a:lnTo>
                  <a:lnTo>
                    <a:pt x="58" y="1744"/>
                  </a:lnTo>
                  <a:lnTo>
                    <a:pt x="119" y="1747"/>
                  </a:lnTo>
                  <a:lnTo>
                    <a:pt x="176" y="1755"/>
                  </a:lnTo>
                  <a:lnTo>
                    <a:pt x="232" y="1766"/>
                  </a:lnTo>
                  <a:lnTo>
                    <a:pt x="289" y="1778"/>
                  </a:lnTo>
                  <a:lnTo>
                    <a:pt x="344" y="1793"/>
                  </a:lnTo>
                  <a:lnTo>
                    <a:pt x="399" y="1811"/>
                  </a:lnTo>
                  <a:lnTo>
                    <a:pt x="452" y="1833"/>
                  </a:lnTo>
                  <a:lnTo>
                    <a:pt x="503" y="1855"/>
                  </a:lnTo>
                  <a:lnTo>
                    <a:pt x="553" y="1881"/>
                  </a:lnTo>
                  <a:lnTo>
                    <a:pt x="602" y="1910"/>
                  </a:lnTo>
                  <a:lnTo>
                    <a:pt x="648" y="1940"/>
                  </a:lnTo>
                  <a:lnTo>
                    <a:pt x="694" y="1973"/>
                  </a:lnTo>
                  <a:lnTo>
                    <a:pt x="738" y="2007"/>
                  </a:lnTo>
                  <a:lnTo>
                    <a:pt x="780" y="2044"/>
                  </a:lnTo>
                  <a:lnTo>
                    <a:pt x="820" y="2082"/>
                  </a:lnTo>
                  <a:lnTo>
                    <a:pt x="859" y="2123"/>
                  </a:lnTo>
                  <a:lnTo>
                    <a:pt x="895" y="2165"/>
                  </a:lnTo>
                  <a:lnTo>
                    <a:pt x="930" y="2209"/>
                  </a:lnTo>
                  <a:lnTo>
                    <a:pt x="963" y="2253"/>
                  </a:lnTo>
                  <a:lnTo>
                    <a:pt x="992" y="2300"/>
                  </a:lnTo>
                  <a:lnTo>
                    <a:pt x="1020" y="2350"/>
                  </a:lnTo>
                  <a:lnTo>
                    <a:pt x="1045" y="2399"/>
                  </a:lnTo>
                  <a:lnTo>
                    <a:pt x="1069" y="2451"/>
                  </a:lnTo>
                  <a:lnTo>
                    <a:pt x="1089" y="2504"/>
                  </a:lnTo>
                  <a:lnTo>
                    <a:pt x="1108" y="2557"/>
                  </a:lnTo>
                  <a:lnTo>
                    <a:pt x="1124" y="2614"/>
                  </a:lnTo>
                  <a:lnTo>
                    <a:pt x="1137" y="2669"/>
                  </a:lnTo>
                  <a:lnTo>
                    <a:pt x="1148" y="2725"/>
                  </a:lnTo>
                  <a:lnTo>
                    <a:pt x="1155" y="2784"/>
                  </a:lnTo>
                  <a:lnTo>
                    <a:pt x="1159" y="2843"/>
                  </a:lnTo>
                  <a:lnTo>
                    <a:pt x="1161" y="2903"/>
                  </a:lnTo>
                  <a:lnTo>
                    <a:pt x="2902" y="2903"/>
                  </a:lnTo>
                  <a:lnTo>
                    <a:pt x="2902" y="2903"/>
                  </a:lnTo>
                  <a:lnTo>
                    <a:pt x="2900" y="2828"/>
                  </a:lnTo>
                  <a:lnTo>
                    <a:pt x="2899" y="2753"/>
                  </a:lnTo>
                  <a:lnTo>
                    <a:pt x="2893" y="2680"/>
                  </a:lnTo>
                  <a:lnTo>
                    <a:pt x="2888" y="2606"/>
                  </a:lnTo>
                  <a:lnTo>
                    <a:pt x="2879" y="2533"/>
                  </a:lnTo>
                  <a:lnTo>
                    <a:pt x="2869" y="2462"/>
                  </a:lnTo>
                  <a:lnTo>
                    <a:pt x="2857" y="2388"/>
                  </a:lnTo>
                  <a:lnTo>
                    <a:pt x="2844" y="2319"/>
                  </a:lnTo>
                  <a:lnTo>
                    <a:pt x="2827" y="2247"/>
                  </a:lnTo>
                  <a:lnTo>
                    <a:pt x="2811" y="2178"/>
                  </a:lnTo>
                  <a:lnTo>
                    <a:pt x="2792" y="2108"/>
                  </a:lnTo>
                  <a:lnTo>
                    <a:pt x="2772" y="2040"/>
                  </a:lnTo>
                  <a:lnTo>
                    <a:pt x="2750" y="1973"/>
                  </a:lnTo>
                  <a:lnTo>
                    <a:pt x="2727" y="1905"/>
                  </a:lnTo>
                  <a:lnTo>
                    <a:pt x="2701" y="1839"/>
                  </a:lnTo>
                  <a:lnTo>
                    <a:pt x="2673" y="1773"/>
                  </a:lnTo>
                  <a:lnTo>
                    <a:pt x="2646" y="1709"/>
                  </a:lnTo>
                  <a:lnTo>
                    <a:pt x="2617" y="1645"/>
                  </a:lnTo>
                  <a:lnTo>
                    <a:pt x="2586" y="1581"/>
                  </a:lnTo>
                  <a:lnTo>
                    <a:pt x="2553" y="1518"/>
                  </a:lnTo>
                  <a:lnTo>
                    <a:pt x="2518" y="1458"/>
                  </a:lnTo>
                  <a:lnTo>
                    <a:pt x="2481" y="1397"/>
                  </a:lnTo>
                  <a:lnTo>
                    <a:pt x="2445" y="1339"/>
                  </a:lnTo>
                  <a:lnTo>
                    <a:pt x="2406" y="1280"/>
                  </a:lnTo>
                  <a:lnTo>
                    <a:pt x="2368" y="1222"/>
                  </a:lnTo>
                  <a:lnTo>
                    <a:pt x="2325" y="1165"/>
                  </a:lnTo>
                  <a:lnTo>
                    <a:pt x="2283" y="1110"/>
                  </a:lnTo>
                  <a:lnTo>
                    <a:pt x="2239" y="1057"/>
                  </a:lnTo>
                  <a:lnTo>
                    <a:pt x="2194" y="1004"/>
                  </a:lnTo>
                  <a:lnTo>
                    <a:pt x="2148" y="951"/>
                  </a:lnTo>
                  <a:lnTo>
                    <a:pt x="2100" y="899"/>
                  </a:lnTo>
                  <a:lnTo>
                    <a:pt x="2053" y="850"/>
                  </a:lnTo>
                  <a:lnTo>
                    <a:pt x="2001" y="800"/>
                  </a:lnTo>
                  <a:lnTo>
                    <a:pt x="1952" y="755"/>
                  </a:lnTo>
                  <a:lnTo>
                    <a:pt x="1899" y="707"/>
                  </a:lnTo>
                  <a:lnTo>
                    <a:pt x="1846" y="663"/>
                  </a:lnTo>
                  <a:lnTo>
                    <a:pt x="1791" y="619"/>
                  </a:lnTo>
                  <a:lnTo>
                    <a:pt x="1736" y="577"/>
                  </a:lnTo>
                  <a:lnTo>
                    <a:pt x="1679" y="535"/>
                  </a:lnTo>
                  <a:lnTo>
                    <a:pt x="1622" y="495"/>
                  </a:lnTo>
                  <a:lnTo>
                    <a:pt x="1564" y="456"/>
                  </a:lnTo>
                  <a:lnTo>
                    <a:pt x="1505" y="419"/>
                  </a:lnTo>
                  <a:lnTo>
                    <a:pt x="1445" y="385"/>
                  </a:lnTo>
                  <a:lnTo>
                    <a:pt x="1382" y="350"/>
                  </a:lnTo>
                  <a:lnTo>
                    <a:pt x="1320" y="317"/>
                  </a:lnTo>
                  <a:lnTo>
                    <a:pt x="1258" y="286"/>
                  </a:lnTo>
                  <a:lnTo>
                    <a:pt x="1194" y="256"/>
                  </a:lnTo>
                  <a:lnTo>
                    <a:pt x="1130" y="227"/>
                  </a:lnTo>
                  <a:lnTo>
                    <a:pt x="1064" y="201"/>
                  </a:lnTo>
                  <a:lnTo>
                    <a:pt x="998" y="176"/>
                  </a:lnTo>
                  <a:lnTo>
                    <a:pt x="930" y="152"/>
                  </a:lnTo>
                  <a:lnTo>
                    <a:pt x="862" y="130"/>
                  </a:lnTo>
                  <a:lnTo>
                    <a:pt x="795" y="110"/>
                  </a:lnTo>
                  <a:lnTo>
                    <a:pt x="725" y="92"/>
                  </a:lnTo>
                  <a:lnTo>
                    <a:pt x="655" y="73"/>
                  </a:lnTo>
                  <a:lnTo>
                    <a:pt x="584" y="59"/>
                  </a:lnTo>
                  <a:lnTo>
                    <a:pt x="512" y="44"/>
                  </a:lnTo>
                  <a:lnTo>
                    <a:pt x="441" y="33"/>
                  </a:lnTo>
                  <a:lnTo>
                    <a:pt x="370" y="22"/>
                  </a:lnTo>
                  <a:lnTo>
                    <a:pt x="296" y="15"/>
                  </a:lnTo>
                  <a:lnTo>
                    <a:pt x="223" y="7"/>
                  </a:lnTo>
                  <a:lnTo>
                    <a:pt x="148" y="4"/>
                  </a:lnTo>
                  <a:lnTo>
                    <a:pt x="75" y="0"/>
                  </a:lnTo>
                  <a:lnTo>
                    <a:pt x="0" y="0"/>
                  </a:lnTo>
                  <a:lnTo>
                    <a:pt x="0" y="0"/>
                  </a:lnTo>
                  <a:close/>
                </a:path>
              </a:pathLst>
            </a:custGeom>
            <a:solidFill>
              <a:schemeClr val="tx2">
                <a:lumMod val="20000"/>
                <a:lumOff val="80000"/>
                <a:alpha val="40000"/>
              </a:schemeClr>
            </a:solidFill>
            <a:ln>
              <a:noFill/>
            </a:ln>
          </p:spPr>
          <p:txBody>
            <a:bodyPr anchor="ctr"/>
            <a:lstStyle/>
            <a:p>
              <a:pPr algn="ctr"/>
              <a:endParaRPr>
                <a:latin typeface="+mj-ea"/>
                <a:ea typeface="+mj-ea"/>
              </a:endParaRPr>
            </a:p>
          </p:txBody>
        </p:sp>
        <p:sp>
          <p:nvSpPr>
            <p:cNvPr id="23" name="ïṩļidê">
              <a:extLst>
                <a:ext uri="{FF2B5EF4-FFF2-40B4-BE49-F238E27FC236}">
                  <a16:creationId xmlns:a16="http://schemas.microsoft.com/office/drawing/2014/main" id="{FF651AD2-8D94-4E48-AF61-DF9602B7F758}"/>
                </a:ext>
              </a:extLst>
            </p:cNvPr>
            <p:cNvSpPr/>
            <p:nvPr/>
          </p:nvSpPr>
          <p:spPr bwMode="auto">
            <a:xfrm flipH="1">
              <a:off x="5584525" y="3432453"/>
              <a:ext cx="1731647" cy="1730453"/>
            </a:xfrm>
            <a:custGeom>
              <a:avLst/>
              <a:gdLst>
                <a:gd name="T0" fmla="*/ 0 w 2905"/>
                <a:gd name="T1" fmla="*/ 2903 h 2903"/>
                <a:gd name="T2" fmla="*/ 75 w 2905"/>
                <a:gd name="T3" fmla="*/ 2903 h 2903"/>
                <a:gd name="T4" fmla="*/ 224 w 2905"/>
                <a:gd name="T5" fmla="*/ 2896 h 2903"/>
                <a:gd name="T6" fmla="*/ 370 w 2905"/>
                <a:gd name="T7" fmla="*/ 2881 h 2903"/>
                <a:gd name="T8" fmla="*/ 515 w 2905"/>
                <a:gd name="T9" fmla="*/ 2859 h 2903"/>
                <a:gd name="T10" fmla="*/ 656 w 2905"/>
                <a:gd name="T11" fmla="*/ 2830 h 2903"/>
                <a:gd name="T12" fmla="*/ 795 w 2905"/>
                <a:gd name="T13" fmla="*/ 2793 h 2903"/>
                <a:gd name="T14" fmla="*/ 932 w 2905"/>
                <a:gd name="T15" fmla="*/ 2751 h 2903"/>
                <a:gd name="T16" fmla="*/ 1066 w 2905"/>
                <a:gd name="T17" fmla="*/ 2702 h 2903"/>
                <a:gd name="T18" fmla="*/ 1196 w 2905"/>
                <a:gd name="T19" fmla="*/ 2647 h 2903"/>
                <a:gd name="T20" fmla="*/ 1322 w 2905"/>
                <a:gd name="T21" fmla="*/ 2586 h 2903"/>
                <a:gd name="T22" fmla="*/ 1445 w 2905"/>
                <a:gd name="T23" fmla="*/ 2518 h 2903"/>
                <a:gd name="T24" fmla="*/ 1566 w 2905"/>
                <a:gd name="T25" fmla="*/ 2447 h 2903"/>
                <a:gd name="T26" fmla="*/ 1681 w 2905"/>
                <a:gd name="T27" fmla="*/ 2368 h 2903"/>
                <a:gd name="T28" fmla="*/ 1793 w 2905"/>
                <a:gd name="T29" fmla="*/ 2284 h 2903"/>
                <a:gd name="T30" fmla="*/ 1901 w 2905"/>
                <a:gd name="T31" fmla="*/ 2196 h 2903"/>
                <a:gd name="T32" fmla="*/ 2004 w 2905"/>
                <a:gd name="T33" fmla="*/ 2103 h 2903"/>
                <a:gd name="T34" fmla="*/ 2103 w 2905"/>
                <a:gd name="T35" fmla="*/ 2004 h 2903"/>
                <a:gd name="T36" fmla="*/ 2196 w 2905"/>
                <a:gd name="T37" fmla="*/ 1899 h 2903"/>
                <a:gd name="T38" fmla="*/ 2284 w 2905"/>
                <a:gd name="T39" fmla="*/ 1793 h 2903"/>
                <a:gd name="T40" fmla="*/ 2368 w 2905"/>
                <a:gd name="T41" fmla="*/ 1681 h 2903"/>
                <a:gd name="T42" fmla="*/ 2447 w 2905"/>
                <a:gd name="T43" fmla="*/ 1564 h 2903"/>
                <a:gd name="T44" fmla="*/ 2520 w 2905"/>
                <a:gd name="T45" fmla="*/ 1445 h 2903"/>
                <a:gd name="T46" fmla="*/ 2586 w 2905"/>
                <a:gd name="T47" fmla="*/ 1322 h 2903"/>
                <a:gd name="T48" fmla="*/ 2648 w 2905"/>
                <a:gd name="T49" fmla="*/ 1194 h 2903"/>
                <a:gd name="T50" fmla="*/ 2703 w 2905"/>
                <a:gd name="T51" fmla="*/ 1064 h 2903"/>
                <a:gd name="T52" fmla="*/ 2751 w 2905"/>
                <a:gd name="T53" fmla="*/ 930 h 2903"/>
                <a:gd name="T54" fmla="*/ 2793 w 2905"/>
                <a:gd name="T55" fmla="*/ 795 h 2903"/>
                <a:gd name="T56" fmla="*/ 2830 w 2905"/>
                <a:gd name="T57" fmla="*/ 656 h 2903"/>
                <a:gd name="T58" fmla="*/ 2859 w 2905"/>
                <a:gd name="T59" fmla="*/ 515 h 2903"/>
                <a:gd name="T60" fmla="*/ 2881 w 2905"/>
                <a:gd name="T61" fmla="*/ 370 h 2903"/>
                <a:gd name="T62" fmla="*/ 2896 w 2905"/>
                <a:gd name="T63" fmla="*/ 223 h 2903"/>
                <a:gd name="T64" fmla="*/ 2903 w 2905"/>
                <a:gd name="T65" fmla="*/ 75 h 2903"/>
                <a:gd name="T66" fmla="*/ 1161 w 2905"/>
                <a:gd name="T67" fmla="*/ 0 h 2903"/>
                <a:gd name="T68" fmla="*/ 1161 w 2905"/>
                <a:gd name="T69" fmla="*/ 60 h 2903"/>
                <a:gd name="T70" fmla="*/ 1148 w 2905"/>
                <a:gd name="T71" fmla="*/ 178 h 2903"/>
                <a:gd name="T72" fmla="*/ 1125 w 2905"/>
                <a:gd name="T73" fmla="*/ 289 h 2903"/>
                <a:gd name="T74" fmla="*/ 1092 w 2905"/>
                <a:gd name="T75" fmla="*/ 399 h 2903"/>
                <a:gd name="T76" fmla="*/ 1048 w 2905"/>
                <a:gd name="T77" fmla="*/ 504 h 2903"/>
                <a:gd name="T78" fmla="*/ 995 w 2905"/>
                <a:gd name="T79" fmla="*/ 603 h 2903"/>
                <a:gd name="T80" fmla="*/ 931 w 2905"/>
                <a:gd name="T81" fmla="*/ 694 h 2903"/>
                <a:gd name="T82" fmla="*/ 861 w 2905"/>
                <a:gd name="T83" fmla="*/ 780 h 2903"/>
                <a:gd name="T84" fmla="*/ 782 w 2905"/>
                <a:gd name="T85" fmla="*/ 859 h 2903"/>
                <a:gd name="T86" fmla="*/ 696 w 2905"/>
                <a:gd name="T87" fmla="*/ 930 h 2903"/>
                <a:gd name="T88" fmla="*/ 603 w 2905"/>
                <a:gd name="T89" fmla="*/ 993 h 2903"/>
                <a:gd name="T90" fmla="*/ 504 w 2905"/>
                <a:gd name="T91" fmla="*/ 1048 h 2903"/>
                <a:gd name="T92" fmla="*/ 399 w 2905"/>
                <a:gd name="T93" fmla="*/ 1092 h 2903"/>
                <a:gd name="T94" fmla="*/ 291 w 2905"/>
                <a:gd name="T95" fmla="*/ 1125 h 2903"/>
                <a:gd name="T96" fmla="*/ 178 w 2905"/>
                <a:gd name="T97" fmla="*/ 1148 h 2903"/>
                <a:gd name="T98" fmla="*/ 61 w 2905"/>
                <a:gd name="T99" fmla="*/ 1159 h 2903"/>
                <a:gd name="T100" fmla="*/ 0 w 2905"/>
                <a:gd name="T101" fmla="*/ 1161 h 2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05" h="2903">
                  <a:moveTo>
                    <a:pt x="0" y="1161"/>
                  </a:moveTo>
                  <a:lnTo>
                    <a:pt x="0" y="2903"/>
                  </a:lnTo>
                  <a:lnTo>
                    <a:pt x="0" y="2903"/>
                  </a:lnTo>
                  <a:lnTo>
                    <a:pt x="75" y="2903"/>
                  </a:lnTo>
                  <a:lnTo>
                    <a:pt x="150" y="2899"/>
                  </a:lnTo>
                  <a:lnTo>
                    <a:pt x="224" y="2896"/>
                  </a:lnTo>
                  <a:lnTo>
                    <a:pt x="297" y="2888"/>
                  </a:lnTo>
                  <a:lnTo>
                    <a:pt x="370" y="2881"/>
                  </a:lnTo>
                  <a:lnTo>
                    <a:pt x="443" y="2870"/>
                  </a:lnTo>
                  <a:lnTo>
                    <a:pt x="515" y="2859"/>
                  </a:lnTo>
                  <a:lnTo>
                    <a:pt x="586" y="2844"/>
                  </a:lnTo>
                  <a:lnTo>
                    <a:pt x="656" y="2830"/>
                  </a:lnTo>
                  <a:lnTo>
                    <a:pt x="725" y="2811"/>
                  </a:lnTo>
                  <a:lnTo>
                    <a:pt x="795" y="2793"/>
                  </a:lnTo>
                  <a:lnTo>
                    <a:pt x="865" y="2773"/>
                  </a:lnTo>
                  <a:lnTo>
                    <a:pt x="932" y="2751"/>
                  </a:lnTo>
                  <a:lnTo>
                    <a:pt x="998" y="2727"/>
                  </a:lnTo>
                  <a:lnTo>
                    <a:pt x="1066" y="2702"/>
                  </a:lnTo>
                  <a:lnTo>
                    <a:pt x="1130" y="2676"/>
                  </a:lnTo>
                  <a:lnTo>
                    <a:pt x="1196" y="2647"/>
                  </a:lnTo>
                  <a:lnTo>
                    <a:pt x="1260" y="2617"/>
                  </a:lnTo>
                  <a:lnTo>
                    <a:pt x="1322" y="2586"/>
                  </a:lnTo>
                  <a:lnTo>
                    <a:pt x="1385" y="2553"/>
                  </a:lnTo>
                  <a:lnTo>
                    <a:pt x="1445" y="2518"/>
                  </a:lnTo>
                  <a:lnTo>
                    <a:pt x="1506" y="2484"/>
                  </a:lnTo>
                  <a:lnTo>
                    <a:pt x="1566" y="2447"/>
                  </a:lnTo>
                  <a:lnTo>
                    <a:pt x="1625" y="2408"/>
                  </a:lnTo>
                  <a:lnTo>
                    <a:pt x="1681" y="2368"/>
                  </a:lnTo>
                  <a:lnTo>
                    <a:pt x="1738" y="2326"/>
                  </a:lnTo>
                  <a:lnTo>
                    <a:pt x="1793" y="2284"/>
                  </a:lnTo>
                  <a:lnTo>
                    <a:pt x="1848" y="2240"/>
                  </a:lnTo>
                  <a:lnTo>
                    <a:pt x="1901" y="2196"/>
                  </a:lnTo>
                  <a:lnTo>
                    <a:pt x="1952" y="2148"/>
                  </a:lnTo>
                  <a:lnTo>
                    <a:pt x="2004" y="2103"/>
                  </a:lnTo>
                  <a:lnTo>
                    <a:pt x="2053" y="2053"/>
                  </a:lnTo>
                  <a:lnTo>
                    <a:pt x="2103" y="2004"/>
                  </a:lnTo>
                  <a:lnTo>
                    <a:pt x="2150" y="1952"/>
                  </a:lnTo>
                  <a:lnTo>
                    <a:pt x="2196" y="1899"/>
                  </a:lnTo>
                  <a:lnTo>
                    <a:pt x="2242" y="1846"/>
                  </a:lnTo>
                  <a:lnTo>
                    <a:pt x="2284" y="1793"/>
                  </a:lnTo>
                  <a:lnTo>
                    <a:pt x="2328" y="1738"/>
                  </a:lnTo>
                  <a:lnTo>
                    <a:pt x="2368" y="1681"/>
                  </a:lnTo>
                  <a:lnTo>
                    <a:pt x="2408" y="1623"/>
                  </a:lnTo>
                  <a:lnTo>
                    <a:pt x="2447" y="1564"/>
                  </a:lnTo>
                  <a:lnTo>
                    <a:pt x="2483" y="1506"/>
                  </a:lnTo>
                  <a:lnTo>
                    <a:pt x="2520" y="1445"/>
                  </a:lnTo>
                  <a:lnTo>
                    <a:pt x="2553" y="1385"/>
                  </a:lnTo>
                  <a:lnTo>
                    <a:pt x="2586" y="1322"/>
                  </a:lnTo>
                  <a:lnTo>
                    <a:pt x="2617" y="1258"/>
                  </a:lnTo>
                  <a:lnTo>
                    <a:pt x="2648" y="1194"/>
                  </a:lnTo>
                  <a:lnTo>
                    <a:pt x="2676" y="1130"/>
                  </a:lnTo>
                  <a:lnTo>
                    <a:pt x="2703" y="1064"/>
                  </a:lnTo>
                  <a:lnTo>
                    <a:pt x="2727" y="998"/>
                  </a:lnTo>
                  <a:lnTo>
                    <a:pt x="2751" y="930"/>
                  </a:lnTo>
                  <a:lnTo>
                    <a:pt x="2773" y="863"/>
                  </a:lnTo>
                  <a:lnTo>
                    <a:pt x="2793" y="795"/>
                  </a:lnTo>
                  <a:lnTo>
                    <a:pt x="2813" y="725"/>
                  </a:lnTo>
                  <a:lnTo>
                    <a:pt x="2830" y="656"/>
                  </a:lnTo>
                  <a:lnTo>
                    <a:pt x="2844" y="584"/>
                  </a:lnTo>
                  <a:lnTo>
                    <a:pt x="2859" y="515"/>
                  </a:lnTo>
                  <a:lnTo>
                    <a:pt x="2870" y="441"/>
                  </a:lnTo>
                  <a:lnTo>
                    <a:pt x="2881" y="370"/>
                  </a:lnTo>
                  <a:lnTo>
                    <a:pt x="2888" y="297"/>
                  </a:lnTo>
                  <a:lnTo>
                    <a:pt x="2896" y="223"/>
                  </a:lnTo>
                  <a:lnTo>
                    <a:pt x="2901" y="150"/>
                  </a:lnTo>
                  <a:lnTo>
                    <a:pt x="2903" y="75"/>
                  </a:lnTo>
                  <a:lnTo>
                    <a:pt x="2905" y="0"/>
                  </a:lnTo>
                  <a:lnTo>
                    <a:pt x="1161" y="0"/>
                  </a:lnTo>
                  <a:lnTo>
                    <a:pt x="1161" y="0"/>
                  </a:lnTo>
                  <a:lnTo>
                    <a:pt x="1161" y="60"/>
                  </a:lnTo>
                  <a:lnTo>
                    <a:pt x="1156" y="119"/>
                  </a:lnTo>
                  <a:lnTo>
                    <a:pt x="1148" y="178"/>
                  </a:lnTo>
                  <a:lnTo>
                    <a:pt x="1139" y="234"/>
                  </a:lnTo>
                  <a:lnTo>
                    <a:pt x="1125" y="289"/>
                  </a:lnTo>
                  <a:lnTo>
                    <a:pt x="1110" y="346"/>
                  </a:lnTo>
                  <a:lnTo>
                    <a:pt x="1092" y="399"/>
                  </a:lnTo>
                  <a:lnTo>
                    <a:pt x="1072" y="452"/>
                  </a:lnTo>
                  <a:lnTo>
                    <a:pt x="1048" y="504"/>
                  </a:lnTo>
                  <a:lnTo>
                    <a:pt x="1022" y="553"/>
                  </a:lnTo>
                  <a:lnTo>
                    <a:pt x="995" y="603"/>
                  </a:lnTo>
                  <a:lnTo>
                    <a:pt x="964" y="650"/>
                  </a:lnTo>
                  <a:lnTo>
                    <a:pt x="931" y="694"/>
                  </a:lnTo>
                  <a:lnTo>
                    <a:pt x="898" y="738"/>
                  </a:lnTo>
                  <a:lnTo>
                    <a:pt x="861" y="780"/>
                  </a:lnTo>
                  <a:lnTo>
                    <a:pt x="823" y="821"/>
                  </a:lnTo>
                  <a:lnTo>
                    <a:pt x="782" y="859"/>
                  </a:lnTo>
                  <a:lnTo>
                    <a:pt x="740" y="896"/>
                  </a:lnTo>
                  <a:lnTo>
                    <a:pt x="696" y="930"/>
                  </a:lnTo>
                  <a:lnTo>
                    <a:pt x="650" y="963"/>
                  </a:lnTo>
                  <a:lnTo>
                    <a:pt x="603" y="993"/>
                  </a:lnTo>
                  <a:lnTo>
                    <a:pt x="555" y="1022"/>
                  </a:lnTo>
                  <a:lnTo>
                    <a:pt x="504" y="1048"/>
                  </a:lnTo>
                  <a:lnTo>
                    <a:pt x="453" y="1070"/>
                  </a:lnTo>
                  <a:lnTo>
                    <a:pt x="399" y="1092"/>
                  </a:lnTo>
                  <a:lnTo>
                    <a:pt x="346" y="1110"/>
                  </a:lnTo>
                  <a:lnTo>
                    <a:pt x="291" y="1125"/>
                  </a:lnTo>
                  <a:lnTo>
                    <a:pt x="235" y="1137"/>
                  </a:lnTo>
                  <a:lnTo>
                    <a:pt x="178" y="1148"/>
                  </a:lnTo>
                  <a:lnTo>
                    <a:pt x="119" y="1156"/>
                  </a:lnTo>
                  <a:lnTo>
                    <a:pt x="61" y="1159"/>
                  </a:lnTo>
                  <a:lnTo>
                    <a:pt x="0" y="1161"/>
                  </a:lnTo>
                  <a:lnTo>
                    <a:pt x="0" y="1161"/>
                  </a:lnTo>
                  <a:close/>
                </a:path>
              </a:pathLst>
            </a:custGeom>
            <a:solidFill>
              <a:schemeClr val="tx2">
                <a:lumMod val="20000"/>
                <a:lumOff val="80000"/>
                <a:alpha val="40000"/>
              </a:schemeClr>
            </a:solidFill>
            <a:ln>
              <a:noFill/>
            </a:ln>
          </p:spPr>
          <p:txBody>
            <a:bodyPr anchor="ctr"/>
            <a:lstStyle/>
            <a:p>
              <a:pPr algn="ctr"/>
              <a:endParaRPr>
                <a:latin typeface="+mj-ea"/>
                <a:ea typeface="+mj-ea"/>
              </a:endParaRPr>
            </a:p>
          </p:txBody>
        </p:sp>
        <p:sp>
          <p:nvSpPr>
            <p:cNvPr id="24" name="iṩliḍê">
              <a:extLst>
                <a:ext uri="{FF2B5EF4-FFF2-40B4-BE49-F238E27FC236}">
                  <a16:creationId xmlns:a16="http://schemas.microsoft.com/office/drawing/2014/main" id="{37B2CFDB-3F78-404D-8A6C-828A388F06B1}"/>
                </a:ext>
              </a:extLst>
            </p:cNvPr>
            <p:cNvSpPr/>
            <p:nvPr/>
          </p:nvSpPr>
          <p:spPr bwMode="auto">
            <a:xfrm flipH="1">
              <a:off x="7316172" y="3432453"/>
              <a:ext cx="1731647" cy="1730453"/>
            </a:xfrm>
            <a:custGeom>
              <a:avLst/>
              <a:gdLst>
                <a:gd name="T0" fmla="*/ 0 w 2902"/>
                <a:gd name="T1" fmla="*/ 0 h 2903"/>
                <a:gd name="T2" fmla="*/ 2 w 2902"/>
                <a:gd name="T3" fmla="*/ 75 h 2903"/>
                <a:gd name="T4" fmla="*/ 9 w 2902"/>
                <a:gd name="T5" fmla="*/ 223 h 2903"/>
                <a:gd name="T6" fmla="*/ 23 w 2902"/>
                <a:gd name="T7" fmla="*/ 370 h 2903"/>
                <a:gd name="T8" fmla="*/ 45 w 2902"/>
                <a:gd name="T9" fmla="*/ 515 h 2903"/>
                <a:gd name="T10" fmla="*/ 75 w 2902"/>
                <a:gd name="T11" fmla="*/ 656 h 2903"/>
                <a:gd name="T12" fmla="*/ 110 w 2902"/>
                <a:gd name="T13" fmla="*/ 795 h 2903"/>
                <a:gd name="T14" fmla="*/ 152 w 2902"/>
                <a:gd name="T15" fmla="*/ 930 h 2903"/>
                <a:gd name="T16" fmla="*/ 201 w 2902"/>
                <a:gd name="T17" fmla="*/ 1064 h 2903"/>
                <a:gd name="T18" fmla="*/ 256 w 2902"/>
                <a:gd name="T19" fmla="*/ 1194 h 2903"/>
                <a:gd name="T20" fmla="*/ 316 w 2902"/>
                <a:gd name="T21" fmla="*/ 1322 h 2903"/>
                <a:gd name="T22" fmla="*/ 384 w 2902"/>
                <a:gd name="T23" fmla="*/ 1445 h 2903"/>
                <a:gd name="T24" fmla="*/ 457 w 2902"/>
                <a:gd name="T25" fmla="*/ 1564 h 2903"/>
                <a:gd name="T26" fmla="*/ 534 w 2902"/>
                <a:gd name="T27" fmla="*/ 1681 h 2903"/>
                <a:gd name="T28" fmla="*/ 619 w 2902"/>
                <a:gd name="T29" fmla="*/ 1793 h 2903"/>
                <a:gd name="T30" fmla="*/ 708 w 2902"/>
                <a:gd name="T31" fmla="*/ 1899 h 2903"/>
                <a:gd name="T32" fmla="*/ 802 w 2902"/>
                <a:gd name="T33" fmla="*/ 2004 h 2903"/>
                <a:gd name="T34" fmla="*/ 901 w 2902"/>
                <a:gd name="T35" fmla="*/ 2103 h 2903"/>
                <a:gd name="T36" fmla="*/ 1003 w 2902"/>
                <a:gd name="T37" fmla="*/ 2196 h 2903"/>
                <a:gd name="T38" fmla="*/ 1111 w 2902"/>
                <a:gd name="T39" fmla="*/ 2284 h 2903"/>
                <a:gd name="T40" fmla="*/ 1223 w 2902"/>
                <a:gd name="T41" fmla="*/ 2368 h 2903"/>
                <a:gd name="T42" fmla="*/ 1338 w 2902"/>
                <a:gd name="T43" fmla="*/ 2447 h 2903"/>
                <a:gd name="T44" fmla="*/ 1457 w 2902"/>
                <a:gd name="T45" fmla="*/ 2518 h 2903"/>
                <a:gd name="T46" fmla="*/ 1582 w 2902"/>
                <a:gd name="T47" fmla="*/ 2586 h 2903"/>
                <a:gd name="T48" fmla="*/ 1708 w 2902"/>
                <a:gd name="T49" fmla="*/ 2647 h 2903"/>
                <a:gd name="T50" fmla="*/ 1838 w 2902"/>
                <a:gd name="T51" fmla="*/ 2702 h 2903"/>
                <a:gd name="T52" fmla="*/ 1972 w 2902"/>
                <a:gd name="T53" fmla="*/ 2751 h 2903"/>
                <a:gd name="T54" fmla="*/ 2107 w 2902"/>
                <a:gd name="T55" fmla="*/ 2793 h 2903"/>
                <a:gd name="T56" fmla="*/ 2247 w 2902"/>
                <a:gd name="T57" fmla="*/ 2830 h 2903"/>
                <a:gd name="T58" fmla="*/ 2390 w 2902"/>
                <a:gd name="T59" fmla="*/ 2859 h 2903"/>
                <a:gd name="T60" fmla="*/ 2532 w 2902"/>
                <a:gd name="T61" fmla="*/ 2881 h 2903"/>
                <a:gd name="T62" fmla="*/ 2679 w 2902"/>
                <a:gd name="T63" fmla="*/ 2896 h 2903"/>
                <a:gd name="T64" fmla="*/ 2827 w 2902"/>
                <a:gd name="T65" fmla="*/ 2903 h 2903"/>
                <a:gd name="T66" fmla="*/ 2902 w 2902"/>
                <a:gd name="T67" fmla="*/ 1161 h 2903"/>
                <a:gd name="T68" fmla="*/ 2844 w 2902"/>
                <a:gd name="T69" fmla="*/ 1159 h 2903"/>
                <a:gd name="T70" fmla="*/ 2726 w 2902"/>
                <a:gd name="T71" fmla="*/ 1148 h 2903"/>
                <a:gd name="T72" fmla="*/ 2613 w 2902"/>
                <a:gd name="T73" fmla="*/ 1125 h 2903"/>
                <a:gd name="T74" fmla="*/ 2503 w 2902"/>
                <a:gd name="T75" fmla="*/ 1092 h 2903"/>
                <a:gd name="T76" fmla="*/ 2399 w 2902"/>
                <a:gd name="T77" fmla="*/ 1048 h 2903"/>
                <a:gd name="T78" fmla="*/ 2300 w 2902"/>
                <a:gd name="T79" fmla="*/ 993 h 2903"/>
                <a:gd name="T80" fmla="*/ 2208 w 2902"/>
                <a:gd name="T81" fmla="*/ 930 h 2903"/>
                <a:gd name="T82" fmla="*/ 2122 w 2902"/>
                <a:gd name="T83" fmla="*/ 859 h 2903"/>
                <a:gd name="T84" fmla="*/ 2043 w 2902"/>
                <a:gd name="T85" fmla="*/ 780 h 2903"/>
                <a:gd name="T86" fmla="*/ 1972 w 2902"/>
                <a:gd name="T87" fmla="*/ 694 h 2903"/>
                <a:gd name="T88" fmla="*/ 1910 w 2902"/>
                <a:gd name="T89" fmla="*/ 603 h 2903"/>
                <a:gd name="T90" fmla="*/ 1857 w 2902"/>
                <a:gd name="T91" fmla="*/ 504 h 2903"/>
                <a:gd name="T92" fmla="*/ 1813 w 2902"/>
                <a:gd name="T93" fmla="*/ 399 h 2903"/>
                <a:gd name="T94" fmla="*/ 1778 w 2902"/>
                <a:gd name="T95" fmla="*/ 289 h 2903"/>
                <a:gd name="T96" fmla="*/ 1754 w 2902"/>
                <a:gd name="T97" fmla="*/ 178 h 2903"/>
                <a:gd name="T98" fmla="*/ 1743 w 2902"/>
                <a:gd name="T99" fmla="*/ 60 h 2903"/>
                <a:gd name="T100" fmla="*/ 1741 w 2902"/>
                <a:gd name="T101" fmla="*/ 0 h 2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02" h="2903">
                  <a:moveTo>
                    <a:pt x="1741" y="0"/>
                  </a:moveTo>
                  <a:lnTo>
                    <a:pt x="0" y="0"/>
                  </a:lnTo>
                  <a:lnTo>
                    <a:pt x="0" y="0"/>
                  </a:lnTo>
                  <a:lnTo>
                    <a:pt x="2" y="75"/>
                  </a:lnTo>
                  <a:lnTo>
                    <a:pt x="3" y="150"/>
                  </a:lnTo>
                  <a:lnTo>
                    <a:pt x="9" y="223"/>
                  </a:lnTo>
                  <a:lnTo>
                    <a:pt x="14" y="297"/>
                  </a:lnTo>
                  <a:lnTo>
                    <a:pt x="23" y="370"/>
                  </a:lnTo>
                  <a:lnTo>
                    <a:pt x="33" y="441"/>
                  </a:lnTo>
                  <a:lnTo>
                    <a:pt x="45" y="515"/>
                  </a:lnTo>
                  <a:lnTo>
                    <a:pt x="58" y="584"/>
                  </a:lnTo>
                  <a:lnTo>
                    <a:pt x="75" y="656"/>
                  </a:lnTo>
                  <a:lnTo>
                    <a:pt x="91" y="725"/>
                  </a:lnTo>
                  <a:lnTo>
                    <a:pt x="110" y="795"/>
                  </a:lnTo>
                  <a:lnTo>
                    <a:pt x="130" y="863"/>
                  </a:lnTo>
                  <a:lnTo>
                    <a:pt x="152" y="930"/>
                  </a:lnTo>
                  <a:lnTo>
                    <a:pt x="175" y="998"/>
                  </a:lnTo>
                  <a:lnTo>
                    <a:pt x="201" y="1064"/>
                  </a:lnTo>
                  <a:lnTo>
                    <a:pt x="229" y="1130"/>
                  </a:lnTo>
                  <a:lnTo>
                    <a:pt x="256" y="1194"/>
                  </a:lnTo>
                  <a:lnTo>
                    <a:pt x="285" y="1258"/>
                  </a:lnTo>
                  <a:lnTo>
                    <a:pt x="316" y="1322"/>
                  </a:lnTo>
                  <a:lnTo>
                    <a:pt x="349" y="1385"/>
                  </a:lnTo>
                  <a:lnTo>
                    <a:pt x="384" y="1445"/>
                  </a:lnTo>
                  <a:lnTo>
                    <a:pt x="421" y="1506"/>
                  </a:lnTo>
                  <a:lnTo>
                    <a:pt x="457" y="1564"/>
                  </a:lnTo>
                  <a:lnTo>
                    <a:pt x="496" y="1623"/>
                  </a:lnTo>
                  <a:lnTo>
                    <a:pt x="534" y="1681"/>
                  </a:lnTo>
                  <a:lnTo>
                    <a:pt x="577" y="1738"/>
                  </a:lnTo>
                  <a:lnTo>
                    <a:pt x="619" y="1793"/>
                  </a:lnTo>
                  <a:lnTo>
                    <a:pt x="663" y="1846"/>
                  </a:lnTo>
                  <a:lnTo>
                    <a:pt x="708" y="1899"/>
                  </a:lnTo>
                  <a:lnTo>
                    <a:pt x="754" y="1952"/>
                  </a:lnTo>
                  <a:lnTo>
                    <a:pt x="802" y="2004"/>
                  </a:lnTo>
                  <a:lnTo>
                    <a:pt x="849" y="2053"/>
                  </a:lnTo>
                  <a:lnTo>
                    <a:pt x="901" y="2103"/>
                  </a:lnTo>
                  <a:lnTo>
                    <a:pt x="950" y="2148"/>
                  </a:lnTo>
                  <a:lnTo>
                    <a:pt x="1003" y="2196"/>
                  </a:lnTo>
                  <a:lnTo>
                    <a:pt x="1056" y="2240"/>
                  </a:lnTo>
                  <a:lnTo>
                    <a:pt x="1111" y="2284"/>
                  </a:lnTo>
                  <a:lnTo>
                    <a:pt x="1166" y="2326"/>
                  </a:lnTo>
                  <a:lnTo>
                    <a:pt x="1223" y="2368"/>
                  </a:lnTo>
                  <a:lnTo>
                    <a:pt x="1280" y="2408"/>
                  </a:lnTo>
                  <a:lnTo>
                    <a:pt x="1338" y="2447"/>
                  </a:lnTo>
                  <a:lnTo>
                    <a:pt x="1397" y="2484"/>
                  </a:lnTo>
                  <a:lnTo>
                    <a:pt x="1457" y="2518"/>
                  </a:lnTo>
                  <a:lnTo>
                    <a:pt x="1520" y="2553"/>
                  </a:lnTo>
                  <a:lnTo>
                    <a:pt x="1582" y="2586"/>
                  </a:lnTo>
                  <a:lnTo>
                    <a:pt x="1644" y="2617"/>
                  </a:lnTo>
                  <a:lnTo>
                    <a:pt x="1708" y="2647"/>
                  </a:lnTo>
                  <a:lnTo>
                    <a:pt x="1772" y="2676"/>
                  </a:lnTo>
                  <a:lnTo>
                    <a:pt x="1838" y="2702"/>
                  </a:lnTo>
                  <a:lnTo>
                    <a:pt x="1904" y="2727"/>
                  </a:lnTo>
                  <a:lnTo>
                    <a:pt x="1972" y="2751"/>
                  </a:lnTo>
                  <a:lnTo>
                    <a:pt x="2040" y="2773"/>
                  </a:lnTo>
                  <a:lnTo>
                    <a:pt x="2107" y="2793"/>
                  </a:lnTo>
                  <a:lnTo>
                    <a:pt x="2177" y="2811"/>
                  </a:lnTo>
                  <a:lnTo>
                    <a:pt x="2247" y="2830"/>
                  </a:lnTo>
                  <a:lnTo>
                    <a:pt x="2318" y="2844"/>
                  </a:lnTo>
                  <a:lnTo>
                    <a:pt x="2390" y="2859"/>
                  </a:lnTo>
                  <a:lnTo>
                    <a:pt x="2461" y="2870"/>
                  </a:lnTo>
                  <a:lnTo>
                    <a:pt x="2532" y="2881"/>
                  </a:lnTo>
                  <a:lnTo>
                    <a:pt x="2606" y="2888"/>
                  </a:lnTo>
                  <a:lnTo>
                    <a:pt x="2679" y="2896"/>
                  </a:lnTo>
                  <a:lnTo>
                    <a:pt x="2754" y="2899"/>
                  </a:lnTo>
                  <a:lnTo>
                    <a:pt x="2827" y="2903"/>
                  </a:lnTo>
                  <a:lnTo>
                    <a:pt x="2902" y="2903"/>
                  </a:lnTo>
                  <a:lnTo>
                    <a:pt x="2902" y="1161"/>
                  </a:lnTo>
                  <a:lnTo>
                    <a:pt x="2902" y="1161"/>
                  </a:lnTo>
                  <a:lnTo>
                    <a:pt x="2844" y="1159"/>
                  </a:lnTo>
                  <a:lnTo>
                    <a:pt x="2783" y="1156"/>
                  </a:lnTo>
                  <a:lnTo>
                    <a:pt x="2726" y="1148"/>
                  </a:lnTo>
                  <a:lnTo>
                    <a:pt x="2670" y="1137"/>
                  </a:lnTo>
                  <a:lnTo>
                    <a:pt x="2613" y="1125"/>
                  </a:lnTo>
                  <a:lnTo>
                    <a:pt x="2558" y="1110"/>
                  </a:lnTo>
                  <a:lnTo>
                    <a:pt x="2503" y="1092"/>
                  </a:lnTo>
                  <a:lnTo>
                    <a:pt x="2450" y="1070"/>
                  </a:lnTo>
                  <a:lnTo>
                    <a:pt x="2399" y="1048"/>
                  </a:lnTo>
                  <a:lnTo>
                    <a:pt x="2349" y="1022"/>
                  </a:lnTo>
                  <a:lnTo>
                    <a:pt x="2300" y="993"/>
                  </a:lnTo>
                  <a:lnTo>
                    <a:pt x="2254" y="963"/>
                  </a:lnTo>
                  <a:lnTo>
                    <a:pt x="2208" y="930"/>
                  </a:lnTo>
                  <a:lnTo>
                    <a:pt x="2164" y="896"/>
                  </a:lnTo>
                  <a:lnTo>
                    <a:pt x="2122" y="859"/>
                  </a:lnTo>
                  <a:lnTo>
                    <a:pt x="2082" y="821"/>
                  </a:lnTo>
                  <a:lnTo>
                    <a:pt x="2043" y="780"/>
                  </a:lnTo>
                  <a:lnTo>
                    <a:pt x="2007" y="738"/>
                  </a:lnTo>
                  <a:lnTo>
                    <a:pt x="1972" y="694"/>
                  </a:lnTo>
                  <a:lnTo>
                    <a:pt x="1939" y="650"/>
                  </a:lnTo>
                  <a:lnTo>
                    <a:pt x="1910" y="603"/>
                  </a:lnTo>
                  <a:lnTo>
                    <a:pt x="1882" y="553"/>
                  </a:lnTo>
                  <a:lnTo>
                    <a:pt x="1857" y="504"/>
                  </a:lnTo>
                  <a:lnTo>
                    <a:pt x="1833" y="452"/>
                  </a:lnTo>
                  <a:lnTo>
                    <a:pt x="1813" y="399"/>
                  </a:lnTo>
                  <a:lnTo>
                    <a:pt x="1794" y="346"/>
                  </a:lnTo>
                  <a:lnTo>
                    <a:pt x="1778" y="289"/>
                  </a:lnTo>
                  <a:lnTo>
                    <a:pt x="1765" y="234"/>
                  </a:lnTo>
                  <a:lnTo>
                    <a:pt x="1754" y="178"/>
                  </a:lnTo>
                  <a:lnTo>
                    <a:pt x="1747" y="119"/>
                  </a:lnTo>
                  <a:lnTo>
                    <a:pt x="1743" y="60"/>
                  </a:lnTo>
                  <a:lnTo>
                    <a:pt x="1741" y="0"/>
                  </a:lnTo>
                  <a:lnTo>
                    <a:pt x="1741" y="0"/>
                  </a:lnTo>
                  <a:close/>
                </a:path>
              </a:pathLst>
            </a:custGeom>
            <a:solidFill>
              <a:schemeClr val="tx2">
                <a:lumMod val="20000"/>
                <a:lumOff val="80000"/>
                <a:alpha val="40000"/>
              </a:schemeClr>
            </a:solidFill>
            <a:ln>
              <a:noFill/>
            </a:ln>
          </p:spPr>
          <p:txBody>
            <a:bodyPr anchor="ctr"/>
            <a:lstStyle/>
            <a:p>
              <a:pPr algn="ctr"/>
              <a:endParaRPr>
                <a:latin typeface="+mj-ea"/>
                <a:ea typeface="+mj-ea"/>
              </a:endParaRPr>
            </a:p>
          </p:txBody>
        </p:sp>
        <p:grpSp>
          <p:nvGrpSpPr>
            <p:cNvPr id="25" name="í$ľíḑé">
              <a:extLst>
                <a:ext uri="{FF2B5EF4-FFF2-40B4-BE49-F238E27FC236}">
                  <a16:creationId xmlns:a16="http://schemas.microsoft.com/office/drawing/2014/main" id="{25E596B8-93E7-4AB2-B649-383DD1745A8D}"/>
                </a:ext>
              </a:extLst>
            </p:cNvPr>
            <p:cNvGrpSpPr/>
            <p:nvPr/>
          </p:nvGrpSpPr>
          <p:grpSpPr>
            <a:xfrm>
              <a:off x="5584527" y="1700808"/>
              <a:ext cx="3691848" cy="2234814"/>
              <a:chOff x="5584527" y="1700808"/>
              <a:chExt cx="3691848" cy="2234814"/>
            </a:xfrm>
          </p:grpSpPr>
          <p:sp>
            <p:nvSpPr>
              <p:cNvPr id="31" name="îŝ1ïḑé">
                <a:extLst>
                  <a:ext uri="{FF2B5EF4-FFF2-40B4-BE49-F238E27FC236}">
                    <a16:creationId xmlns:a16="http://schemas.microsoft.com/office/drawing/2014/main" id="{AF49B34D-183D-4275-88BE-6C3D399AACD5}"/>
                  </a:ext>
                </a:extLst>
              </p:cNvPr>
              <p:cNvSpPr/>
              <p:nvPr/>
            </p:nvSpPr>
            <p:spPr bwMode="auto">
              <a:xfrm flipH="1">
                <a:off x="7316172" y="1700808"/>
                <a:ext cx="1731647" cy="1731645"/>
              </a:xfrm>
              <a:custGeom>
                <a:avLst/>
                <a:gdLst>
                  <a:gd name="T0" fmla="*/ 2902 w 2902"/>
                  <a:gd name="T1" fmla="*/ 0 h 2903"/>
                  <a:gd name="T2" fmla="*/ 2827 w 2902"/>
                  <a:gd name="T3" fmla="*/ 0 h 2903"/>
                  <a:gd name="T4" fmla="*/ 2679 w 2902"/>
                  <a:gd name="T5" fmla="*/ 7 h 2903"/>
                  <a:gd name="T6" fmla="*/ 2532 w 2902"/>
                  <a:gd name="T7" fmla="*/ 22 h 2903"/>
                  <a:gd name="T8" fmla="*/ 2390 w 2902"/>
                  <a:gd name="T9" fmla="*/ 44 h 2903"/>
                  <a:gd name="T10" fmla="*/ 2247 w 2902"/>
                  <a:gd name="T11" fmla="*/ 73 h 2903"/>
                  <a:gd name="T12" fmla="*/ 2107 w 2902"/>
                  <a:gd name="T13" fmla="*/ 110 h 2903"/>
                  <a:gd name="T14" fmla="*/ 1972 w 2902"/>
                  <a:gd name="T15" fmla="*/ 152 h 2903"/>
                  <a:gd name="T16" fmla="*/ 1838 w 2902"/>
                  <a:gd name="T17" fmla="*/ 201 h 2903"/>
                  <a:gd name="T18" fmla="*/ 1708 w 2902"/>
                  <a:gd name="T19" fmla="*/ 256 h 2903"/>
                  <a:gd name="T20" fmla="*/ 1582 w 2902"/>
                  <a:gd name="T21" fmla="*/ 317 h 2903"/>
                  <a:gd name="T22" fmla="*/ 1457 w 2902"/>
                  <a:gd name="T23" fmla="*/ 385 h 2903"/>
                  <a:gd name="T24" fmla="*/ 1338 w 2902"/>
                  <a:gd name="T25" fmla="*/ 456 h 2903"/>
                  <a:gd name="T26" fmla="*/ 1223 w 2902"/>
                  <a:gd name="T27" fmla="*/ 535 h 2903"/>
                  <a:gd name="T28" fmla="*/ 1111 w 2902"/>
                  <a:gd name="T29" fmla="*/ 619 h 2903"/>
                  <a:gd name="T30" fmla="*/ 1003 w 2902"/>
                  <a:gd name="T31" fmla="*/ 707 h 2903"/>
                  <a:gd name="T32" fmla="*/ 901 w 2902"/>
                  <a:gd name="T33" fmla="*/ 800 h 2903"/>
                  <a:gd name="T34" fmla="*/ 802 w 2902"/>
                  <a:gd name="T35" fmla="*/ 899 h 2903"/>
                  <a:gd name="T36" fmla="*/ 708 w 2902"/>
                  <a:gd name="T37" fmla="*/ 1004 h 2903"/>
                  <a:gd name="T38" fmla="*/ 619 w 2902"/>
                  <a:gd name="T39" fmla="*/ 1110 h 2903"/>
                  <a:gd name="T40" fmla="*/ 534 w 2902"/>
                  <a:gd name="T41" fmla="*/ 1222 h 2903"/>
                  <a:gd name="T42" fmla="*/ 457 w 2902"/>
                  <a:gd name="T43" fmla="*/ 1339 h 2903"/>
                  <a:gd name="T44" fmla="*/ 384 w 2902"/>
                  <a:gd name="T45" fmla="*/ 1458 h 2903"/>
                  <a:gd name="T46" fmla="*/ 316 w 2902"/>
                  <a:gd name="T47" fmla="*/ 1581 h 2903"/>
                  <a:gd name="T48" fmla="*/ 256 w 2902"/>
                  <a:gd name="T49" fmla="*/ 1709 h 2903"/>
                  <a:gd name="T50" fmla="*/ 201 w 2902"/>
                  <a:gd name="T51" fmla="*/ 1839 h 2903"/>
                  <a:gd name="T52" fmla="*/ 152 w 2902"/>
                  <a:gd name="T53" fmla="*/ 1973 h 2903"/>
                  <a:gd name="T54" fmla="*/ 110 w 2902"/>
                  <a:gd name="T55" fmla="*/ 2108 h 2903"/>
                  <a:gd name="T56" fmla="*/ 75 w 2902"/>
                  <a:gd name="T57" fmla="*/ 2247 h 2903"/>
                  <a:gd name="T58" fmla="*/ 45 w 2902"/>
                  <a:gd name="T59" fmla="*/ 2388 h 2903"/>
                  <a:gd name="T60" fmla="*/ 23 w 2902"/>
                  <a:gd name="T61" fmla="*/ 2533 h 2903"/>
                  <a:gd name="T62" fmla="*/ 9 w 2902"/>
                  <a:gd name="T63" fmla="*/ 2680 h 2903"/>
                  <a:gd name="T64" fmla="*/ 2 w 2902"/>
                  <a:gd name="T65" fmla="*/ 2828 h 2903"/>
                  <a:gd name="T66" fmla="*/ 1741 w 2902"/>
                  <a:gd name="T67" fmla="*/ 2903 h 2903"/>
                  <a:gd name="T68" fmla="*/ 1743 w 2902"/>
                  <a:gd name="T69" fmla="*/ 2843 h 2903"/>
                  <a:gd name="T70" fmla="*/ 1754 w 2902"/>
                  <a:gd name="T71" fmla="*/ 2725 h 2903"/>
                  <a:gd name="T72" fmla="*/ 1778 w 2902"/>
                  <a:gd name="T73" fmla="*/ 2614 h 2903"/>
                  <a:gd name="T74" fmla="*/ 1813 w 2902"/>
                  <a:gd name="T75" fmla="*/ 2504 h 2903"/>
                  <a:gd name="T76" fmla="*/ 1857 w 2902"/>
                  <a:gd name="T77" fmla="*/ 2399 h 2903"/>
                  <a:gd name="T78" fmla="*/ 1910 w 2902"/>
                  <a:gd name="T79" fmla="*/ 2300 h 2903"/>
                  <a:gd name="T80" fmla="*/ 1972 w 2902"/>
                  <a:gd name="T81" fmla="*/ 2209 h 2903"/>
                  <a:gd name="T82" fmla="*/ 2043 w 2902"/>
                  <a:gd name="T83" fmla="*/ 2123 h 2903"/>
                  <a:gd name="T84" fmla="*/ 2122 w 2902"/>
                  <a:gd name="T85" fmla="*/ 2044 h 2903"/>
                  <a:gd name="T86" fmla="*/ 2208 w 2902"/>
                  <a:gd name="T87" fmla="*/ 1973 h 2903"/>
                  <a:gd name="T88" fmla="*/ 2300 w 2902"/>
                  <a:gd name="T89" fmla="*/ 1910 h 2903"/>
                  <a:gd name="T90" fmla="*/ 2399 w 2902"/>
                  <a:gd name="T91" fmla="*/ 1855 h 2903"/>
                  <a:gd name="T92" fmla="*/ 2503 w 2902"/>
                  <a:gd name="T93" fmla="*/ 1811 h 2903"/>
                  <a:gd name="T94" fmla="*/ 2613 w 2902"/>
                  <a:gd name="T95" fmla="*/ 1778 h 2903"/>
                  <a:gd name="T96" fmla="*/ 2726 w 2902"/>
                  <a:gd name="T97" fmla="*/ 1755 h 2903"/>
                  <a:gd name="T98" fmla="*/ 2844 w 2902"/>
                  <a:gd name="T99" fmla="*/ 1744 h 2903"/>
                  <a:gd name="T100" fmla="*/ 2902 w 2902"/>
                  <a:gd name="T101" fmla="*/ 1742 h 2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02" h="2903">
                    <a:moveTo>
                      <a:pt x="2902" y="1742"/>
                    </a:moveTo>
                    <a:lnTo>
                      <a:pt x="2902" y="0"/>
                    </a:lnTo>
                    <a:lnTo>
                      <a:pt x="2902" y="0"/>
                    </a:lnTo>
                    <a:lnTo>
                      <a:pt x="2827" y="0"/>
                    </a:lnTo>
                    <a:lnTo>
                      <a:pt x="2754" y="4"/>
                    </a:lnTo>
                    <a:lnTo>
                      <a:pt x="2679" y="7"/>
                    </a:lnTo>
                    <a:lnTo>
                      <a:pt x="2606" y="15"/>
                    </a:lnTo>
                    <a:lnTo>
                      <a:pt x="2532" y="22"/>
                    </a:lnTo>
                    <a:lnTo>
                      <a:pt x="2461" y="33"/>
                    </a:lnTo>
                    <a:lnTo>
                      <a:pt x="2390" y="44"/>
                    </a:lnTo>
                    <a:lnTo>
                      <a:pt x="2318" y="59"/>
                    </a:lnTo>
                    <a:lnTo>
                      <a:pt x="2247" y="73"/>
                    </a:lnTo>
                    <a:lnTo>
                      <a:pt x="2177" y="92"/>
                    </a:lnTo>
                    <a:lnTo>
                      <a:pt x="2107" y="110"/>
                    </a:lnTo>
                    <a:lnTo>
                      <a:pt x="2040" y="130"/>
                    </a:lnTo>
                    <a:lnTo>
                      <a:pt x="1972" y="152"/>
                    </a:lnTo>
                    <a:lnTo>
                      <a:pt x="1904" y="176"/>
                    </a:lnTo>
                    <a:lnTo>
                      <a:pt x="1838" y="201"/>
                    </a:lnTo>
                    <a:lnTo>
                      <a:pt x="1772" y="227"/>
                    </a:lnTo>
                    <a:lnTo>
                      <a:pt x="1708" y="256"/>
                    </a:lnTo>
                    <a:lnTo>
                      <a:pt x="1644" y="286"/>
                    </a:lnTo>
                    <a:lnTo>
                      <a:pt x="1582" y="317"/>
                    </a:lnTo>
                    <a:lnTo>
                      <a:pt x="1520" y="350"/>
                    </a:lnTo>
                    <a:lnTo>
                      <a:pt x="1457" y="385"/>
                    </a:lnTo>
                    <a:lnTo>
                      <a:pt x="1397" y="419"/>
                    </a:lnTo>
                    <a:lnTo>
                      <a:pt x="1338" y="456"/>
                    </a:lnTo>
                    <a:lnTo>
                      <a:pt x="1280" y="495"/>
                    </a:lnTo>
                    <a:lnTo>
                      <a:pt x="1223" y="535"/>
                    </a:lnTo>
                    <a:lnTo>
                      <a:pt x="1166" y="577"/>
                    </a:lnTo>
                    <a:lnTo>
                      <a:pt x="1111" y="619"/>
                    </a:lnTo>
                    <a:lnTo>
                      <a:pt x="1056" y="663"/>
                    </a:lnTo>
                    <a:lnTo>
                      <a:pt x="1003" y="707"/>
                    </a:lnTo>
                    <a:lnTo>
                      <a:pt x="950" y="755"/>
                    </a:lnTo>
                    <a:lnTo>
                      <a:pt x="901" y="800"/>
                    </a:lnTo>
                    <a:lnTo>
                      <a:pt x="849" y="850"/>
                    </a:lnTo>
                    <a:lnTo>
                      <a:pt x="802" y="899"/>
                    </a:lnTo>
                    <a:lnTo>
                      <a:pt x="754" y="951"/>
                    </a:lnTo>
                    <a:lnTo>
                      <a:pt x="708" y="1004"/>
                    </a:lnTo>
                    <a:lnTo>
                      <a:pt x="663" y="1057"/>
                    </a:lnTo>
                    <a:lnTo>
                      <a:pt x="619" y="1110"/>
                    </a:lnTo>
                    <a:lnTo>
                      <a:pt x="577" y="1165"/>
                    </a:lnTo>
                    <a:lnTo>
                      <a:pt x="534" y="1222"/>
                    </a:lnTo>
                    <a:lnTo>
                      <a:pt x="496" y="1280"/>
                    </a:lnTo>
                    <a:lnTo>
                      <a:pt x="457" y="1339"/>
                    </a:lnTo>
                    <a:lnTo>
                      <a:pt x="421" y="1397"/>
                    </a:lnTo>
                    <a:lnTo>
                      <a:pt x="384" y="1458"/>
                    </a:lnTo>
                    <a:lnTo>
                      <a:pt x="349" y="1518"/>
                    </a:lnTo>
                    <a:lnTo>
                      <a:pt x="316" y="1581"/>
                    </a:lnTo>
                    <a:lnTo>
                      <a:pt x="285" y="1645"/>
                    </a:lnTo>
                    <a:lnTo>
                      <a:pt x="256" y="1709"/>
                    </a:lnTo>
                    <a:lnTo>
                      <a:pt x="229" y="1773"/>
                    </a:lnTo>
                    <a:lnTo>
                      <a:pt x="201" y="1839"/>
                    </a:lnTo>
                    <a:lnTo>
                      <a:pt x="175" y="1905"/>
                    </a:lnTo>
                    <a:lnTo>
                      <a:pt x="152" y="1973"/>
                    </a:lnTo>
                    <a:lnTo>
                      <a:pt x="130" y="2040"/>
                    </a:lnTo>
                    <a:lnTo>
                      <a:pt x="110" y="2108"/>
                    </a:lnTo>
                    <a:lnTo>
                      <a:pt x="91" y="2178"/>
                    </a:lnTo>
                    <a:lnTo>
                      <a:pt x="75" y="2247"/>
                    </a:lnTo>
                    <a:lnTo>
                      <a:pt x="58" y="2319"/>
                    </a:lnTo>
                    <a:lnTo>
                      <a:pt x="45" y="2388"/>
                    </a:lnTo>
                    <a:lnTo>
                      <a:pt x="33" y="2462"/>
                    </a:lnTo>
                    <a:lnTo>
                      <a:pt x="23" y="2533"/>
                    </a:lnTo>
                    <a:lnTo>
                      <a:pt x="14" y="2606"/>
                    </a:lnTo>
                    <a:lnTo>
                      <a:pt x="9" y="2680"/>
                    </a:lnTo>
                    <a:lnTo>
                      <a:pt x="3" y="2753"/>
                    </a:lnTo>
                    <a:lnTo>
                      <a:pt x="2" y="2828"/>
                    </a:lnTo>
                    <a:lnTo>
                      <a:pt x="0" y="2903"/>
                    </a:lnTo>
                    <a:lnTo>
                      <a:pt x="1741" y="2903"/>
                    </a:lnTo>
                    <a:lnTo>
                      <a:pt x="1741" y="2903"/>
                    </a:lnTo>
                    <a:lnTo>
                      <a:pt x="1743" y="2843"/>
                    </a:lnTo>
                    <a:lnTo>
                      <a:pt x="1747" y="2784"/>
                    </a:lnTo>
                    <a:lnTo>
                      <a:pt x="1754" y="2725"/>
                    </a:lnTo>
                    <a:lnTo>
                      <a:pt x="1765" y="2669"/>
                    </a:lnTo>
                    <a:lnTo>
                      <a:pt x="1778" y="2614"/>
                    </a:lnTo>
                    <a:lnTo>
                      <a:pt x="1794" y="2557"/>
                    </a:lnTo>
                    <a:lnTo>
                      <a:pt x="1813" y="2504"/>
                    </a:lnTo>
                    <a:lnTo>
                      <a:pt x="1833" y="2451"/>
                    </a:lnTo>
                    <a:lnTo>
                      <a:pt x="1857" y="2399"/>
                    </a:lnTo>
                    <a:lnTo>
                      <a:pt x="1882" y="2350"/>
                    </a:lnTo>
                    <a:lnTo>
                      <a:pt x="1910" y="2300"/>
                    </a:lnTo>
                    <a:lnTo>
                      <a:pt x="1939" y="2253"/>
                    </a:lnTo>
                    <a:lnTo>
                      <a:pt x="1972" y="2209"/>
                    </a:lnTo>
                    <a:lnTo>
                      <a:pt x="2007" y="2165"/>
                    </a:lnTo>
                    <a:lnTo>
                      <a:pt x="2043" y="2123"/>
                    </a:lnTo>
                    <a:lnTo>
                      <a:pt x="2082" y="2082"/>
                    </a:lnTo>
                    <a:lnTo>
                      <a:pt x="2122" y="2044"/>
                    </a:lnTo>
                    <a:lnTo>
                      <a:pt x="2164" y="2007"/>
                    </a:lnTo>
                    <a:lnTo>
                      <a:pt x="2208" y="1973"/>
                    </a:lnTo>
                    <a:lnTo>
                      <a:pt x="2254" y="1940"/>
                    </a:lnTo>
                    <a:lnTo>
                      <a:pt x="2300" y="1910"/>
                    </a:lnTo>
                    <a:lnTo>
                      <a:pt x="2349" y="1881"/>
                    </a:lnTo>
                    <a:lnTo>
                      <a:pt x="2399" y="1855"/>
                    </a:lnTo>
                    <a:lnTo>
                      <a:pt x="2450" y="1833"/>
                    </a:lnTo>
                    <a:lnTo>
                      <a:pt x="2503" y="1811"/>
                    </a:lnTo>
                    <a:lnTo>
                      <a:pt x="2558" y="1793"/>
                    </a:lnTo>
                    <a:lnTo>
                      <a:pt x="2613" y="1778"/>
                    </a:lnTo>
                    <a:lnTo>
                      <a:pt x="2670" y="1766"/>
                    </a:lnTo>
                    <a:lnTo>
                      <a:pt x="2726" y="1755"/>
                    </a:lnTo>
                    <a:lnTo>
                      <a:pt x="2783" y="1747"/>
                    </a:lnTo>
                    <a:lnTo>
                      <a:pt x="2844" y="1744"/>
                    </a:lnTo>
                    <a:lnTo>
                      <a:pt x="2902" y="1742"/>
                    </a:lnTo>
                    <a:lnTo>
                      <a:pt x="2902" y="1742"/>
                    </a:lnTo>
                    <a:close/>
                  </a:path>
                </a:pathLst>
              </a:custGeom>
              <a:solidFill>
                <a:schemeClr val="accent1"/>
              </a:solidFill>
              <a:ln>
                <a:noFill/>
              </a:ln>
            </p:spPr>
            <p:txBody>
              <a:bodyPr anchor="ctr"/>
              <a:lstStyle/>
              <a:p>
                <a:pPr algn="ctr"/>
                <a:endParaRPr>
                  <a:latin typeface="+mj-ea"/>
                  <a:ea typeface="+mj-ea"/>
                </a:endParaRPr>
              </a:p>
            </p:txBody>
          </p:sp>
          <p:sp>
            <p:nvSpPr>
              <p:cNvPr id="32" name="ïṣļïďé">
                <a:extLst>
                  <a:ext uri="{FF2B5EF4-FFF2-40B4-BE49-F238E27FC236}">
                    <a16:creationId xmlns:a16="http://schemas.microsoft.com/office/drawing/2014/main" id="{3C81E3C5-83DB-453A-87EB-3A4720479FC3}"/>
                  </a:ext>
                </a:extLst>
              </p:cNvPr>
              <p:cNvSpPr/>
              <p:nvPr/>
            </p:nvSpPr>
            <p:spPr bwMode="auto">
              <a:xfrm flipH="1">
                <a:off x="7780513" y="3374121"/>
                <a:ext cx="1495862" cy="561501"/>
              </a:xfrm>
              <a:custGeom>
                <a:avLst/>
                <a:gdLst>
                  <a:gd name="T0" fmla="*/ 0 w 2031"/>
                  <a:gd name="T1" fmla="*/ 0 h 762"/>
                  <a:gd name="T2" fmla="*/ 1016 w 2031"/>
                  <a:gd name="T3" fmla="*/ 762 h 762"/>
                  <a:gd name="T4" fmla="*/ 2031 w 2031"/>
                  <a:gd name="T5" fmla="*/ 0 h 762"/>
                  <a:gd name="T6" fmla="*/ 0 w 2031"/>
                  <a:gd name="T7" fmla="*/ 0 h 762"/>
                </a:gdLst>
                <a:ahLst/>
                <a:cxnLst>
                  <a:cxn ang="0">
                    <a:pos x="T0" y="T1"/>
                  </a:cxn>
                  <a:cxn ang="0">
                    <a:pos x="T2" y="T3"/>
                  </a:cxn>
                  <a:cxn ang="0">
                    <a:pos x="T4" y="T5"/>
                  </a:cxn>
                  <a:cxn ang="0">
                    <a:pos x="T6" y="T7"/>
                  </a:cxn>
                </a:cxnLst>
                <a:rect l="0" t="0" r="r" b="b"/>
                <a:pathLst>
                  <a:path w="2031" h="762">
                    <a:moveTo>
                      <a:pt x="0" y="0"/>
                    </a:moveTo>
                    <a:lnTo>
                      <a:pt x="1016" y="762"/>
                    </a:lnTo>
                    <a:lnTo>
                      <a:pt x="2031" y="0"/>
                    </a:lnTo>
                    <a:lnTo>
                      <a:pt x="0" y="0"/>
                    </a:lnTo>
                    <a:close/>
                  </a:path>
                </a:pathLst>
              </a:custGeom>
              <a:solidFill>
                <a:schemeClr val="accent1"/>
              </a:solidFill>
              <a:ln>
                <a:noFill/>
              </a:ln>
            </p:spPr>
            <p:txBody>
              <a:bodyPr anchor="ctr"/>
              <a:lstStyle/>
              <a:p>
                <a:pPr algn="ctr"/>
                <a:endParaRPr>
                  <a:latin typeface="+mj-ea"/>
                  <a:ea typeface="+mj-ea"/>
                </a:endParaRPr>
              </a:p>
            </p:txBody>
          </p:sp>
          <p:sp>
            <p:nvSpPr>
              <p:cNvPr id="33" name="isḷíḍe">
                <a:extLst>
                  <a:ext uri="{FF2B5EF4-FFF2-40B4-BE49-F238E27FC236}">
                    <a16:creationId xmlns:a16="http://schemas.microsoft.com/office/drawing/2014/main" id="{23E21339-6D67-4BFD-908E-08B5340EB95F}"/>
                  </a:ext>
                </a:extLst>
              </p:cNvPr>
              <p:cNvSpPr/>
              <p:nvPr/>
            </p:nvSpPr>
            <p:spPr bwMode="auto">
              <a:xfrm flipH="1">
                <a:off x="5584527" y="1700808"/>
                <a:ext cx="1731646" cy="1731645"/>
              </a:xfrm>
              <a:custGeom>
                <a:avLst/>
                <a:gdLst>
                  <a:gd name="T0" fmla="*/ 0 w 2905"/>
                  <a:gd name="T1" fmla="*/ 1742 h 2903"/>
                  <a:gd name="T2" fmla="*/ 61 w 2905"/>
                  <a:gd name="T3" fmla="*/ 1744 h 2903"/>
                  <a:gd name="T4" fmla="*/ 178 w 2905"/>
                  <a:gd name="T5" fmla="*/ 1755 h 2903"/>
                  <a:gd name="T6" fmla="*/ 291 w 2905"/>
                  <a:gd name="T7" fmla="*/ 1778 h 2903"/>
                  <a:gd name="T8" fmla="*/ 399 w 2905"/>
                  <a:gd name="T9" fmla="*/ 1811 h 2903"/>
                  <a:gd name="T10" fmla="*/ 504 w 2905"/>
                  <a:gd name="T11" fmla="*/ 1855 h 2903"/>
                  <a:gd name="T12" fmla="*/ 603 w 2905"/>
                  <a:gd name="T13" fmla="*/ 1910 h 2903"/>
                  <a:gd name="T14" fmla="*/ 696 w 2905"/>
                  <a:gd name="T15" fmla="*/ 1973 h 2903"/>
                  <a:gd name="T16" fmla="*/ 782 w 2905"/>
                  <a:gd name="T17" fmla="*/ 2044 h 2903"/>
                  <a:gd name="T18" fmla="*/ 861 w 2905"/>
                  <a:gd name="T19" fmla="*/ 2123 h 2903"/>
                  <a:gd name="T20" fmla="*/ 931 w 2905"/>
                  <a:gd name="T21" fmla="*/ 2209 h 2903"/>
                  <a:gd name="T22" fmla="*/ 995 w 2905"/>
                  <a:gd name="T23" fmla="*/ 2300 h 2903"/>
                  <a:gd name="T24" fmla="*/ 1048 w 2905"/>
                  <a:gd name="T25" fmla="*/ 2399 h 2903"/>
                  <a:gd name="T26" fmla="*/ 1092 w 2905"/>
                  <a:gd name="T27" fmla="*/ 2504 h 2903"/>
                  <a:gd name="T28" fmla="*/ 1125 w 2905"/>
                  <a:gd name="T29" fmla="*/ 2614 h 2903"/>
                  <a:gd name="T30" fmla="*/ 1148 w 2905"/>
                  <a:gd name="T31" fmla="*/ 2725 h 2903"/>
                  <a:gd name="T32" fmla="*/ 1161 w 2905"/>
                  <a:gd name="T33" fmla="*/ 2843 h 2903"/>
                  <a:gd name="T34" fmla="*/ 2905 w 2905"/>
                  <a:gd name="T35" fmla="*/ 2903 h 2903"/>
                  <a:gd name="T36" fmla="*/ 2903 w 2905"/>
                  <a:gd name="T37" fmla="*/ 2828 h 2903"/>
                  <a:gd name="T38" fmla="*/ 2896 w 2905"/>
                  <a:gd name="T39" fmla="*/ 2680 h 2903"/>
                  <a:gd name="T40" fmla="*/ 2881 w 2905"/>
                  <a:gd name="T41" fmla="*/ 2533 h 2903"/>
                  <a:gd name="T42" fmla="*/ 2859 w 2905"/>
                  <a:gd name="T43" fmla="*/ 2388 h 2903"/>
                  <a:gd name="T44" fmla="*/ 2830 w 2905"/>
                  <a:gd name="T45" fmla="*/ 2247 h 2903"/>
                  <a:gd name="T46" fmla="*/ 2793 w 2905"/>
                  <a:gd name="T47" fmla="*/ 2108 h 2903"/>
                  <a:gd name="T48" fmla="*/ 2751 w 2905"/>
                  <a:gd name="T49" fmla="*/ 1973 h 2903"/>
                  <a:gd name="T50" fmla="*/ 2703 w 2905"/>
                  <a:gd name="T51" fmla="*/ 1839 h 2903"/>
                  <a:gd name="T52" fmla="*/ 2648 w 2905"/>
                  <a:gd name="T53" fmla="*/ 1709 h 2903"/>
                  <a:gd name="T54" fmla="*/ 2586 w 2905"/>
                  <a:gd name="T55" fmla="*/ 1581 h 2903"/>
                  <a:gd name="T56" fmla="*/ 2520 w 2905"/>
                  <a:gd name="T57" fmla="*/ 1458 h 2903"/>
                  <a:gd name="T58" fmla="*/ 2447 w 2905"/>
                  <a:gd name="T59" fmla="*/ 1339 h 2903"/>
                  <a:gd name="T60" fmla="*/ 2368 w 2905"/>
                  <a:gd name="T61" fmla="*/ 1222 h 2903"/>
                  <a:gd name="T62" fmla="*/ 2284 w 2905"/>
                  <a:gd name="T63" fmla="*/ 1110 h 2903"/>
                  <a:gd name="T64" fmla="*/ 2196 w 2905"/>
                  <a:gd name="T65" fmla="*/ 1004 h 2903"/>
                  <a:gd name="T66" fmla="*/ 2103 w 2905"/>
                  <a:gd name="T67" fmla="*/ 899 h 2903"/>
                  <a:gd name="T68" fmla="*/ 2004 w 2905"/>
                  <a:gd name="T69" fmla="*/ 800 h 2903"/>
                  <a:gd name="T70" fmla="*/ 1901 w 2905"/>
                  <a:gd name="T71" fmla="*/ 707 h 2903"/>
                  <a:gd name="T72" fmla="*/ 1793 w 2905"/>
                  <a:gd name="T73" fmla="*/ 619 h 2903"/>
                  <a:gd name="T74" fmla="*/ 1681 w 2905"/>
                  <a:gd name="T75" fmla="*/ 535 h 2903"/>
                  <a:gd name="T76" fmla="*/ 1566 w 2905"/>
                  <a:gd name="T77" fmla="*/ 456 h 2903"/>
                  <a:gd name="T78" fmla="*/ 1445 w 2905"/>
                  <a:gd name="T79" fmla="*/ 385 h 2903"/>
                  <a:gd name="T80" fmla="*/ 1322 w 2905"/>
                  <a:gd name="T81" fmla="*/ 317 h 2903"/>
                  <a:gd name="T82" fmla="*/ 1196 w 2905"/>
                  <a:gd name="T83" fmla="*/ 256 h 2903"/>
                  <a:gd name="T84" fmla="*/ 1066 w 2905"/>
                  <a:gd name="T85" fmla="*/ 201 h 2903"/>
                  <a:gd name="T86" fmla="*/ 932 w 2905"/>
                  <a:gd name="T87" fmla="*/ 152 h 2903"/>
                  <a:gd name="T88" fmla="*/ 795 w 2905"/>
                  <a:gd name="T89" fmla="*/ 110 h 2903"/>
                  <a:gd name="T90" fmla="*/ 656 w 2905"/>
                  <a:gd name="T91" fmla="*/ 73 h 2903"/>
                  <a:gd name="T92" fmla="*/ 515 w 2905"/>
                  <a:gd name="T93" fmla="*/ 44 h 2903"/>
                  <a:gd name="T94" fmla="*/ 370 w 2905"/>
                  <a:gd name="T95" fmla="*/ 22 h 2903"/>
                  <a:gd name="T96" fmla="*/ 224 w 2905"/>
                  <a:gd name="T97" fmla="*/ 7 h 2903"/>
                  <a:gd name="T98" fmla="*/ 75 w 2905"/>
                  <a:gd name="T99" fmla="*/ 0 h 2903"/>
                  <a:gd name="T100" fmla="*/ 0 w 2905"/>
                  <a:gd name="T101" fmla="*/ 0 h 2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05" h="2903">
                    <a:moveTo>
                      <a:pt x="0" y="0"/>
                    </a:moveTo>
                    <a:lnTo>
                      <a:pt x="0" y="1742"/>
                    </a:lnTo>
                    <a:lnTo>
                      <a:pt x="0" y="1742"/>
                    </a:lnTo>
                    <a:lnTo>
                      <a:pt x="61" y="1744"/>
                    </a:lnTo>
                    <a:lnTo>
                      <a:pt x="119" y="1747"/>
                    </a:lnTo>
                    <a:lnTo>
                      <a:pt x="178" y="1755"/>
                    </a:lnTo>
                    <a:lnTo>
                      <a:pt x="235" y="1766"/>
                    </a:lnTo>
                    <a:lnTo>
                      <a:pt x="291" y="1778"/>
                    </a:lnTo>
                    <a:lnTo>
                      <a:pt x="346" y="1793"/>
                    </a:lnTo>
                    <a:lnTo>
                      <a:pt x="399" y="1811"/>
                    </a:lnTo>
                    <a:lnTo>
                      <a:pt x="453" y="1833"/>
                    </a:lnTo>
                    <a:lnTo>
                      <a:pt x="504" y="1855"/>
                    </a:lnTo>
                    <a:lnTo>
                      <a:pt x="555" y="1881"/>
                    </a:lnTo>
                    <a:lnTo>
                      <a:pt x="603" y="1910"/>
                    </a:lnTo>
                    <a:lnTo>
                      <a:pt x="650" y="1940"/>
                    </a:lnTo>
                    <a:lnTo>
                      <a:pt x="696" y="1973"/>
                    </a:lnTo>
                    <a:lnTo>
                      <a:pt x="740" y="2007"/>
                    </a:lnTo>
                    <a:lnTo>
                      <a:pt x="782" y="2044"/>
                    </a:lnTo>
                    <a:lnTo>
                      <a:pt x="823" y="2082"/>
                    </a:lnTo>
                    <a:lnTo>
                      <a:pt x="861" y="2123"/>
                    </a:lnTo>
                    <a:lnTo>
                      <a:pt x="898" y="2165"/>
                    </a:lnTo>
                    <a:lnTo>
                      <a:pt x="931" y="2209"/>
                    </a:lnTo>
                    <a:lnTo>
                      <a:pt x="964" y="2253"/>
                    </a:lnTo>
                    <a:lnTo>
                      <a:pt x="995" y="2300"/>
                    </a:lnTo>
                    <a:lnTo>
                      <a:pt x="1022" y="2350"/>
                    </a:lnTo>
                    <a:lnTo>
                      <a:pt x="1048" y="2399"/>
                    </a:lnTo>
                    <a:lnTo>
                      <a:pt x="1072" y="2451"/>
                    </a:lnTo>
                    <a:lnTo>
                      <a:pt x="1092" y="2504"/>
                    </a:lnTo>
                    <a:lnTo>
                      <a:pt x="1110" y="2557"/>
                    </a:lnTo>
                    <a:lnTo>
                      <a:pt x="1125" y="2614"/>
                    </a:lnTo>
                    <a:lnTo>
                      <a:pt x="1139" y="2669"/>
                    </a:lnTo>
                    <a:lnTo>
                      <a:pt x="1148" y="2725"/>
                    </a:lnTo>
                    <a:lnTo>
                      <a:pt x="1156" y="2784"/>
                    </a:lnTo>
                    <a:lnTo>
                      <a:pt x="1161" y="2843"/>
                    </a:lnTo>
                    <a:lnTo>
                      <a:pt x="1161" y="2903"/>
                    </a:lnTo>
                    <a:lnTo>
                      <a:pt x="2905" y="2903"/>
                    </a:lnTo>
                    <a:lnTo>
                      <a:pt x="2905" y="2903"/>
                    </a:lnTo>
                    <a:lnTo>
                      <a:pt x="2903" y="2828"/>
                    </a:lnTo>
                    <a:lnTo>
                      <a:pt x="2901" y="2753"/>
                    </a:lnTo>
                    <a:lnTo>
                      <a:pt x="2896" y="2680"/>
                    </a:lnTo>
                    <a:lnTo>
                      <a:pt x="2888" y="2606"/>
                    </a:lnTo>
                    <a:lnTo>
                      <a:pt x="2881" y="2533"/>
                    </a:lnTo>
                    <a:lnTo>
                      <a:pt x="2870" y="2462"/>
                    </a:lnTo>
                    <a:lnTo>
                      <a:pt x="2859" y="2388"/>
                    </a:lnTo>
                    <a:lnTo>
                      <a:pt x="2844" y="2319"/>
                    </a:lnTo>
                    <a:lnTo>
                      <a:pt x="2830" y="2247"/>
                    </a:lnTo>
                    <a:lnTo>
                      <a:pt x="2813" y="2178"/>
                    </a:lnTo>
                    <a:lnTo>
                      <a:pt x="2793" y="2108"/>
                    </a:lnTo>
                    <a:lnTo>
                      <a:pt x="2773" y="2040"/>
                    </a:lnTo>
                    <a:lnTo>
                      <a:pt x="2751" y="1973"/>
                    </a:lnTo>
                    <a:lnTo>
                      <a:pt x="2727" y="1905"/>
                    </a:lnTo>
                    <a:lnTo>
                      <a:pt x="2703" y="1839"/>
                    </a:lnTo>
                    <a:lnTo>
                      <a:pt x="2676" y="1773"/>
                    </a:lnTo>
                    <a:lnTo>
                      <a:pt x="2648" y="1709"/>
                    </a:lnTo>
                    <a:lnTo>
                      <a:pt x="2617" y="1645"/>
                    </a:lnTo>
                    <a:lnTo>
                      <a:pt x="2586" y="1581"/>
                    </a:lnTo>
                    <a:lnTo>
                      <a:pt x="2553" y="1518"/>
                    </a:lnTo>
                    <a:lnTo>
                      <a:pt x="2520" y="1458"/>
                    </a:lnTo>
                    <a:lnTo>
                      <a:pt x="2483" y="1397"/>
                    </a:lnTo>
                    <a:lnTo>
                      <a:pt x="2447" y="1339"/>
                    </a:lnTo>
                    <a:lnTo>
                      <a:pt x="2408" y="1280"/>
                    </a:lnTo>
                    <a:lnTo>
                      <a:pt x="2368" y="1222"/>
                    </a:lnTo>
                    <a:lnTo>
                      <a:pt x="2328" y="1165"/>
                    </a:lnTo>
                    <a:lnTo>
                      <a:pt x="2284" y="1110"/>
                    </a:lnTo>
                    <a:lnTo>
                      <a:pt x="2242" y="1057"/>
                    </a:lnTo>
                    <a:lnTo>
                      <a:pt x="2196" y="1004"/>
                    </a:lnTo>
                    <a:lnTo>
                      <a:pt x="2150" y="951"/>
                    </a:lnTo>
                    <a:lnTo>
                      <a:pt x="2103" y="899"/>
                    </a:lnTo>
                    <a:lnTo>
                      <a:pt x="2053" y="850"/>
                    </a:lnTo>
                    <a:lnTo>
                      <a:pt x="2004" y="800"/>
                    </a:lnTo>
                    <a:lnTo>
                      <a:pt x="1952" y="755"/>
                    </a:lnTo>
                    <a:lnTo>
                      <a:pt x="1901" y="707"/>
                    </a:lnTo>
                    <a:lnTo>
                      <a:pt x="1848" y="663"/>
                    </a:lnTo>
                    <a:lnTo>
                      <a:pt x="1793" y="619"/>
                    </a:lnTo>
                    <a:lnTo>
                      <a:pt x="1738" y="577"/>
                    </a:lnTo>
                    <a:lnTo>
                      <a:pt x="1681" y="535"/>
                    </a:lnTo>
                    <a:lnTo>
                      <a:pt x="1625" y="495"/>
                    </a:lnTo>
                    <a:lnTo>
                      <a:pt x="1566" y="456"/>
                    </a:lnTo>
                    <a:lnTo>
                      <a:pt x="1506" y="419"/>
                    </a:lnTo>
                    <a:lnTo>
                      <a:pt x="1445" y="385"/>
                    </a:lnTo>
                    <a:lnTo>
                      <a:pt x="1385" y="350"/>
                    </a:lnTo>
                    <a:lnTo>
                      <a:pt x="1322" y="317"/>
                    </a:lnTo>
                    <a:lnTo>
                      <a:pt x="1260" y="286"/>
                    </a:lnTo>
                    <a:lnTo>
                      <a:pt x="1196" y="256"/>
                    </a:lnTo>
                    <a:lnTo>
                      <a:pt x="1130" y="227"/>
                    </a:lnTo>
                    <a:lnTo>
                      <a:pt x="1066" y="201"/>
                    </a:lnTo>
                    <a:lnTo>
                      <a:pt x="998" y="176"/>
                    </a:lnTo>
                    <a:lnTo>
                      <a:pt x="932" y="152"/>
                    </a:lnTo>
                    <a:lnTo>
                      <a:pt x="865" y="130"/>
                    </a:lnTo>
                    <a:lnTo>
                      <a:pt x="795" y="110"/>
                    </a:lnTo>
                    <a:lnTo>
                      <a:pt x="725" y="92"/>
                    </a:lnTo>
                    <a:lnTo>
                      <a:pt x="656" y="73"/>
                    </a:lnTo>
                    <a:lnTo>
                      <a:pt x="586" y="59"/>
                    </a:lnTo>
                    <a:lnTo>
                      <a:pt x="515" y="44"/>
                    </a:lnTo>
                    <a:lnTo>
                      <a:pt x="443" y="33"/>
                    </a:lnTo>
                    <a:lnTo>
                      <a:pt x="370" y="22"/>
                    </a:lnTo>
                    <a:lnTo>
                      <a:pt x="297" y="15"/>
                    </a:lnTo>
                    <a:lnTo>
                      <a:pt x="224" y="7"/>
                    </a:lnTo>
                    <a:lnTo>
                      <a:pt x="150" y="4"/>
                    </a:lnTo>
                    <a:lnTo>
                      <a:pt x="75" y="0"/>
                    </a:lnTo>
                    <a:lnTo>
                      <a:pt x="0" y="0"/>
                    </a:lnTo>
                    <a:lnTo>
                      <a:pt x="0" y="0"/>
                    </a:lnTo>
                    <a:close/>
                  </a:path>
                </a:pathLst>
              </a:custGeom>
              <a:solidFill>
                <a:schemeClr val="accent1"/>
              </a:solidFill>
              <a:ln>
                <a:noFill/>
              </a:ln>
            </p:spPr>
            <p:txBody>
              <a:bodyPr anchor="ctr"/>
              <a:lstStyle/>
              <a:p>
                <a:pPr algn="ctr"/>
                <a:endParaRPr>
                  <a:latin typeface="+mj-ea"/>
                  <a:ea typeface="+mj-ea"/>
                </a:endParaRPr>
              </a:p>
            </p:txBody>
          </p:sp>
        </p:grpSp>
        <p:grpSp>
          <p:nvGrpSpPr>
            <p:cNvPr id="26" name="iSļiḑè">
              <a:extLst>
                <a:ext uri="{FF2B5EF4-FFF2-40B4-BE49-F238E27FC236}">
                  <a16:creationId xmlns:a16="http://schemas.microsoft.com/office/drawing/2014/main" id="{37FAAA73-B58E-4243-B661-25BA8B721A84}"/>
                </a:ext>
              </a:extLst>
            </p:cNvPr>
            <p:cNvGrpSpPr/>
            <p:nvPr/>
          </p:nvGrpSpPr>
          <p:grpSpPr>
            <a:xfrm>
              <a:off x="2932618" y="2928092"/>
              <a:ext cx="3920549" cy="2234814"/>
              <a:chOff x="2932618" y="2928092"/>
              <a:chExt cx="3920549" cy="2234814"/>
            </a:xfrm>
            <a:solidFill>
              <a:schemeClr val="tx2">
                <a:lumMod val="40000"/>
                <a:lumOff val="60000"/>
              </a:schemeClr>
            </a:solidFill>
          </p:grpSpPr>
          <p:sp>
            <p:nvSpPr>
              <p:cNvPr id="27" name="ïṣľiḓé">
                <a:extLst>
                  <a:ext uri="{FF2B5EF4-FFF2-40B4-BE49-F238E27FC236}">
                    <a16:creationId xmlns:a16="http://schemas.microsoft.com/office/drawing/2014/main" id="{784E9F63-C487-49BC-A760-0681E79A99AE}"/>
                  </a:ext>
                </a:extLst>
              </p:cNvPr>
              <p:cNvSpPr/>
              <p:nvPr/>
            </p:nvSpPr>
            <p:spPr bwMode="auto">
              <a:xfrm flipH="1">
                <a:off x="3161174" y="3432453"/>
                <a:ext cx="1731647" cy="1730453"/>
              </a:xfrm>
              <a:custGeom>
                <a:avLst/>
                <a:gdLst>
                  <a:gd name="T0" fmla="*/ 0 w 2902"/>
                  <a:gd name="T1" fmla="*/ 2903 h 2903"/>
                  <a:gd name="T2" fmla="*/ 75 w 2902"/>
                  <a:gd name="T3" fmla="*/ 2903 h 2903"/>
                  <a:gd name="T4" fmla="*/ 223 w 2902"/>
                  <a:gd name="T5" fmla="*/ 2896 h 2903"/>
                  <a:gd name="T6" fmla="*/ 370 w 2902"/>
                  <a:gd name="T7" fmla="*/ 2881 h 2903"/>
                  <a:gd name="T8" fmla="*/ 512 w 2902"/>
                  <a:gd name="T9" fmla="*/ 2859 h 2903"/>
                  <a:gd name="T10" fmla="*/ 655 w 2902"/>
                  <a:gd name="T11" fmla="*/ 2830 h 2903"/>
                  <a:gd name="T12" fmla="*/ 795 w 2902"/>
                  <a:gd name="T13" fmla="*/ 2793 h 2903"/>
                  <a:gd name="T14" fmla="*/ 930 w 2902"/>
                  <a:gd name="T15" fmla="*/ 2751 h 2903"/>
                  <a:gd name="T16" fmla="*/ 1064 w 2902"/>
                  <a:gd name="T17" fmla="*/ 2702 h 2903"/>
                  <a:gd name="T18" fmla="*/ 1194 w 2902"/>
                  <a:gd name="T19" fmla="*/ 2647 h 2903"/>
                  <a:gd name="T20" fmla="*/ 1320 w 2902"/>
                  <a:gd name="T21" fmla="*/ 2586 h 2903"/>
                  <a:gd name="T22" fmla="*/ 1445 w 2902"/>
                  <a:gd name="T23" fmla="*/ 2518 h 2903"/>
                  <a:gd name="T24" fmla="*/ 1564 w 2902"/>
                  <a:gd name="T25" fmla="*/ 2447 h 2903"/>
                  <a:gd name="T26" fmla="*/ 1679 w 2902"/>
                  <a:gd name="T27" fmla="*/ 2368 h 2903"/>
                  <a:gd name="T28" fmla="*/ 1791 w 2902"/>
                  <a:gd name="T29" fmla="*/ 2284 h 2903"/>
                  <a:gd name="T30" fmla="*/ 1899 w 2902"/>
                  <a:gd name="T31" fmla="*/ 2196 h 2903"/>
                  <a:gd name="T32" fmla="*/ 2001 w 2902"/>
                  <a:gd name="T33" fmla="*/ 2103 h 2903"/>
                  <a:gd name="T34" fmla="*/ 2100 w 2902"/>
                  <a:gd name="T35" fmla="*/ 2004 h 2903"/>
                  <a:gd name="T36" fmla="*/ 2194 w 2902"/>
                  <a:gd name="T37" fmla="*/ 1899 h 2903"/>
                  <a:gd name="T38" fmla="*/ 2283 w 2902"/>
                  <a:gd name="T39" fmla="*/ 1793 h 2903"/>
                  <a:gd name="T40" fmla="*/ 2368 w 2902"/>
                  <a:gd name="T41" fmla="*/ 1681 h 2903"/>
                  <a:gd name="T42" fmla="*/ 2445 w 2902"/>
                  <a:gd name="T43" fmla="*/ 1564 h 2903"/>
                  <a:gd name="T44" fmla="*/ 2518 w 2902"/>
                  <a:gd name="T45" fmla="*/ 1445 h 2903"/>
                  <a:gd name="T46" fmla="*/ 2586 w 2902"/>
                  <a:gd name="T47" fmla="*/ 1322 h 2903"/>
                  <a:gd name="T48" fmla="*/ 2646 w 2902"/>
                  <a:gd name="T49" fmla="*/ 1194 h 2903"/>
                  <a:gd name="T50" fmla="*/ 2701 w 2902"/>
                  <a:gd name="T51" fmla="*/ 1064 h 2903"/>
                  <a:gd name="T52" fmla="*/ 2750 w 2902"/>
                  <a:gd name="T53" fmla="*/ 930 h 2903"/>
                  <a:gd name="T54" fmla="*/ 2792 w 2902"/>
                  <a:gd name="T55" fmla="*/ 795 h 2903"/>
                  <a:gd name="T56" fmla="*/ 2827 w 2902"/>
                  <a:gd name="T57" fmla="*/ 656 h 2903"/>
                  <a:gd name="T58" fmla="*/ 2857 w 2902"/>
                  <a:gd name="T59" fmla="*/ 515 h 2903"/>
                  <a:gd name="T60" fmla="*/ 2879 w 2902"/>
                  <a:gd name="T61" fmla="*/ 370 h 2903"/>
                  <a:gd name="T62" fmla="*/ 2893 w 2902"/>
                  <a:gd name="T63" fmla="*/ 223 h 2903"/>
                  <a:gd name="T64" fmla="*/ 2900 w 2902"/>
                  <a:gd name="T65" fmla="*/ 75 h 2903"/>
                  <a:gd name="T66" fmla="*/ 1161 w 2902"/>
                  <a:gd name="T67" fmla="*/ 0 h 2903"/>
                  <a:gd name="T68" fmla="*/ 1159 w 2902"/>
                  <a:gd name="T69" fmla="*/ 60 h 2903"/>
                  <a:gd name="T70" fmla="*/ 1148 w 2902"/>
                  <a:gd name="T71" fmla="*/ 178 h 2903"/>
                  <a:gd name="T72" fmla="*/ 1124 w 2902"/>
                  <a:gd name="T73" fmla="*/ 289 h 2903"/>
                  <a:gd name="T74" fmla="*/ 1089 w 2902"/>
                  <a:gd name="T75" fmla="*/ 399 h 2903"/>
                  <a:gd name="T76" fmla="*/ 1045 w 2902"/>
                  <a:gd name="T77" fmla="*/ 504 h 2903"/>
                  <a:gd name="T78" fmla="*/ 992 w 2902"/>
                  <a:gd name="T79" fmla="*/ 603 h 2903"/>
                  <a:gd name="T80" fmla="*/ 930 w 2902"/>
                  <a:gd name="T81" fmla="*/ 694 h 2903"/>
                  <a:gd name="T82" fmla="*/ 859 w 2902"/>
                  <a:gd name="T83" fmla="*/ 780 h 2903"/>
                  <a:gd name="T84" fmla="*/ 780 w 2902"/>
                  <a:gd name="T85" fmla="*/ 859 h 2903"/>
                  <a:gd name="T86" fmla="*/ 694 w 2902"/>
                  <a:gd name="T87" fmla="*/ 930 h 2903"/>
                  <a:gd name="T88" fmla="*/ 602 w 2902"/>
                  <a:gd name="T89" fmla="*/ 993 h 2903"/>
                  <a:gd name="T90" fmla="*/ 503 w 2902"/>
                  <a:gd name="T91" fmla="*/ 1048 h 2903"/>
                  <a:gd name="T92" fmla="*/ 399 w 2902"/>
                  <a:gd name="T93" fmla="*/ 1092 h 2903"/>
                  <a:gd name="T94" fmla="*/ 289 w 2902"/>
                  <a:gd name="T95" fmla="*/ 1125 h 2903"/>
                  <a:gd name="T96" fmla="*/ 176 w 2902"/>
                  <a:gd name="T97" fmla="*/ 1148 h 2903"/>
                  <a:gd name="T98" fmla="*/ 58 w 2902"/>
                  <a:gd name="T99" fmla="*/ 1159 h 2903"/>
                  <a:gd name="T100" fmla="*/ 0 w 2902"/>
                  <a:gd name="T101" fmla="*/ 1161 h 2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02" h="2903">
                    <a:moveTo>
                      <a:pt x="0" y="1161"/>
                    </a:moveTo>
                    <a:lnTo>
                      <a:pt x="0" y="2903"/>
                    </a:lnTo>
                    <a:lnTo>
                      <a:pt x="0" y="2903"/>
                    </a:lnTo>
                    <a:lnTo>
                      <a:pt x="75" y="2903"/>
                    </a:lnTo>
                    <a:lnTo>
                      <a:pt x="148" y="2899"/>
                    </a:lnTo>
                    <a:lnTo>
                      <a:pt x="223" y="2896"/>
                    </a:lnTo>
                    <a:lnTo>
                      <a:pt x="296" y="2888"/>
                    </a:lnTo>
                    <a:lnTo>
                      <a:pt x="370" y="2881"/>
                    </a:lnTo>
                    <a:lnTo>
                      <a:pt x="441" y="2870"/>
                    </a:lnTo>
                    <a:lnTo>
                      <a:pt x="512" y="2859"/>
                    </a:lnTo>
                    <a:lnTo>
                      <a:pt x="584" y="2844"/>
                    </a:lnTo>
                    <a:lnTo>
                      <a:pt x="655" y="2830"/>
                    </a:lnTo>
                    <a:lnTo>
                      <a:pt x="725" y="2811"/>
                    </a:lnTo>
                    <a:lnTo>
                      <a:pt x="795" y="2793"/>
                    </a:lnTo>
                    <a:lnTo>
                      <a:pt x="862" y="2773"/>
                    </a:lnTo>
                    <a:lnTo>
                      <a:pt x="930" y="2751"/>
                    </a:lnTo>
                    <a:lnTo>
                      <a:pt x="998" y="2727"/>
                    </a:lnTo>
                    <a:lnTo>
                      <a:pt x="1064" y="2702"/>
                    </a:lnTo>
                    <a:lnTo>
                      <a:pt x="1130" y="2676"/>
                    </a:lnTo>
                    <a:lnTo>
                      <a:pt x="1194" y="2647"/>
                    </a:lnTo>
                    <a:lnTo>
                      <a:pt x="1258" y="2617"/>
                    </a:lnTo>
                    <a:lnTo>
                      <a:pt x="1320" y="2586"/>
                    </a:lnTo>
                    <a:lnTo>
                      <a:pt x="1382" y="2553"/>
                    </a:lnTo>
                    <a:lnTo>
                      <a:pt x="1445" y="2518"/>
                    </a:lnTo>
                    <a:lnTo>
                      <a:pt x="1505" y="2484"/>
                    </a:lnTo>
                    <a:lnTo>
                      <a:pt x="1564" y="2447"/>
                    </a:lnTo>
                    <a:lnTo>
                      <a:pt x="1622" y="2408"/>
                    </a:lnTo>
                    <a:lnTo>
                      <a:pt x="1679" y="2368"/>
                    </a:lnTo>
                    <a:lnTo>
                      <a:pt x="1736" y="2326"/>
                    </a:lnTo>
                    <a:lnTo>
                      <a:pt x="1791" y="2284"/>
                    </a:lnTo>
                    <a:lnTo>
                      <a:pt x="1846" y="2240"/>
                    </a:lnTo>
                    <a:lnTo>
                      <a:pt x="1899" y="2196"/>
                    </a:lnTo>
                    <a:lnTo>
                      <a:pt x="1952" y="2148"/>
                    </a:lnTo>
                    <a:lnTo>
                      <a:pt x="2001" y="2103"/>
                    </a:lnTo>
                    <a:lnTo>
                      <a:pt x="2053" y="2053"/>
                    </a:lnTo>
                    <a:lnTo>
                      <a:pt x="2100" y="2004"/>
                    </a:lnTo>
                    <a:lnTo>
                      <a:pt x="2148" y="1952"/>
                    </a:lnTo>
                    <a:lnTo>
                      <a:pt x="2194" y="1899"/>
                    </a:lnTo>
                    <a:lnTo>
                      <a:pt x="2239" y="1846"/>
                    </a:lnTo>
                    <a:lnTo>
                      <a:pt x="2283" y="1793"/>
                    </a:lnTo>
                    <a:lnTo>
                      <a:pt x="2325" y="1738"/>
                    </a:lnTo>
                    <a:lnTo>
                      <a:pt x="2368" y="1681"/>
                    </a:lnTo>
                    <a:lnTo>
                      <a:pt x="2406" y="1623"/>
                    </a:lnTo>
                    <a:lnTo>
                      <a:pt x="2445" y="1564"/>
                    </a:lnTo>
                    <a:lnTo>
                      <a:pt x="2481" y="1506"/>
                    </a:lnTo>
                    <a:lnTo>
                      <a:pt x="2518" y="1445"/>
                    </a:lnTo>
                    <a:lnTo>
                      <a:pt x="2553" y="1385"/>
                    </a:lnTo>
                    <a:lnTo>
                      <a:pt x="2586" y="1322"/>
                    </a:lnTo>
                    <a:lnTo>
                      <a:pt x="2617" y="1258"/>
                    </a:lnTo>
                    <a:lnTo>
                      <a:pt x="2646" y="1194"/>
                    </a:lnTo>
                    <a:lnTo>
                      <a:pt x="2673" y="1130"/>
                    </a:lnTo>
                    <a:lnTo>
                      <a:pt x="2701" y="1064"/>
                    </a:lnTo>
                    <a:lnTo>
                      <a:pt x="2727" y="998"/>
                    </a:lnTo>
                    <a:lnTo>
                      <a:pt x="2750" y="930"/>
                    </a:lnTo>
                    <a:lnTo>
                      <a:pt x="2772" y="863"/>
                    </a:lnTo>
                    <a:lnTo>
                      <a:pt x="2792" y="795"/>
                    </a:lnTo>
                    <a:lnTo>
                      <a:pt x="2811" y="725"/>
                    </a:lnTo>
                    <a:lnTo>
                      <a:pt x="2827" y="656"/>
                    </a:lnTo>
                    <a:lnTo>
                      <a:pt x="2844" y="584"/>
                    </a:lnTo>
                    <a:lnTo>
                      <a:pt x="2857" y="515"/>
                    </a:lnTo>
                    <a:lnTo>
                      <a:pt x="2869" y="441"/>
                    </a:lnTo>
                    <a:lnTo>
                      <a:pt x="2879" y="370"/>
                    </a:lnTo>
                    <a:lnTo>
                      <a:pt x="2888" y="297"/>
                    </a:lnTo>
                    <a:lnTo>
                      <a:pt x="2893" y="223"/>
                    </a:lnTo>
                    <a:lnTo>
                      <a:pt x="2899" y="150"/>
                    </a:lnTo>
                    <a:lnTo>
                      <a:pt x="2900" y="75"/>
                    </a:lnTo>
                    <a:lnTo>
                      <a:pt x="2902" y="0"/>
                    </a:lnTo>
                    <a:lnTo>
                      <a:pt x="1161" y="0"/>
                    </a:lnTo>
                    <a:lnTo>
                      <a:pt x="1161" y="0"/>
                    </a:lnTo>
                    <a:lnTo>
                      <a:pt x="1159" y="60"/>
                    </a:lnTo>
                    <a:lnTo>
                      <a:pt x="1155" y="119"/>
                    </a:lnTo>
                    <a:lnTo>
                      <a:pt x="1148" y="178"/>
                    </a:lnTo>
                    <a:lnTo>
                      <a:pt x="1137" y="234"/>
                    </a:lnTo>
                    <a:lnTo>
                      <a:pt x="1124" y="289"/>
                    </a:lnTo>
                    <a:lnTo>
                      <a:pt x="1108" y="346"/>
                    </a:lnTo>
                    <a:lnTo>
                      <a:pt x="1089" y="399"/>
                    </a:lnTo>
                    <a:lnTo>
                      <a:pt x="1069" y="452"/>
                    </a:lnTo>
                    <a:lnTo>
                      <a:pt x="1045" y="504"/>
                    </a:lnTo>
                    <a:lnTo>
                      <a:pt x="1020" y="553"/>
                    </a:lnTo>
                    <a:lnTo>
                      <a:pt x="992" y="603"/>
                    </a:lnTo>
                    <a:lnTo>
                      <a:pt x="963" y="650"/>
                    </a:lnTo>
                    <a:lnTo>
                      <a:pt x="930" y="694"/>
                    </a:lnTo>
                    <a:lnTo>
                      <a:pt x="895" y="738"/>
                    </a:lnTo>
                    <a:lnTo>
                      <a:pt x="859" y="780"/>
                    </a:lnTo>
                    <a:lnTo>
                      <a:pt x="820" y="821"/>
                    </a:lnTo>
                    <a:lnTo>
                      <a:pt x="780" y="859"/>
                    </a:lnTo>
                    <a:lnTo>
                      <a:pt x="738" y="896"/>
                    </a:lnTo>
                    <a:lnTo>
                      <a:pt x="694" y="930"/>
                    </a:lnTo>
                    <a:lnTo>
                      <a:pt x="648" y="963"/>
                    </a:lnTo>
                    <a:lnTo>
                      <a:pt x="602" y="993"/>
                    </a:lnTo>
                    <a:lnTo>
                      <a:pt x="553" y="1022"/>
                    </a:lnTo>
                    <a:lnTo>
                      <a:pt x="503" y="1048"/>
                    </a:lnTo>
                    <a:lnTo>
                      <a:pt x="452" y="1070"/>
                    </a:lnTo>
                    <a:lnTo>
                      <a:pt x="399" y="1092"/>
                    </a:lnTo>
                    <a:lnTo>
                      <a:pt x="344" y="1110"/>
                    </a:lnTo>
                    <a:lnTo>
                      <a:pt x="289" y="1125"/>
                    </a:lnTo>
                    <a:lnTo>
                      <a:pt x="232" y="1137"/>
                    </a:lnTo>
                    <a:lnTo>
                      <a:pt x="176" y="1148"/>
                    </a:lnTo>
                    <a:lnTo>
                      <a:pt x="119" y="1156"/>
                    </a:lnTo>
                    <a:lnTo>
                      <a:pt x="58" y="1159"/>
                    </a:lnTo>
                    <a:lnTo>
                      <a:pt x="0" y="1161"/>
                    </a:lnTo>
                    <a:lnTo>
                      <a:pt x="0" y="1161"/>
                    </a:lnTo>
                    <a:close/>
                  </a:path>
                </a:pathLst>
              </a:custGeom>
              <a:grpFill/>
              <a:ln>
                <a:noFill/>
              </a:ln>
            </p:spPr>
            <p:txBody>
              <a:bodyPr anchor="ctr"/>
              <a:lstStyle/>
              <a:p>
                <a:pPr algn="ctr"/>
                <a:endParaRPr>
                  <a:latin typeface="+mj-ea"/>
                  <a:ea typeface="+mj-ea"/>
                </a:endParaRPr>
              </a:p>
            </p:txBody>
          </p:sp>
          <p:sp>
            <p:nvSpPr>
              <p:cNvPr id="28" name="ïṣ1îdé">
                <a:extLst>
                  <a:ext uri="{FF2B5EF4-FFF2-40B4-BE49-F238E27FC236}">
                    <a16:creationId xmlns:a16="http://schemas.microsoft.com/office/drawing/2014/main" id="{F7FFC4E8-599F-46BA-93F2-078E3B0A26CD}"/>
                  </a:ext>
                </a:extLst>
              </p:cNvPr>
              <p:cNvSpPr/>
              <p:nvPr/>
            </p:nvSpPr>
            <p:spPr bwMode="auto">
              <a:xfrm flipH="1">
                <a:off x="4892821" y="3432453"/>
                <a:ext cx="1731647" cy="1730453"/>
              </a:xfrm>
              <a:custGeom>
                <a:avLst/>
                <a:gdLst>
                  <a:gd name="T0" fmla="*/ 0 w 2905"/>
                  <a:gd name="T1" fmla="*/ 0 h 2903"/>
                  <a:gd name="T2" fmla="*/ 2 w 2905"/>
                  <a:gd name="T3" fmla="*/ 75 h 2903"/>
                  <a:gd name="T4" fmla="*/ 9 w 2905"/>
                  <a:gd name="T5" fmla="*/ 223 h 2903"/>
                  <a:gd name="T6" fmla="*/ 24 w 2905"/>
                  <a:gd name="T7" fmla="*/ 370 h 2903"/>
                  <a:gd name="T8" fmla="*/ 46 w 2905"/>
                  <a:gd name="T9" fmla="*/ 515 h 2903"/>
                  <a:gd name="T10" fmla="*/ 75 w 2905"/>
                  <a:gd name="T11" fmla="*/ 656 h 2903"/>
                  <a:gd name="T12" fmla="*/ 112 w 2905"/>
                  <a:gd name="T13" fmla="*/ 795 h 2903"/>
                  <a:gd name="T14" fmla="*/ 154 w 2905"/>
                  <a:gd name="T15" fmla="*/ 930 h 2903"/>
                  <a:gd name="T16" fmla="*/ 202 w 2905"/>
                  <a:gd name="T17" fmla="*/ 1064 h 2903"/>
                  <a:gd name="T18" fmla="*/ 257 w 2905"/>
                  <a:gd name="T19" fmla="*/ 1194 h 2903"/>
                  <a:gd name="T20" fmla="*/ 319 w 2905"/>
                  <a:gd name="T21" fmla="*/ 1322 h 2903"/>
                  <a:gd name="T22" fmla="*/ 385 w 2905"/>
                  <a:gd name="T23" fmla="*/ 1445 h 2903"/>
                  <a:gd name="T24" fmla="*/ 458 w 2905"/>
                  <a:gd name="T25" fmla="*/ 1564 h 2903"/>
                  <a:gd name="T26" fmla="*/ 537 w 2905"/>
                  <a:gd name="T27" fmla="*/ 1681 h 2903"/>
                  <a:gd name="T28" fmla="*/ 621 w 2905"/>
                  <a:gd name="T29" fmla="*/ 1793 h 2903"/>
                  <a:gd name="T30" fmla="*/ 709 w 2905"/>
                  <a:gd name="T31" fmla="*/ 1899 h 2903"/>
                  <a:gd name="T32" fmla="*/ 802 w 2905"/>
                  <a:gd name="T33" fmla="*/ 2004 h 2903"/>
                  <a:gd name="T34" fmla="*/ 901 w 2905"/>
                  <a:gd name="T35" fmla="*/ 2103 h 2903"/>
                  <a:gd name="T36" fmla="*/ 1004 w 2905"/>
                  <a:gd name="T37" fmla="*/ 2196 h 2903"/>
                  <a:gd name="T38" fmla="*/ 1112 w 2905"/>
                  <a:gd name="T39" fmla="*/ 2284 h 2903"/>
                  <a:gd name="T40" fmla="*/ 1224 w 2905"/>
                  <a:gd name="T41" fmla="*/ 2368 h 2903"/>
                  <a:gd name="T42" fmla="*/ 1339 w 2905"/>
                  <a:gd name="T43" fmla="*/ 2447 h 2903"/>
                  <a:gd name="T44" fmla="*/ 1460 w 2905"/>
                  <a:gd name="T45" fmla="*/ 2518 h 2903"/>
                  <a:gd name="T46" fmla="*/ 1583 w 2905"/>
                  <a:gd name="T47" fmla="*/ 2586 h 2903"/>
                  <a:gd name="T48" fmla="*/ 1709 w 2905"/>
                  <a:gd name="T49" fmla="*/ 2647 h 2903"/>
                  <a:gd name="T50" fmla="*/ 1839 w 2905"/>
                  <a:gd name="T51" fmla="*/ 2702 h 2903"/>
                  <a:gd name="T52" fmla="*/ 1973 w 2905"/>
                  <a:gd name="T53" fmla="*/ 2751 h 2903"/>
                  <a:gd name="T54" fmla="*/ 2110 w 2905"/>
                  <a:gd name="T55" fmla="*/ 2793 h 2903"/>
                  <a:gd name="T56" fmla="*/ 2249 w 2905"/>
                  <a:gd name="T57" fmla="*/ 2830 h 2903"/>
                  <a:gd name="T58" fmla="*/ 2390 w 2905"/>
                  <a:gd name="T59" fmla="*/ 2859 h 2903"/>
                  <a:gd name="T60" fmla="*/ 2535 w 2905"/>
                  <a:gd name="T61" fmla="*/ 2881 h 2903"/>
                  <a:gd name="T62" fmla="*/ 2681 w 2905"/>
                  <a:gd name="T63" fmla="*/ 2896 h 2903"/>
                  <a:gd name="T64" fmla="*/ 2830 w 2905"/>
                  <a:gd name="T65" fmla="*/ 2903 h 2903"/>
                  <a:gd name="T66" fmla="*/ 2905 w 2905"/>
                  <a:gd name="T67" fmla="*/ 1161 h 2903"/>
                  <a:gd name="T68" fmla="*/ 2844 w 2905"/>
                  <a:gd name="T69" fmla="*/ 1159 h 2903"/>
                  <a:gd name="T70" fmla="*/ 2727 w 2905"/>
                  <a:gd name="T71" fmla="*/ 1148 h 2903"/>
                  <a:gd name="T72" fmla="*/ 2614 w 2905"/>
                  <a:gd name="T73" fmla="*/ 1125 h 2903"/>
                  <a:gd name="T74" fmla="*/ 2506 w 2905"/>
                  <a:gd name="T75" fmla="*/ 1092 h 2903"/>
                  <a:gd name="T76" fmla="*/ 2401 w 2905"/>
                  <a:gd name="T77" fmla="*/ 1048 h 2903"/>
                  <a:gd name="T78" fmla="*/ 2302 w 2905"/>
                  <a:gd name="T79" fmla="*/ 993 h 2903"/>
                  <a:gd name="T80" fmla="*/ 2209 w 2905"/>
                  <a:gd name="T81" fmla="*/ 930 h 2903"/>
                  <a:gd name="T82" fmla="*/ 2123 w 2905"/>
                  <a:gd name="T83" fmla="*/ 859 h 2903"/>
                  <a:gd name="T84" fmla="*/ 2044 w 2905"/>
                  <a:gd name="T85" fmla="*/ 780 h 2903"/>
                  <a:gd name="T86" fmla="*/ 1974 w 2905"/>
                  <a:gd name="T87" fmla="*/ 694 h 2903"/>
                  <a:gd name="T88" fmla="*/ 1910 w 2905"/>
                  <a:gd name="T89" fmla="*/ 603 h 2903"/>
                  <a:gd name="T90" fmla="*/ 1857 w 2905"/>
                  <a:gd name="T91" fmla="*/ 504 h 2903"/>
                  <a:gd name="T92" fmla="*/ 1813 w 2905"/>
                  <a:gd name="T93" fmla="*/ 399 h 2903"/>
                  <a:gd name="T94" fmla="*/ 1780 w 2905"/>
                  <a:gd name="T95" fmla="*/ 289 h 2903"/>
                  <a:gd name="T96" fmla="*/ 1757 w 2905"/>
                  <a:gd name="T97" fmla="*/ 178 h 2903"/>
                  <a:gd name="T98" fmla="*/ 1744 w 2905"/>
                  <a:gd name="T99" fmla="*/ 60 h 2903"/>
                  <a:gd name="T100" fmla="*/ 1744 w 2905"/>
                  <a:gd name="T101" fmla="*/ 0 h 2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05" h="2903">
                    <a:moveTo>
                      <a:pt x="1744" y="0"/>
                    </a:moveTo>
                    <a:lnTo>
                      <a:pt x="0" y="0"/>
                    </a:lnTo>
                    <a:lnTo>
                      <a:pt x="0" y="0"/>
                    </a:lnTo>
                    <a:lnTo>
                      <a:pt x="2" y="75"/>
                    </a:lnTo>
                    <a:lnTo>
                      <a:pt x="4" y="150"/>
                    </a:lnTo>
                    <a:lnTo>
                      <a:pt x="9" y="223"/>
                    </a:lnTo>
                    <a:lnTo>
                      <a:pt x="17" y="297"/>
                    </a:lnTo>
                    <a:lnTo>
                      <a:pt x="24" y="370"/>
                    </a:lnTo>
                    <a:lnTo>
                      <a:pt x="35" y="441"/>
                    </a:lnTo>
                    <a:lnTo>
                      <a:pt x="46" y="515"/>
                    </a:lnTo>
                    <a:lnTo>
                      <a:pt x="61" y="584"/>
                    </a:lnTo>
                    <a:lnTo>
                      <a:pt x="75" y="656"/>
                    </a:lnTo>
                    <a:lnTo>
                      <a:pt x="92" y="725"/>
                    </a:lnTo>
                    <a:lnTo>
                      <a:pt x="112" y="795"/>
                    </a:lnTo>
                    <a:lnTo>
                      <a:pt x="132" y="863"/>
                    </a:lnTo>
                    <a:lnTo>
                      <a:pt x="154" y="930"/>
                    </a:lnTo>
                    <a:lnTo>
                      <a:pt x="178" y="998"/>
                    </a:lnTo>
                    <a:lnTo>
                      <a:pt x="202" y="1064"/>
                    </a:lnTo>
                    <a:lnTo>
                      <a:pt x="229" y="1130"/>
                    </a:lnTo>
                    <a:lnTo>
                      <a:pt x="257" y="1194"/>
                    </a:lnTo>
                    <a:lnTo>
                      <a:pt x="288" y="1258"/>
                    </a:lnTo>
                    <a:lnTo>
                      <a:pt x="319" y="1322"/>
                    </a:lnTo>
                    <a:lnTo>
                      <a:pt x="352" y="1385"/>
                    </a:lnTo>
                    <a:lnTo>
                      <a:pt x="385" y="1445"/>
                    </a:lnTo>
                    <a:lnTo>
                      <a:pt x="422" y="1506"/>
                    </a:lnTo>
                    <a:lnTo>
                      <a:pt x="458" y="1564"/>
                    </a:lnTo>
                    <a:lnTo>
                      <a:pt x="497" y="1623"/>
                    </a:lnTo>
                    <a:lnTo>
                      <a:pt x="537" y="1681"/>
                    </a:lnTo>
                    <a:lnTo>
                      <a:pt x="577" y="1738"/>
                    </a:lnTo>
                    <a:lnTo>
                      <a:pt x="621" y="1793"/>
                    </a:lnTo>
                    <a:lnTo>
                      <a:pt x="663" y="1846"/>
                    </a:lnTo>
                    <a:lnTo>
                      <a:pt x="709" y="1899"/>
                    </a:lnTo>
                    <a:lnTo>
                      <a:pt x="755" y="1952"/>
                    </a:lnTo>
                    <a:lnTo>
                      <a:pt x="802" y="2004"/>
                    </a:lnTo>
                    <a:lnTo>
                      <a:pt x="852" y="2053"/>
                    </a:lnTo>
                    <a:lnTo>
                      <a:pt x="901" y="2103"/>
                    </a:lnTo>
                    <a:lnTo>
                      <a:pt x="953" y="2148"/>
                    </a:lnTo>
                    <a:lnTo>
                      <a:pt x="1004" y="2196"/>
                    </a:lnTo>
                    <a:lnTo>
                      <a:pt x="1057" y="2240"/>
                    </a:lnTo>
                    <a:lnTo>
                      <a:pt x="1112" y="2284"/>
                    </a:lnTo>
                    <a:lnTo>
                      <a:pt x="1167" y="2326"/>
                    </a:lnTo>
                    <a:lnTo>
                      <a:pt x="1224" y="2368"/>
                    </a:lnTo>
                    <a:lnTo>
                      <a:pt x="1280" y="2408"/>
                    </a:lnTo>
                    <a:lnTo>
                      <a:pt x="1339" y="2447"/>
                    </a:lnTo>
                    <a:lnTo>
                      <a:pt x="1399" y="2484"/>
                    </a:lnTo>
                    <a:lnTo>
                      <a:pt x="1460" y="2518"/>
                    </a:lnTo>
                    <a:lnTo>
                      <a:pt x="1520" y="2553"/>
                    </a:lnTo>
                    <a:lnTo>
                      <a:pt x="1583" y="2586"/>
                    </a:lnTo>
                    <a:lnTo>
                      <a:pt x="1645" y="2617"/>
                    </a:lnTo>
                    <a:lnTo>
                      <a:pt x="1709" y="2647"/>
                    </a:lnTo>
                    <a:lnTo>
                      <a:pt x="1775" y="2676"/>
                    </a:lnTo>
                    <a:lnTo>
                      <a:pt x="1839" y="2702"/>
                    </a:lnTo>
                    <a:lnTo>
                      <a:pt x="1907" y="2727"/>
                    </a:lnTo>
                    <a:lnTo>
                      <a:pt x="1973" y="2751"/>
                    </a:lnTo>
                    <a:lnTo>
                      <a:pt x="2040" y="2773"/>
                    </a:lnTo>
                    <a:lnTo>
                      <a:pt x="2110" y="2793"/>
                    </a:lnTo>
                    <a:lnTo>
                      <a:pt x="2180" y="2811"/>
                    </a:lnTo>
                    <a:lnTo>
                      <a:pt x="2249" y="2830"/>
                    </a:lnTo>
                    <a:lnTo>
                      <a:pt x="2319" y="2844"/>
                    </a:lnTo>
                    <a:lnTo>
                      <a:pt x="2390" y="2859"/>
                    </a:lnTo>
                    <a:lnTo>
                      <a:pt x="2462" y="2870"/>
                    </a:lnTo>
                    <a:lnTo>
                      <a:pt x="2535" y="2881"/>
                    </a:lnTo>
                    <a:lnTo>
                      <a:pt x="2608" y="2888"/>
                    </a:lnTo>
                    <a:lnTo>
                      <a:pt x="2681" y="2896"/>
                    </a:lnTo>
                    <a:lnTo>
                      <a:pt x="2755" y="2899"/>
                    </a:lnTo>
                    <a:lnTo>
                      <a:pt x="2830" y="2903"/>
                    </a:lnTo>
                    <a:lnTo>
                      <a:pt x="2905" y="2903"/>
                    </a:lnTo>
                    <a:lnTo>
                      <a:pt x="2905" y="1161"/>
                    </a:lnTo>
                    <a:lnTo>
                      <a:pt x="2905" y="1161"/>
                    </a:lnTo>
                    <a:lnTo>
                      <a:pt x="2844" y="1159"/>
                    </a:lnTo>
                    <a:lnTo>
                      <a:pt x="2786" y="1156"/>
                    </a:lnTo>
                    <a:lnTo>
                      <a:pt x="2727" y="1148"/>
                    </a:lnTo>
                    <a:lnTo>
                      <a:pt x="2670" y="1137"/>
                    </a:lnTo>
                    <a:lnTo>
                      <a:pt x="2614" y="1125"/>
                    </a:lnTo>
                    <a:lnTo>
                      <a:pt x="2559" y="1110"/>
                    </a:lnTo>
                    <a:lnTo>
                      <a:pt x="2506" y="1092"/>
                    </a:lnTo>
                    <a:lnTo>
                      <a:pt x="2452" y="1070"/>
                    </a:lnTo>
                    <a:lnTo>
                      <a:pt x="2401" y="1048"/>
                    </a:lnTo>
                    <a:lnTo>
                      <a:pt x="2350" y="1022"/>
                    </a:lnTo>
                    <a:lnTo>
                      <a:pt x="2302" y="993"/>
                    </a:lnTo>
                    <a:lnTo>
                      <a:pt x="2255" y="963"/>
                    </a:lnTo>
                    <a:lnTo>
                      <a:pt x="2209" y="930"/>
                    </a:lnTo>
                    <a:lnTo>
                      <a:pt x="2165" y="896"/>
                    </a:lnTo>
                    <a:lnTo>
                      <a:pt x="2123" y="859"/>
                    </a:lnTo>
                    <a:lnTo>
                      <a:pt x="2082" y="821"/>
                    </a:lnTo>
                    <a:lnTo>
                      <a:pt x="2044" y="780"/>
                    </a:lnTo>
                    <a:lnTo>
                      <a:pt x="2007" y="738"/>
                    </a:lnTo>
                    <a:lnTo>
                      <a:pt x="1974" y="694"/>
                    </a:lnTo>
                    <a:lnTo>
                      <a:pt x="1941" y="650"/>
                    </a:lnTo>
                    <a:lnTo>
                      <a:pt x="1910" y="603"/>
                    </a:lnTo>
                    <a:lnTo>
                      <a:pt x="1883" y="553"/>
                    </a:lnTo>
                    <a:lnTo>
                      <a:pt x="1857" y="504"/>
                    </a:lnTo>
                    <a:lnTo>
                      <a:pt x="1833" y="452"/>
                    </a:lnTo>
                    <a:lnTo>
                      <a:pt x="1813" y="399"/>
                    </a:lnTo>
                    <a:lnTo>
                      <a:pt x="1795" y="346"/>
                    </a:lnTo>
                    <a:lnTo>
                      <a:pt x="1780" y="289"/>
                    </a:lnTo>
                    <a:lnTo>
                      <a:pt x="1766" y="234"/>
                    </a:lnTo>
                    <a:lnTo>
                      <a:pt x="1757" y="178"/>
                    </a:lnTo>
                    <a:lnTo>
                      <a:pt x="1749" y="119"/>
                    </a:lnTo>
                    <a:lnTo>
                      <a:pt x="1744" y="60"/>
                    </a:lnTo>
                    <a:lnTo>
                      <a:pt x="1744" y="0"/>
                    </a:lnTo>
                    <a:lnTo>
                      <a:pt x="1744" y="0"/>
                    </a:lnTo>
                    <a:close/>
                  </a:path>
                </a:pathLst>
              </a:custGeom>
              <a:grpFill/>
              <a:ln>
                <a:noFill/>
              </a:ln>
            </p:spPr>
            <p:txBody>
              <a:bodyPr anchor="ctr"/>
              <a:lstStyle/>
              <a:p>
                <a:pPr algn="ctr"/>
                <a:endParaRPr>
                  <a:latin typeface="+mj-ea"/>
                  <a:ea typeface="+mj-ea"/>
                </a:endParaRPr>
              </a:p>
            </p:txBody>
          </p:sp>
          <p:sp>
            <p:nvSpPr>
              <p:cNvPr id="29" name="îSļïḓe">
                <a:extLst>
                  <a:ext uri="{FF2B5EF4-FFF2-40B4-BE49-F238E27FC236}">
                    <a16:creationId xmlns:a16="http://schemas.microsoft.com/office/drawing/2014/main" id="{86037A75-F165-4156-A02C-227A1DEF0598}"/>
                  </a:ext>
                </a:extLst>
              </p:cNvPr>
              <p:cNvSpPr/>
              <p:nvPr/>
            </p:nvSpPr>
            <p:spPr bwMode="auto">
              <a:xfrm flipH="1">
                <a:off x="2932618" y="3374121"/>
                <a:ext cx="1495862" cy="561501"/>
              </a:xfrm>
              <a:custGeom>
                <a:avLst/>
                <a:gdLst>
                  <a:gd name="T0" fmla="*/ 0 w 2031"/>
                  <a:gd name="T1" fmla="*/ 0 h 762"/>
                  <a:gd name="T2" fmla="*/ 1015 w 2031"/>
                  <a:gd name="T3" fmla="*/ 762 h 762"/>
                  <a:gd name="T4" fmla="*/ 2031 w 2031"/>
                  <a:gd name="T5" fmla="*/ 0 h 762"/>
                  <a:gd name="T6" fmla="*/ 0 w 2031"/>
                  <a:gd name="T7" fmla="*/ 0 h 762"/>
                </a:gdLst>
                <a:ahLst/>
                <a:cxnLst>
                  <a:cxn ang="0">
                    <a:pos x="T0" y="T1"/>
                  </a:cxn>
                  <a:cxn ang="0">
                    <a:pos x="T2" y="T3"/>
                  </a:cxn>
                  <a:cxn ang="0">
                    <a:pos x="T4" y="T5"/>
                  </a:cxn>
                  <a:cxn ang="0">
                    <a:pos x="T6" y="T7"/>
                  </a:cxn>
                </a:cxnLst>
                <a:rect l="0" t="0" r="r" b="b"/>
                <a:pathLst>
                  <a:path w="2031" h="762">
                    <a:moveTo>
                      <a:pt x="0" y="0"/>
                    </a:moveTo>
                    <a:lnTo>
                      <a:pt x="1015" y="762"/>
                    </a:lnTo>
                    <a:lnTo>
                      <a:pt x="2031" y="0"/>
                    </a:lnTo>
                    <a:lnTo>
                      <a:pt x="0" y="0"/>
                    </a:lnTo>
                    <a:close/>
                  </a:path>
                </a:pathLst>
              </a:custGeom>
              <a:grpFill/>
              <a:ln>
                <a:noFill/>
              </a:ln>
            </p:spPr>
            <p:txBody>
              <a:bodyPr anchor="ctr"/>
              <a:lstStyle/>
              <a:p>
                <a:pPr algn="ctr"/>
                <a:endParaRPr>
                  <a:latin typeface="+mj-ea"/>
                  <a:ea typeface="+mj-ea"/>
                </a:endParaRPr>
              </a:p>
            </p:txBody>
          </p:sp>
          <p:sp>
            <p:nvSpPr>
              <p:cNvPr id="30" name="îṥḷîḋe">
                <a:extLst>
                  <a:ext uri="{FF2B5EF4-FFF2-40B4-BE49-F238E27FC236}">
                    <a16:creationId xmlns:a16="http://schemas.microsoft.com/office/drawing/2014/main" id="{A24D8145-23A5-4901-A60D-B012D3CFA22D}"/>
                  </a:ext>
                </a:extLst>
              </p:cNvPr>
              <p:cNvSpPr/>
              <p:nvPr/>
            </p:nvSpPr>
            <p:spPr bwMode="auto">
              <a:xfrm flipH="1">
                <a:off x="5355830" y="2928092"/>
                <a:ext cx="1497337" cy="561501"/>
              </a:xfrm>
              <a:custGeom>
                <a:avLst/>
                <a:gdLst>
                  <a:gd name="T0" fmla="*/ 2032 w 2032"/>
                  <a:gd name="T1" fmla="*/ 762 h 762"/>
                  <a:gd name="T2" fmla="*/ 1016 w 2032"/>
                  <a:gd name="T3" fmla="*/ 0 h 762"/>
                  <a:gd name="T4" fmla="*/ 0 w 2032"/>
                  <a:gd name="T5" fmla="*/ 762 h 762"/>
                  <a:gd name="T6" fmla="*/ 2032 w 2032"/>
                  <a:gd name="T7" fmla="*/ 762 h 762"/>
                </a:gdLst>
                <a:ahLst/>
                <a:cxnLst>
                  <a:cxn ang="0">
                    <a:pos x="T0" y="T1"/>
                  </a:cxn>
                  <a:cxn ang="0">
                    <a:pos x="T2" y="T3"/>
                  </a:cxn>
                  <a:cxn ang="0">
                    <a:pos x="T4" y="T5"/>
                  </a:cxn>
                  <a:cxn ang="0">
                    <a:pos x="T6" y="T7"/>
                  </a:cxn>
                </a:cxnLst>
                <a:rect l="0" t="0" r="r" b="b"/>
                <a:pathLst>
                  <a:path w="2032" h="762">
                    <a:moveTo>
                      <a:pt x="2032" y="762"/>
                    </a:moveTo>
                    <a:lnTo>
                      <a:pt x="1016" y="0"/>
                    </a:lnTo>
                    <a:lnTo>
                      <a:pt x="0" y="762"/>
                    </a:lnTo>
                    <a:lnTo>
                      <a:pt x="2032" y="762"/>
                    </a:lnTo>
                    <a:close/>
                  </a:path>
                </a:pathLst>
              </a:custGeom>
              <a:grpFill/>
              <a:ln>
                <a:noFill/>
              </a:ln>
            </p:spPr>
            <p:txBody>
              <a:bodyPr anchor="ctr"/>
              <a:lstStyle/>
              <a:p>
                <a:pPr algn="ctr"/>
                <a:endParaRPr>
                  <a:latin typeface="+mj-ea"/>
                  <a:ea typeface="+mj-ea"/>
                </a:endParaRPr>
              </a:p>
            </p:txBody>
          </p:sp>
        </p:grpSp>
      </p:grpSp>
    </p:spTree>
    <p:extLst>
      <p:ext uri="{BB962C8B-B14F-4D97-AF65-F5344CB8AC3E}">
        <p14:creationId xmlns:p14="http://schemas.microsoft.com/office/powerpoint/2010/main" val="726427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B49F1-1C5A-4140-9F4A-3DE0AAC61B54}"/>
              </a:ext>
            </a:extLst>
          </p:cNvPr>
          <p:cNvSpPr>
            <a:spLocks noGrp="1"/>
          </p:cNvSpPr>
          <p:nvPr>
            <p:ph type="title"/>
          </p:nvPr>
        </p:nvSpPr>
        <p:spPr>
          <a:xfrm>
            <a:off x="669925" y="296214"/>
            <a:ext cx="5426076" cy="732486"/>
          </a:xfrm>
        </p:spPr>
        <p:txBody>
          <a:bodyPr/>
          <a:lstStyle/>
          <a:p>
            <a:r>
              <a:rPr lang="zh-CN" altLang="en-US" dirty="0">
                <a:latin typeface="+mj-ea"/>
              </a:rPr>
              <a:t>异常值分析</a:t>
            </a:r>
          </a:p>
        </p:txBody>
      </p:sp>
      <p:sp>
        <p:nvSpPr>
          <p:cNvPr id="4" name="灯片编号占位符 3">
            <a:extLst>
              <a:ext uri="{FF2B5EF4-FFF2-40B4-BE49-F238E27FC236}">
                <a16:creationId xmlns:a16="http://schemas.microsoft.com/office/drawing/2014/main" id="{A153877B-674B-4222-985F-908C6F0E47EE}"/>
              </a:ext>
            </a:extLst>
          </p:cNvPr>
          <p:cNvSpPr>
            <a:spLocks noGrp="1"/>
          </p:cNvSpPr>
          <p:nvPr>
            <p:ph type="sldNum" sz="quarter" idx="12"/>
          </p:nvPr>
        </p:nvSpPr>
        <p:spPr/>
        <p:txBody>
          <a:bodyPr/>
          <a:lstStyle/>
          <a:p>
            <a:fld id="{5DD3DB80-B894-403A-B48E-6FDC1A72010E}" type="slidenum">
              <a:rPr lang="zh-CN" altLang="en-US" smtClean="0">
                <a:latin typeface="+mj-ea"/>
                <a:ea typeface="+mj-ea"/>
              </a:rPr>
              <a:pPr/>
              <a:t>49</a:t>
            </a:fld>
            <a:endParaRPr lang="zh-CN" altLang="en-US" dirty="0">
              <a:latin typeface="+mj-ea"/>
              <a:ea typeface="+mj-ea"/>
            </a:endParaRPr>
          </a:p>
        </p:txBody>
      </p:sp>
      <p:sp>
        <p:nvSpPr>
          <p:cNvPr id="8" name="文本框 7">
            <a:extLst>
              <a:ext uri="{FF2B5EF4-FFF2-40B4-BE49-F238E27FC236}">
                <a16:creationId xmlns:a16="http://schemas.microsoft.com/office/drawing/2014/main" id="{8F4E074D-8B67-4EC6-9536-130903F6C682}"/>
              </a:ext>
            </a:extLst>
          </p:cNvPr>
          <p:cNvSpPr txBox="1"/>
          <p:nvPr/>
        </p:nvSpPr>
        <p:spPr>
          <a:xfrm>
            <a:off x="697229" y="1061025"/>
            <a:ext cx="2236510" cy="400110"/>
          </a:xfrm>
          <a:prstGeom prst="rect">
            <a:avLst/>
          </a:prstGeom>
          <a:noFill/>
        </p:spPr>
        <p:txBody>
          <a:bodyPr wrap="none" rtlCol="0">
            <a:spAutoFit/>
          </a:bodyPr>
          <a:lstStyle/>
          <a:p>
            <a:r>
              <a:rPr lang="zh-CN" altLang="en-US" sz="2000" b="1" dirty="0">
                <a:latin typeface="+mj-ea"/>
                <a:ea typeface="+mj-ea"/>
              </a:rPr>
              <a:t>怎么处理异常值？</a:t>
            </a:r>
          </a:p>
        </p:txBody>
      </p:sp>
      <p:sp>
        <p:nvSpPr>
          <p:cNvPr id="9" name="文本框 8">
            <a:extLst>
              <a:ext uri="{FF2B5EF4-FFF2-40B4-BE49-F238E27FC236}">
                <a16:creationId xmlns:a16="http://schemas.microsoft.com/office/drawing/2014/main" id="{049A66D9-F313-4A06-8F02-6B8FF0A0DEFD}"/>
              </a:ext>
            </a:extLst>
          </p:cNvPr>
          <p:cNvSpPr txBox="1"/>
          <p:nvPr/>
        </p:nvSpPr>
        <p:spPr>
          <a:xfrm>
            <a:off x="697229" y="1484195"/>
            <a:ext cx="10687695" cy="646331"/>
          </a:xfrm>
          <a:prstGeom prst="rect">
            <a:avLst/>
          </a:prstGeom>
          <a:noFill/>
        </p:spPr>
        <p:txBody>
          <a:bodyPr wrap="square" rtlCol="0">
            <a:spAutoFit/>
          </a:bodyPr>
          <a:lstStyle/>
          <a:p>
            <a:r>
              <a:rPr lang="zh-CN" altLang="en-US" dirty="0">
                <a:latin typeface="+mj-ea"/>
                <a:ea typeface="+mj-ea"/>
              </a:rPr>
              <a:t>处理异常值的大多数方法和处理缺失值的方法类似，例如删除、转换、合并观测值、将它们视为一个单独的组、估算值和其他的统计方法，下面介绍一些常用的方法来处理异常值：</a:t>
            </a:r>
          </a:p>
        </p:txBody>
      </p:sp>
      <p:sp>
        <p:nvSpPr>
          <p:cNvPr id="10" name="文本框 9">
            <a:extLst>
              <a:ext uri="{FF2B5EF4-FFF2-40B4-BE49-F238E27FC236}">
                <a16:creationId xmlns:a16="http://schemas.microsoft.com/office/drawing/2014/main" id="{357A6E8E-8452-4187-A46E-9892CA290A53}"/>
              </a:ext>
            </a:extLst>
          </p:cNvPr>
          <p:cNvSpPr txBox="1"/>
          <p:nvPr/>
        </p:nvSpPr>
        <p:spPr>
          <a:xfrm>
            <a:off x="1109608" y="2130525"/>
            <a:ext cx="10159406" cy="877437"/>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latin typeface="+mj-ea"/>
                <a:ea typeface="+mj-ea"/>
              </a:rPr>
              <a:t>删除观察值：如果是由输入误差、数据处理误差或者异常值很小，可以直接将它们删除</a:t>
            </a:r>
          </a:p>
          <a:p>
            <a:pPr marL="285750" indent="-285750">
              <a:lnSpc>
                <a:spcPct val="150000"/>
              </a:lnSpc>
              <a:buFont typeface="Wingdings" panose="05000000000000000000" pitchFamily="2" charset="2"/>
              <a:buChar char="l"/>
            </a:pPr>
            <a:r>
              <a:rPr lang="zh-CN" altLang="en-US" dirty="0">
                <a:latin typeface="+mj-ea"/>
                <a:ea typeface="+mj-ea"/>
              </a:rPr>
              <a:t>转换：数据转换可以消除异常值，对数据取对数</a:t>
            </a:r>
            <a:r>
              <a:rPr lang="en-US" altLang="zh-CN" dirty="0">
                <a:latin typeface="+mj-ea"/>
                <a:ea typeface="+mj-ea"/>
              </a:rPr>
              <a:t>log</a:t>
            </a:r>
            <a:r>
              <a:rPr lang="zh-CN" altLang="en-US" dirty="0">
                <a:latin typeface="+mj-ea"/>
                <a:ea typeface="+mj-ea"/>
              </a:rPr>
              <a:t>会减轻由于极值引起的变化</a:t>
            </a:r>
          </a:p>
        </p:txBody>
      </p:sp>
      <p:pic>
        <p:nvPicPr>
          <p:cNvPr id="11" name="Picture 3" descr="https://images2017.cnblogs.com/blog/702365/201709/702365-20170905170608476-1810724584.jpg">
            <a:extLst>
              <a:ext uri="{FF2B5EF4-FFF2-40B4-BE49-F238E27FC236}">
                <a16:creationId xmlns:a16="http://schemas.microsoft.com/office/drawing/2014/main" id="{B2109B63-4112-4794-AE8C-B4DF403AE5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3007962"/>
            <a:ext cx="8096250" cy="2390775"/>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56DBDB5B-0537-46A5-A504-C73D648AA07D}"/>
              </a:ext>
            </a:extLst>
          </p:cNvPr>
          <p:cNvSpPr txBox="1"/>
          <p:nvPr/>
        </p:nvSpPr>
        <p:spPr>
          <a:xfrm>
            <a:off x="1109608" y="5363027"/>
            <a:ext cx="10159406" cy="2031325"/>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latin typeface="+mj-ea"/>
                <a:ea typeface="+mj-ea"/>
              </a:rPr>
              <a:t>填充：像处理缺失值那样，可以对异常点进行修改，使用平均值、中值或其他的一些填补方法。在填补之前需要分析异常值是自然的异常值还是人为造成的。如果是人为造成的那就可以进行填充，也可以使用预测模型来填充。</a:t>
            </a:r>
          </a:p>
          <a:p>
            <a:pPr marL="285750" indent="-285750">
              <a:buFont typeface="Wingdings" panose="05000000000000000000" pitchFamily="2" charset="2"/>
              <a:buChar char="l"/>
            </a:pPr>
            <a:r>
              <a:rPr lang="zh-CN" altLang="en-US" dirty="0">
                <a:latin typeface="+mj-ea"/>
                <a:ea typeface="+mj-ea"/>
              </a:rPr>
              <a:t>区别对待：如果存在大量的异常值，应该在统计模型中分别对待它们，比如说将它们分为两个不同的组并为两组建立单个模型，然后再将其输出合并。</a:t>
            </a:r>
          </a:p>
          <a:p>
            <a:endParaRPr lang="zh-CN" altLang="en-US" dirty="0">
              <a:latin typeface="+mj-ea"/>
              <a:ea typeface="+mj-ea"/>
            </a:endParaRPr>
          </a:p>
          <a:p>
            <a:endParaRPr lang="zh-CN" altLang="en-US" dirty="0">
              <a:latin typeface="+mj-ea"/>
              <a:ea typeface="+mj-ea"/>
            </a:endParaRPr>
          </a:p>
        </p:txBody>
      </p:sp>
    </p:spTree>
    <p:extLst>
      <p:ext uri="{BB962C8B-B14F-4D97-AF65-F5344CB8AC3E}">
        <p14:creationId xmlns:p14="http://schemas.microsoft.com/office/powerpoint/2010/main" val="39242731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f1f41b4a-117a-43cd-a554-f923c269f72d"/>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TotalTime>
  <Words>3770</Words>
  <Application>Microsoft Office PowerPoint</Application>
  <PresentationFormat>宽屏</PresentationFormat>
  <Paragraphs>266</Paragraphs>
  <Slides>49</Slides>
  <Notes>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49</vt:i4>
      </vt:variant>
    </vt:vector>
  </HeadingPairs>
  <TitlesOfParts>
    <vt:vector size="55" baseType="lpstr">
      <vt:lpstr>等线</vt:lpstr>
      <vt:lpstr>等线 Light</vt:lpstr>
      <vt:lpstr>微软雅黑</vt:lpstr>
      <vt:lpstr>Arial</vt:lpstr>
      <vt:lpstr>Wingdings</vt:lpstr>
      <vt:lpstr>Office 主题​​</vt:lpstr>
      <vt:lpstr>数据探索与预处理</vt:lpstr>
      <vt:lpstr>大数据分析流程</vt:lpstr>
      <vt:lpstr>数据质量意义</vt:lpstr>
      <vt:lpstr>提纲</vt:lpstr>
      <vt:lpstr>案例说明</vt:lpstr>
      <vt:lpstr>数据理解任务</vt:lpstr>
      <vt:lpstr>数据特征分析</vt:lpstr>
      <vt:lpstr>数据特征分析</vt:lpstr>
      <vt:lpstr>数据特征分析</vt:lpstr>
      <vt:lpstr>删除列</vt:lpstr>
      <vt:lpstr>提纲</vt:lpstr>
      <vt:lpstr>单变量探索</vt:lpstr>
      <vt:lpstr>频数分析</vt:lpstr>
      <vt:lpstr>分布分析</vt:lpstr>
      <vt:lpstr>分布分析</vt:lpstr>
      <vt:lpstr>统计量分析</vt:lpstr>
      <vt:lpstr>统计量分析</vt:lpstr>
      <vt:lpstr>多变量数据探索</vt:lpstr>
      <vt:lpstr>数值型变量相关性分析</vt:lpstr>
      <vt:lpstr>类别型变量的相关性分析</vt:lpstr>
      <vt:lpstr>类别变量和数值变量的相关性分析</vt:lpstr>
      <vt:lpstr>提纲</vt:lpstr>
      <vt:lpstr>数据预处理</vt:lpstr>
      <vt:lpstr>缺失值处理</vt:lpstr>
      <vt:lpstr>缺失值处理</vt:lpstr>
      <vt:lpstr>缺失值处理</vt:lpstr>
      <vt:lpstr>缺失值处理</vt:lpstr>
      <vt:lpstr>缺失值处理</vt:lpstr>
      <vt:lpstr>数据预处理</vt:lpstr>
      <vt:lpstr>数据变换</vt:lpstr>
      <vt:lpstr>分箱</vt:lpstr>
      <vt:lpstr>数据变换</vt:lpstr>
      <vt:lpstr>分箱</vt:lpstr>
      <vt:lpstr>分箱</vt:lpstr>
      <vt:lpstr>分箱</vt:lpstr>
      <vt:lpstr>分箱</vt:lpstr>
      <vt:lpstr>标准化和归一化</vt:lpstr>
      <vt:lpstr>标准化和归一化</vt:lpstr>
      <vt:lpstr>标准化和归一化</vt:lpstr>
      <vt:lpstr>标准化和归一化</vt:lpstr>
      <vt:lpstr>标准化和归一化</vt:lpstr>
      <vt:lpstr>数据预处理</vt:lpstr>
      <vt:lpstr>数据质量分析</vt:lpstr>
      <vt:lpstr>缺失值分析</vt:lpstr>
      <vt:lpstr>缺失值分析</vt:lpstr>
      <vt:lpstr>异常值分析</vt:lpstr>
      <vt:lpstr>异常值分析</vt:lpstr>
      <vt:lpstr>异常值分析</vt:lpstr>
      <vt:lpstr>异常值分析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峰 刘</dc:creator>
  <cp:lastModifiedBy>峰</cp:lastModifiedBy>
  <cp:revision>19</cp:revision>
  <dcterms:created xsi:type="dcterms:W3CDTF">2024-05-26T03:16:54Z</dcterms:created>
  <dcterms:modified xsi:type="dcterms:W3CDTF">2024-05-28T08:43:47Z</dcterms:modified>
</cp:coreProperties>
</file>