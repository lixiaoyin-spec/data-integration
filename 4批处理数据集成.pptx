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2"/>
  </p:notesMasterIdLst>
  <p:sldIdLst>
    <p:sldId id="284" r:id="rId2"/>
    <p:sldId id="274" r:id="rId3"/>
    <p:sldId id="277" r:id="rId4"/>
    <p:sldId id="270" r:id="rId5"/>
    <p:sldId id="281" r:id="rId6"/>
    <p:sldId id="322" r:id="rId7"/>
    <p:sldId id="320" r:id="rId8"/>
    <p:sldId id="321" r:id="rId9"/>
    <p:sldId id="315" r:id="rId10"/>
    <p:sldId id="276" r:id="rId11"/>
    <p:sldId id="296" r:id="rId12"/>
    <p:sldId id="278" r:id="rId13"/>
    <p:sldId id="285" r:id="rId14"/>
    <p:sldId id="302" r:id="rId15"/>
    <p:sldId id="306" r:id="rId16"/>
    <p:sldId id="307" r:id="rId17"/>
    <p:sldId id="308" r:id="rId18"/>
    <p:sldId id="305" r:id="rId19"/>
    <p:sldId id="309" r:id="rId20"/>
    <p:sldId id="304" r:id="rId21"/>
    <p:sldId id="310" r:id="rId22"/>
    <p:sldId id="317" r:id="rId23"/>
    <p:sldId id="316" r:id="rId24"/>
    <p:sldId id="319" r:id="rId25"/>
    <p:sldId id="318" r:id="rId26"/>
    <p:sldId id="297" r:id="rId27"/>
    <p:sldId id="312" r:id="rId28"/>
    <p:sldId id="323" r:id="rId29"/>
    <p:sldId id="324" r:id="rId30"/>
    <p:sldId id="326" r:id="rId31"/>
    <p:sldId id="328" r:id="rId32"/>
    <p:sldId id="329" r:id="rId33"/>
    <p:sldId id="327" r:id="rId34"/>
    <p:sldId id="331" r:id="rId35"/>
    <p:sldId id="332" r:id="rId36"/>
    <p:sldId id="333" r:id="rId37"/>
    <p:sldId id="330" r:id="rId38"/>
    <p:sldId id="325" r:id="rId39"/>
    <p:sldId id="334" r:id="rId40"/>
    <p:sldId id="298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9" r:id="rId50"/>
    <p:sldId id="280" r:id="rId51"/>
    <p:sldId id="336" r:id="rId52"/>
    <p:sldId id="339" r:id="rId53"/>
    <p:sldId id="340" r:id="rId54"/>
    <p:sldId id="341" r:id="rId55"/>
    <p:sldId id="342" r:id="rId56"/>
    <p:sldId id="343" r:id="rId57"/>
    <p:sldId id="344" r:id="rId58"/>
    <p:sldId id="345" r:id="rId59"/>
    <p:sldId id="337" r:id="rId60"/>
    <p:sldId id="346" r:id="rId61"/>
    <p:sldId id="347" r:id="rId62"/>
    <p:sldId id="348" r:id="rId63"/>
    <p:sldId id="350" r:id="rId64"/>
    <p:sldId id="349" r:id="rId65"/>
    <p:sldId id="338" r:id="rId66"/>
    <p:sldId id="351" r:id="rId67"/>
    <p:sldId id="352" r:id="rId68"/>
    <p:sldId id="355" r:id="rId69"/>
    <p:sldId id="356" r:id="rId70"/>
    <p:sldId id="357" r:id="rId71"/>
    <p:sldId id="358" r:id="rId72"/>
    <p:sldId id="359" r:id="rId73"/>
    <p:sldId id="353" r:id="rId74"/>
    <p:sldId id="360" r:id="rId75"/>
    <p:sldId id="361" r:id="rId76"/>
    <p:sldId id="362" r:id="rId77"/>
    <p:sldId id="363" r:id="rId78"/>
    <p:sldId id="364" r:id="rId79"/>
    <p:sldId id="354" r:id="rId80"/>
    <p:sldId id="365" r:id="rId8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0" autoAdjust="0"/>
    <p:restoredTop sz="75739" autoAdjust="0"/>
  </p:normalViewPr>
  <p:slideViewPr>
    <p:cSldViewPr>
      <p:cViewPr varScale="1">
        <p:scale>
          <a:sx n="66" d="100"/>
          <a:sy n="66" d="100"/>
        </p:scale>
        <p:origin x="194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450C5-DE71-4C5A-88B2-0F9EC6620D2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1CE35-43FE-48C4-AF1D-4091619A01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96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tencent.com/developer/article/1589285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875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05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64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 smtClean="0"/>
              <a:t>处理大量数据</a:t>
            </a:r>
            <a:endParaRPr lang="en-US" altLang="zh-CN" sz="1200" dirty="0" smtClean="0"/>
          </a:p>
          <a:p>
            <a:r>
              <a:rPr lang="zh-CN" altLang="en-US" sz="1200" dirty="0" smtClean="0"/>
              <a:t>静态数据集，到时间点后不再更新</a:t>
            </a:r>
            <a:endParaRPr lang="en-US" altLang="zh-CN" sz="1200" dirty="0" smtClean="0"/>
          </a:p>
          <a:p>
            <a:r>
              <a:rPr lang="zh-CN" altLang="en-US" sz="1200" dirty="0" smtClean="0"/>
              <a:t>异步是特定的时间点，比如凌晨</a:t>
            </a:r>
            <a:r>
              <a:rPr lang="en-US" altLang="zh-CN" sz="1200" dirty="0" smtClean="0"/>
              <a:t>3</a:t>
            </a:r>
            <a:r>
              <a:rPr lang="zh-CN" altLang="en-US" sz="1200" dirty="0" smtClean="0"/>
              <a:t>点，之前同步 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14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 smtClean="0">
                <a:latin typeface="+mn-ea"/>
              </a:rPr>
              <a:t>时效性要求不高：不能实时响应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latin typeface="+mn-ea"/>
              </a:rPr>
              <a:t>精确性要求高，数据不能变化；</a:t>
            </a:r>
            <a:r>
              <a:rPr lang="zh-CN" altLang="en-US" dirty="0" smtClean="0"/>
              <a:t>有条数据延时过了十分钟才传到，只能是实时才能处理，比如丢弃</a:t>
            </a:r>
            <a:endParaRPr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+mn-ea"/>
              </a:rPr>
              <a:t>数据有长久的价值：存储较久</a:t>
            </a:r>
            <a:endParaRPr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175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latin typeface="+mn-ea"/>
              </a:rPr>
              <a:t>高性能和扩展性</a:t>
            </a:r>
            <a:r>
              <a:rPr lang="zh-CN" altLang="en-US" sz="1200" dirty="0" smtClean="0">
                <a:latin typeface="+mn-lt"/>
              </a:rPr>
              <a:t>：数据集成后再访问 </a:t>
            </a:r>
            <a:endParaRPr lang="en-US" altLang="zh-CN" sz="2400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890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不允许同字段名，不同的含义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855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不能</a:t>
            </a:r>
            <a:r>
              <a:rPr lang="en-US" altLang="zh-CN" dirty="0" smtClean="0"/>
              <a:t>select *</a:t>
            </a:r>
            <a:r>
              <a:rPr lang="zh-CN" altLang="en-US" dirty="0" smtClean="0"/>
              <a:t>，容易出错。要具体的字段名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720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流式数据：不断生成的日志数据</a:t>
            </a:r>
            <a:endParaRPr lang="en-US" altLang="zh-CN" dirty="0" smtClean="0"/>
          </a:p>
          <a:p>
            <a:r>
              <a:rPr lang="en-US" altLang="zh-CN" dirty="0" smtClean="0"/>
              <a:t>ETL</a:t>
            </a:r>
            <a:r>
              <a:rPr lang="zh-CN" altLang="en-US" dirty="0" smtClean="0"/>
              <a:t>：清洗转换上传的操作</a:t>
            </a:r>
            <a:endParaRPr lang="en-US" altLang="zh-CN" dirty="0" smtClean="0"/>
          </a:p>
          <a:p>
            <a:r>
              <a:rPr lang="en-US" altLang="zh-CN" dirty="0" smtClean="0"/>
              <a:t> Yarm</a:t>
            </a:r>
            <a:r>
              <a:rPr lang="zh-CN" altLang="en-US" dirty="0" smtClean="0"/>
              <a:t>：资源的管理</a:t>
            </a:r>
            <a:endParaRPr lang="en-US" altLang="zh-CN" dirty="0" smtClean="0"/>
          </a:p>
          <a:p>
            <a:r>
              <a:rPr lang="zh-CN" altLang="en-US" dirty="0" smtClean="0"/>
              <a:t>两个批处理计算的引擎</a:t>
            </a:r>
            <a:r>
              <a:rPr lang="en-US" altLang="zh-CN" dirty="0" smtClean="0"/>
              <a:t>MR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（自己写了一套）</a:t>
            </a:r>
            <a:endParaRPr lang="en-US" altLang="zh-CN" dirty="0" smtClean="0"/>
          </a:p>
          <a:p>
            <a:r>
              <a:rPr lang="zh-CN" altLang="en-US" dirty="0" smtClean="0"/>
              <a:t>查询一般还是</a:t>
            </a:r>
            <a:r>
              <a:rPr lang="en-US" altLang="zh-CN" dirty="0" err="1" smtClean="0"/>
              <a:t>sql</a:t>
            </a:r>
            <a:r>
              <a:rPr lang="zh-CN" altLang="en-US" dirty="0" smtClean="0"/>
              <a:t>方式：</a:t>
            </a:r>
            <a:r>
              <a:rPr lang="en-US" altLang="zh-CN" dirty="0" smtClean="0"/>
              <a:t>Hive</a:t>
            </a:r>
            <a:r>
              <a:rPr lang="zh-CN" altLang="en-US" dirty="0" smtClean="0"/>
              <a:t>；</a:t>
            </a:r>
            <a:r>
              <a:rPr lang="en-US" altLang="zh-CN" dirty="0" smtClean="0"/>
              <a:t>spark SQL</a:t>
            </a:r>
            <a:r>
              <a:rPr lang="zh-CN" altLang="en-US" dirty="0" smtClean="0"/>
              <a:t>。都是大数据类</a:t>
            </a:r>
            <a:r>
              <a:rPr lang="en-US" altLang="zh-CN" dirty="0" err="1" smtClean="0"/>
              <a:t>sql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699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结构化的数据、日志数据、临时文件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11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071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875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06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Hadoop</a:t>
            </a:r>
            <a:r>
              <a:rPr lang="zh-CN" altLang="en-US" dirty="0" smtClean="0"/>
              <a:t>和关系型数据库之间的交流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896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894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44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667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、与数据库通信，获得数据元数据信息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、启动</a:t>
            </a:r>
            <a:r>
              <a:rPr lang="en-US" altLang="zh-CN" dirty="0" smtClean="0"/>
              <a:t>map</a:t>
            </a:r>
            <a:r>
              <a:rPr lang="zh-CN" altLang="en-US" dirty="0" smtClean="0"/>
              <a:t>任务，并行导入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172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根据关键字（连接字符串）选择合适的导出方法，一般是</a:t>
            </a:r>
            <a:r>
              <a:rPr lang="en-US" altLang="zh-CN" dirty="0" smtClean="0"/>
              <a:t>JDBC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925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看有没有安装成功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93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929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36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7201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8757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 smtClean="0"/>
              <a:t>incremental </a:t>
            </a:r>
            <a:r>
              <a:rPr lang="en-US" altLang="zh-CN" sz="2000" dirty="0" err="1" smtClean="0"/>
              <a:t>lastmodified</a:t>
            </a:r>
            <a:r>
              <a:rPr lang="en-US" altLang="zh-CN" sz="2000" dirty="0" smtClean="0"/>
              <a:t>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 smtClean="0"/>
              <a:t>check-column time \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 smtClean="0"/>
              <a:t>merge-key id \</a:t>
            </a:r>
            <a:r>
              <a:rPr lang="zh-CN" altLang="en-US" sz="1200" baseline="0" dirty="0" smtClean="0"/>
              <a:t>  合并列    可能有多次导入需要合并</a:t>
            </a:r>
            <a:endParaRPr lang="en-US" altLang="zh-CN" sz="20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4318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548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dirty="0" smtClean="0"/>
              <a:t>Source-&gt;Channel-&gt;Sink  </a:t>
            </a:r>
            <a:r>
              <a:rPr lang="zh-CN" altLang="en-US" sz="1200" dirty="0" smtClean="0"/>
              <a:t>事件有头部和信息</a:t>
            </a:r>
            <a:endParaRPr lang="en-US" altLang="zh-CN" sz="1200" dirty="0" smtClean="0"/>
          </a:p>
          <a:p>
            <a:r>
              <a:rPr lang="en-US" altLang="zh-CN" sz="1200" dirty="0" smtClean="0"/>
              <a:t>Source-</a:t>
            </a:r>
            <a:r>
              <a:rPr lang="zh-CN" altLang="en-US" sz="1200" dirty="0" smtClean="0"/>
              <a:t>捕捉事件，格式化后发给到</a:t>
            </a:r>
            <a:r>
              <a:rPr lang="en-US" altLang="zh-CN" sz="1200" dirty="0" smtClean="0"/>
              <a:t> Channel</a:t>
            </a:r>
            <a:r>
              <a:rPr lang="zh-CN" altLang="en-US" sz="1200" dirty="0" smtClean="0"/>
              <a:t>，作为缓冲区，保存直到</a:t>
            </a:r>
            <a:r>
              <a:rPr lang="en-US" altLang="zh-CN" sz="1200" dirty="0" smtClean="0"/>
              <a:t>sink</a:t>
            </a:r>
            <a:r>
              <a:rPr lang="zh-CN" altLang="en-US" sz="1200" dirty="0" smtClean="0"/>
              <a:t>处理完；</a:t>
            </a:r>
            <a:r>
              <a:rPr lang="en-US" altLang="zh-CN" sz="1200" dirty="0" smtClean="0"/>
              <a:t>sink</a:t>
            </a:r>
            <a:r>
              <a:rPr lang="zh-CN" altLang="en-US" sz="1200" dirty="0" smtClean="0"/>
              <a:t>是把事件推给另一个源</a:t>
            </a:r>
            <a:endParaRPr lang="en-US" altLang="zh-CN" sz="1200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Flume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的事务机制（类似数据库的事务机制）：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Flume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使用两个独立的事务分别负责从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Soucrce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，以及从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Sink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的事件传递。比如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spooling directory source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文件的每一行创建一个事件，一旦事务中所有的事件全部传递到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且提交成功，那么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Soucrce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就将该文件标记为完成。同理，事务以类似的方式处理从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Sink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的传递过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程，如果因为某种原因使得事件无法记录，那么事务将会回滚。且所有的事件都会保持到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中，等待重新传递。</a:t>
            </a:r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1658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Flume</a:t>
            </a:r>
            <a:r>
              <a:rPr lang="zh-CN" altLang="en-US" dirty="0" smtClean="0"/>
              <a:t>侦听日志的改变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2876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Flume</a:t>
            </a:r>
            <a:r>
              <a:rPr lang="zh-CN" altLang="en-US" dirty="0" smtClean="0"/>
              <a:t>以</a:t>
            </a:r>
            <a:r>
              <a:rPr lang="en-US" altLang="zh-CN" dirty="0" smtClean="0"/>
              <a:t>agent</a:t>
            </a:r>
            <a:r>
              <a:rPr lang="zh-CN" altLang="en-US" dirty="0" smtClean="0"/>
              <a:t>为最小独立运行单位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9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8923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缓冲区，直至</a:t>
            </a:r>
            <a:r>
              <a:rPr lang="en-US" altLang="zh-CN" dirty="0" smtClean="0"/>
              <a:t>sink</a:t>
            </a:r>
            <a:r>
              <a:rPr lang="zh-CN" altLang="en-US" dirty="0" smtClean="0"/>
              <a:t>处理完成</a:t>
            </a:r>
            <a:endParaRPr lang="en-US" altLang="zh-CN" dirty="0" smtClean="0"/>
          </a:p>
          <a:p>
            <a:r>
              <a:rPr lang="zh-CN" altLang="en-US" dirty="0" smtClean="0"/>
              <a:t>基于内存的和基于文件两类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3826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2261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8120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路径过长导致出错处理过多，会有效率问题。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0319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Web</a:t>
            </a:r>
            <a:r>
              <a:rPr lang="zh-CN" altLang="en-US" dirty="0" smtClean="0"/>
              <a:t>的用户行为日志。集群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312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源比较复杂的情况，不同的日志：系统日志、</a:t>
            </a:r>
            <a:r>
              <a:rPr lang="en-US" altLang="zh-CN" dirty="0" smtClean="0"/>
              <a:t>tomcat</a:t>
            </a:r>
            <a:r>
              <a:rPr lang="zh-CN" altLang="en-US" dirty="0" smtClean="0"/>
              <a:t>的日志、</a:t>
            </a:r>
            <a:r>
              <a:rPr lang="en-US" altLang="zh-CN" dirty="0" err="1" smtClean="0"/>
              <a:t>ngix</a:t>
            </a:r>
            <a:r>
              <a:rPr lang="zh-CN" altLang="en-US" dirty="0" smtClean="0"/>
              <a:t>的日志。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6305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0264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2038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1099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4983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原有数据质量有问题用</a:t>
            </a:r>
            <a:r>
              <a:rPr lang="en-US" altLang="zh-CN" dirty="0" smtClean="0"/>
              <a:t>ETL</a:t>
            </a:r>
          </a:p>
          <a:p>
            <a:r>
              <a:rPr lang="en-US" altLang="zh-CN" dirty="0" smtClean="0"/>
              <a:t>ELT</a:t>
            </a:r>
            <a:r>
              <a:rPr lang="zh-CN" altLang="en-US" dirty="0" smtClean="0"/>
              <a:t>的转换工作其实比较简单，更关注大量</a:t>
            </a:r>
            <a:r>
              <a:rPr lang="zh-CN" altLang="en-US" dirty="0" smtClean="0"/>
              <a:t>数据，现在的大数据技术框架集成端比较强。</a:t>
            </a:r>
            <a:endParaRPr lang="en-US" altLang="zh-CN" dirty="0" smtClean="0"/>
          </a:p>
          <a:p>
            <a:r>
              <a:rPr lang="en-US" altLang="zh-CN" dirty="0" smtClean="0"/>
              <a:t>ELT</a:t>
            </a:r>
            <a:r>
              <a:rPr lang="zh-CN" altLang="en-US" dirty="0" smtClean="0"/>
              <a:t>比较轻量级，原始数据可能面向不同的清洗需求。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3943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数据的异构和低质量的问题，数据</a:t>
            </a:r>
            <a:r>
              <a:rPr lang="zh-CN" altLang="en-US" dirty="0" smtClean="0"/>
              <a:t>规范化</a:t>
            </a:r>
            <a:endParaRPr lang="en-US" altLang="zh-CN" dirty="0" smtClean="0"/>
          </a:p>
          <a:p>
            <a:r>
              <a:rPr lang="zh-CN" altLang="en-US" dirty="0" smtClean="0"/>
              <a:t>空数据、无效值、不规范的数据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6813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手工数据：临时表</a:t>
            </a:r>
            <a:endParaRPr lang="en-US" altLang="zh-CN" dirty="0" smtClean="0"/>
          </a:p>
          <a:p>
            <a:r>
              <a:rPr lang="zh-CN" altLang="en-US" dirty="0" smtClean="0"/>
              <a:t>相同源：</a:t>
            </a:r>
            <a:r>
              <a:rPr lang="en-US" altLang="zh-CN" dirty="0" err="1" smtClean="0"/>
              <a:t>sqoop</a:t>
            </a:r>
            <a:endParaRPr lang="en-US" altLang="zh-CN" dirty="0" smtClean="0"/>
          </a:p>
          <a:p>
            <a:r>
              <a:rPr lang="zh-CN" altLang="en-US" dirty="0" smtClean="0"/>
              <a:t>不同源：直接基于</a:t>
            </a:r>
            <a:r>
              <a:rPr lang="en-US" altLang="zh-CN" dirty="0" smtClean="0"/>
              <a:t>string</a:t>
            </a:r>
            <a:r>
              <a:rPr lang="zh-CN" altLang="en-US" dirty="0" smtClean="0"/>
              <a:t>获取，后再处理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8341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补全：只</a:t>
            </a:r>
            <a:r>
              <a:rPr lang="zh-CN" altLang="en-US" dirty="0" smtClean="0"/>
              <a:t>填市县没有省</a:t>
            </a:r>
            <a:endParaRPr lang="en-US" altLang="zh-CN" dirty="0" smtClean="0"/>
          </a:p>
          <a:p>
            <a:r>
              <a:rPr lang="zh-CN" altLang="en-US" dirty="0" smtClean="0"/>
              <a:t>错数据替换或者去掉</a:t>
            </a:r>
            <a:endParaRPr lang="en-US" altLang="zh-CN" dirty="0" smtClean="0"/>
          </a:p>
          <a:p>
            <a:r>
              <a:rPr lang="zh-CN" altLang="en-US" dirty="0" smtClean="0"/>
              <a:t>粒度：</a:t>
            </a:r>
            <a:r>
              <a:rPr lang="zh-CN" altLang="en-US" dirty="0" smtClean="0"/>
              <a:t>拉平（</a:t>
            </a:r>
            <a:r>
              <a:rPr lang="en-US" altLang="zh-CN" dirty="0" smtClean="0"/>
              <a:t>string</a:t>
            </a:r>
            <a:r>
              <a:rPr lang="zh-CN" altLang="en-US" dirty="0" smtClean="0"/>
              <a:t>到行记录），</a:t>
            </a:r>
            <a:r>
              <a:rPr lang="zh-CN" altLang="en-US" dirty="0" smtClean="0"/>
              <a:t>行转</a:t>
            </a:r>
            <a:r>
              <a:rPr lang="zh-CN" altLang="en-US" dirty="0" smtClean="0"/>
              <a:t>列</a:t>
            </a:r>
            <a:endParaRPr lang="en-US" altLang="zh-CN" dirty="0" smtClean="0"/>
          </a:p>
          <a:p>
            <a:r>
              <a:rPr lang="zh-CN" altLang="en-US" dirty="0" smtClean="0"/>
              <a:t>数据指标计算逻辑统一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2331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性能和复杂度</a:t>
            </a:r>
            <a:endParaRPr lang="en-US" altLang="zh-CN" dirty="0" smtClean="0"/>
          </a:p>
          <a:p>
            <a:r>
              <a:rPr lang="zh-CN" altLang="en-US" dirty="0" smtClean="0"/>
              <a:t>现在计算能力不是瓶颈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2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5779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3"/>
              </a:rPr>
              <a:t>https://cloud.tencent.com/developer/article/1589285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025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360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Google</a:t>
            </a:r>
            <a:r>
              <a:rPr lang="zh-CN" altLang="en-US" dirty="0" smtClean="0"/>
              <a:t>文件系统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78611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NameNode</a:t>
            </a:r>
            <a:r>
              <a:rPr lang="en-US" altLang="zh-CN" dirty="0" smtClean="0"/>
              <a:t> HA</a:t>
            </a:r>
            <a:r>
              <a:rPr lang="zh-CN" altLang="en-US" dirty="0" smtClean="0"/>
              <a:t>：命名节点的高可用方案</a:t>
            </a:r>
            <a:endParaRPr lang="en-US" altLang="zh-CN" dirty="0" smtClean="0"/>
          </a:p>
          <a:p>
            <a:r>
              <a:rPr lang="zh-CN" altLang="en-US" dirty="0" smtClean="0"/>
              <a:t>代码比较小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7668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NameNode</a:t>
            </a:r>
            <a:r>
              <a:rPr lang="en-US" altLang="zh-CN" dirty="0" smtClean="0"/>
              <a:t> </a:t>
            </a:r>
            <a:r>
              <a:rPr lang="zh-CN" altLang="en-US" dirty="0" smtClean="0"/>
              <a:t>作为主节点和元数据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765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NameNode</a:t>
            </a:r>
            <a:r>
              <a:rPr lang="en-US" altLang="zh-CN" dirty="0" smtClean="0"/>
              <a:t> </a:t>
            </a:r>
            <a:r>
              <a:rPr lang="zh-CN" altLang="en-US" dirty="0" smtClean="0"/>
              <a:t>作为管理者</a:t>
            </a:r>
            <a:endParaRPr lang="en-US" altLang="zh-CN" dirty="0" smtClean="0"/>
          </a:p>
          <a:p>
            <a:r>
              <a:rPr lang="zh-CN" altLang="en-US" dirty="0" smtClean="0"/>
              <a:t>每个</a:t>
            </a:r>
            <a:r>
              <a:rPr lang="en-US" altLang="zh-CN" dirty="0" err="1" smtClean="0"/>
              <a:t>datanode</a:t>
            </a:r>
            <a:r>
              <a:rPr lang="zh-CN" altLang="en-US" dirty="0" smtClean="0"/>
              <a:t>有三个</a:t>
            </a:r>
            <a:r>
              <a:rPr lang="zh-CN" altLang="en-US" dirty="0" smtClean="0"/>
              <a:t>备份</a:t>
            </a:r>
            <a:endParaRPr lang="en-US" altLang="zh-CN" dirty="0" smtClean="0"/>
          </a:p>
          <a:p>
            <a:r>
              <a:rPr lang="zh-CN" altLang="en-US" dirty="0" smtClean="0"/>
              <a:t>同色同数据块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3487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三个副本是自动写好的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52479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最近的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932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 err="1" smtClean="0"/>
              <a:t>hadoop</a:t>
            </a:r>
            <a:r>
              <a:rPr lang="en-US" altLang="zh-CN" sz="2400" dirty="0" smtClean="0"/>
              <a:t> fs –text /</a:t>
            </a:r>
            <a:r>
              <a:rPr lang="en-US" altLang="zh-CN" sz="2400" dirty="0" err="1" smtClean="0"/>
              <a:t>tmp</a:t>
            </a:r>
            <a:r>
              <a:rPr lang="en-US" altLang="zh-CN" sz="2400" dirty="0" smtClean="0"/>
              <a:t>/*|less </a:t>
            </a:r>
            <a:r>
              <a:rPr lang="zh-CN" altLang="en-US" sz="2400" dirty="0" smtClean="0"/>
              <a:t>，查看文件内容</a:t>
            </a:r>
            <a:endParaRPr lang="en-US" altLang="zh-CN" sz="2400" dirty="0" smtClean="0"/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451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9073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4660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举例是几个大数据中行存储的格式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2318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同行数据需要内存中同步</a:t>
            </a:r>
            <a:endParaRPr lang="en-US" altLang="zh-CN" dirty="0" smtClean="0"/>
          </a:p>
          <a:p>
            <a:r>
              <a:rPr lang="zh-CN" altLang="en-US" dirty="0" smtClean="0"/>
              <a:t>是行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19396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097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9814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1CE35-43FE-48C4-AF1D-4091619A0117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2820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 smtClean="0">
                <a:latin typeface="+mn-ea"/>
              </a:rPr>
              <a:t>系统业务级别主题：用户、商品</a:t>
            </a:r>
            <a:endParaRPr lang="en-US" altLang="zh-CN" sz="1200" dirty="0" smtClean="0">
              <a:latin typeface="+mn-ea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 smtClean="0">
                <a:latin typeface="+mn-ea"/>
              </a:rPr>
              <a:t>决策时关心的重点方面</a:t>
            </a:r>
            <a:r>
              <a:rPr lang="zh-CN" altLang="en-US" sz="1200" dirty="0" smtClean="0">
                <a:latin typeface="+mn-lt"/>
              </a:rPr>
              <a:t>：营销</a:t>
            </a:r>
            <a:endParaRPr lang="en-US" altLang="zh-CN" sz="1200" dirty="0" smtClean="0">
              <a:latin typeface="+mn-lt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 smtClean="0"/>
              <a:t>反映了某一历史时间点的数据快照</a:t>
            </a:r>
            <a:r>
              <a:rPr lang="zh-CN" altLang="en-US" sz="1600" dirty="0" smtClean="0">
                <a:latin typeface="+mn-ea"/>
              </a:rPr>
              <a:t>：订单下单，待支付、支付、发货、完成的全过程记录</a:t>
            </a:r>
            <a:endParaRPr lang="en-US" altLang="zh-CN" sz="1600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34805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每个箭头都是</a:t>
            </a:r>
            <a:r>
              <a:rPr lang="en-US" altLang="zh-CN" dirty="0" err="1" smtClean="0"/>
              <a:t>etl</a:t>
            </a:r>
            <a:r>
              <a:rPr lang="zh-CN" altLang="en-US" dirty="0" smtClean="0"/>
              <a:t>只是侧重不同；每个</a:t>
            </a:r>
            <a:r>
              <a:rPr lang="zh-CN" altLang="en-US" dirty="0" smtClean="0"/>
              <a:t>抽取都会有转换的内容，所以也是一个</a:t>
            </a:r>
            <a:r>
              <a:rPr lang="en-US" altLang="zh-CN" dirty="0" err="1" smtClean="0"/>
              <a:t>etl</a:t>
            </a:r>
            <a:r>
              <a:rPr lang="zh-CN" altLang="en-US" dirty="0" smtClean="0"/>
              <a:t>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5447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21744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dirty="0" smtClean="0"/>
              <a:t>可变的：指数据可能需要优化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67439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14195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8647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7276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HIVE</a:t>
            </a:r>
            <a:r>
              <a:rPr lang="zh-CN" altLang="en-US" dirty="0" smtClean="0"/>
              <a:t>自己有数据库，但是不适用，比如不支持多用户访问等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21971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命令会翻译成</a:t>
            </a:r>
            <a:r>
              <a:rPr lang="en-US" altLang="zh-CN" dirty="0" smtClean="0"/>
              <a:t>map reduce</a:t>
            </a:r>
            <a:r>
              <a:rPr lang="zh-CN" altLang="en-US" dirty="0" smtClean="0"/>
              <a:t>的指令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82936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63097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方便几个系统共用，一个系统删除不影响其他系统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46794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每个分类会建立子目录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01464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如要安装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属性分为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个桶，就是对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属性值的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值对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取模，按照取模结果对数据分桶。如取模结果为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的数据记录存放到一个文件，取模为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的数据存放到一个文件，取模为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的数据存放到一个文件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95838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Table</a:t>
            </a:r>
            <a:r>
              <a:rPr lang="zh-CN" altLang="en-US" dirty="0" smtClean="0"/>
              <a:t>需要事先建立；</a:t>
            </a:r>
            <a:r>
              <a:rPr lang="en-US" altLang="zh-CN" dirty="0" smtClean="0"/>
              <a:t>local</a:t>
            </a:r>
            <a:r>
              <a:rPr lang="zh-CN" altLang="en-US" dirty="0" smtClean="0"/>
              <a:t>不写则默认是</a:t>
            </a:r>
            <a:r>
              <a:rPr lang="en-US" altLang="zh-CN" dirty="0" smtClean="0"/>
              <a:t>HDFS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r>
              <a:rPr lang="zh-CN" altLang="en-US" dirty="0" smtClean="0"/>
              <a:t>在表上加分区（子目录），具体上传路径做对应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55775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语言共分为四大类：数据查询语言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，数据操纵语言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，数据定义语言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，数据控制语言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DCL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A3549-94C4-433F-A546-65B6E5F9899B}" type="slidenum">
              <a:rPr lang="zh-CN" altLang="en-US" smtClean="0"/>
              <a:pPr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68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85918" y="2130425"/>
            <a:ext cx="6672282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85918" y="3886200"/>
            <a:ext cx="5986482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5917" y="4406900"/>
            <a:ext cx="670879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85917" y="2906713"/>
            <a:ext cx="670879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1785938" y="274638"/>
            <a:ext cx="69008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1785938" y="1600200"/>
            <a:ext cx="6900862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2022/3/17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en_joker/article/details/79648861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24236803/difference-between-avrodata-file-and-sequence-file-with-respect-to-apache-sqoop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ITtangtang/p/7677912.html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csdn.net/colorant/article/details/53699822" TargetMode="External"/><Relationship Id="rId4" Type="http://schemas.openxmlformats.org/officeDocument/2006/relationships/hyperlink" Target="https://www.cnblogs.com/ITtangtang/p/7681019.html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/>
              <a:t>批数据集成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刘峰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9916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r>
              <a:rPr lang="zh-CN" altLang="en-US" sz="3200" b="1" dirty="0" smtClean="0">
                <a:latin typeface="宋体" charset="-122"/>
              </a:rPr>
              <a:t>批数据集成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批数据集成简介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采集、迁移工具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panose="02010600030101010101" pitchFamily="2" charset="-122"/>
              </a:rPr>
              <a:t>ETL</a:t>
            </a:r>
            <a:r>
              <a:rPr lang="zh-CN" altLang="en-US" sz="2800" b="1" dirty="0" smtClean="0"/>
              <a:t>工具及应用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数据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存储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r>
              <a:rPr lang="zh-CN" altLang="en-US" sz="3200" b="1" dirty="0" smtClean="0">
                <a:latin typeface="宋体" panose="02010600030101010101" pitchFamily="2" charset="-122"/>
              </a:rPr>
              <a:t>批数据</a:t>
            </a:r>
            <a:r>
              <a:rPr lang="zh-CN" altLang="en-US" sz="3200" b="1" dirty="0">
                <a:latin typeface="宋体" panose="02010600030101010101" pitchFamily="2" charset="-122"/>
              </a:rPr>
              <a:t>集成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 smtClean="0">
              <a:latin typeface="宋体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批</a:t>
            </a:r>
            <a:r>
              <a:rPr lang="zh-CN" altLang="en-US" b="1" dirty="0" smtClean="0">
                <a:latin typeface="宋体" panose="02010600030101010101" pitchFamily="2" charset="-122"/>
              </a:rPr>
              <a:t>数据集成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特征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基本问题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框架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案例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69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批数据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集成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4663" y="1196752"/>
            <a:ext cx="6931496" cy="495300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n-ea"/>
              </a:rPr>
              <a:t>批</a:t>
            </a:r>
            <a:r>
              <a:rPr lang="zh-CN" altLang="en-US" sz="2800" b="1" dirty="0" smtClean="0">
                <a:latin typeface="+mn-ea"/>
              </a:rPr>
              <a:t>数据集成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dirty="0" smtClean="0"/>
              <a:t>静态数据集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数据</a:t>
            </a:r>
            <a:r>
              <a:rPr lang="zh-CN" altLang="en-US" sz="2400" dirty="0" smtClean="0"/>
              <a:t>被</a:t>
            </a:r>
            <a:r>
              <a:rPr lang="zh-CN" altLang="en-US" sz="2400" dirty="0"/>
              <a:t>组织成</a:t>
            </a:r>
            <a:r>
              <a:rPr lang="zh-CN" altLang="en-US" sz="2400" dirty="0" smtClean="0"/>
              <a:t>“批”地（时间窗口）</a:t>
            </a:r>
            <a:endParaRPr lang="en-US" altLang="zh-CN" sz="2400" dirty="0" smtClean="0"/>
          </a:p>
          <a:p>
            <a:pPr lvl="1"/>
            <a:r>
              <a:rPr lang="zh-CN" altLang="en-US" sz="2400" dirty="0" smtClean="0">
                <a:latin typeface="+mn-ea"/>
              </a:rPr>
              <a:t>周期性的迁移到另一个系统（专门的数据端）</a:t>
            </a:r>
            <a:endParaRPr lang="en-US" altLang="zh-CN" sz="24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抽取、转换、集成为通用数据格式</a:t>
            </a:r>
            <a:endParaRPr lang="en-US" altLang="zh-CN" sz="24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持久化集成数据</a:t>
            </a:r>
            <a:endParaRPr lang="en-US" altLang="zh-CN" sz="2400" dirty="0" smtClean="0">
              <a:latin typeface="+mn-ea"/>
            </a:endParaRPr>
          </a:p>
          <a:p>
            <a:pPr lvl="1"/>
            <a:endParaRPr lang="en-US" altLang="zh-CN" sz="2400" dirty="0" smtClean="0">
              <a:latin typeface="+mn-ea"/>
            </a:endParaRPr>
          </a:p>
          <a:p>
            <a:r>
              <a:rPr lang="zh-CN" altLang="en-US" sz="2800" b="1" dirty="0" smtClean="0">
                <a:latin typeface="+mn-ea"/>
              </a:rPr>
              <a:t>应用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数据仓库</a:t>
            </a:r>
            <a:endParaRPr lang="en-US" altLang="zh-CN" sz="2400" dirty="0" smtClean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数据</a:t>
            </a:r>
            <a:r>
              <a:rPr lang="zh-CN" altLang="en-US" sz="2400" dirty="0" smtClean="0">
                <a:latin typeface="+mn-ea"/>
              </a:rPr>
              <a:t>分析等数据服务应用</a:t>
            </a:r>
            <a:endParaRPr lang="en-US" altLang="zh-CN" sz="2400" dirty="0" smtClean="0">
              <a:latin typeface="+mn-ea"/>
            </a:endParaRPr>
          </a:p>
          <a:p>
            <a:pPr lvl="1"/>
            <a:endParaRPr lang="en-US" altLang="zh-CN" sz="2400" b="1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sz="2400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/>
              <a:t>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674568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n-ea"/>
              </a:rPr>
              <a:t>特点</a:t>
            </a:r>
            <a:endParaRPr lang="en-US" altLang="zh-CN" sz="2800" b="1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时效性要求不</a:t>
            </a:r>
            <a:r>
              <a:rPr lang="zh-CN" altLang="en-US" sz="2400" dirty="0" smtClean="0">
                <a:latin typeface="+mn-ea"/>
              </a:rPr>
              <a:t>高（时间窗口较大）</a:t>
            </a:r>
            <a:endParaRPr lang="en-US" altLang="zh-CN" sz="24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数据精确性要求高</a:t>
            </a:r>
            <a:endParaRPr lang="en-US" altLang="zh-CN" sz="24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数据有长久的价值</a:t>
            </a:r>
            <a:endParaRPr lang="en-US" altLang="zh-CN" sz="2400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sz="2400" dirty="0" smtClean="0">
              <a:latin typeface="+mn-ea"/>
            </a:endParaRPr>
          </a:p>
          <a:p>
            <a:pPr lvl="1"/>
            <a:endParaRPr lang="en-US" altLang="zh-CN" sz="2400" dirty="0">
              <a:latin typeface="+mn-ea"/>
            </a:endParaRPr>
          </a:p>
          <a:p>
            <a:r>
              <a:rPr lang="zh-CN" altLang="en-US" sz="2800" b="1" dirty="0">
                <a:latin typeface="+mn-ea"/>
              </a:rPr>
              <a:t>必要性</a:t>
            </a:r>
            <a:endParaRPr lang="en-US" altLang="zh-CN" sz="2800" b="1" dirty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整合分散、过量冗余、不一致的数据，提供完整、准确、易共享的数据系统。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解决信息孤岛问题，提高数据使用价值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提供高支持管理决策能力的数据服务</a:t>
            </a:r>
            <a:endParaRPr lang="en-US" altLang="zh-CN" sz="2400" dirty="0" smtClean="0">
              <a:latin typeface="+mn-ea"/>
            </a:endParaRPr>
          </a:p>
          <a:p>
            <a:pPr lvl="1"/>
            <a:endParaRPr lang="en-US" altLang="zh-CN" sz="2400" dirty="0">
              <a:latin typeface="+mn-ea"/>
            </a:endParaRPr>
          </a:p>
          <a:p>
            <a:pPr lvl="1"/>
            <a:endParaRPr lang="en-US" altLang="zh-CN" sz="2400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842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/>
              <a:t>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674568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优点</a:t>
            </a:r>
            <a:endParaRPr lang="en-US" altLang="zh-CN" sz="2800" b="1" dirty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底层数据结构透明</a:t>
            </a:r>
            <a:endParaRPr lang="en-US" altLang="zh-CN" sz="2400" dirty="0" smtClean="0">
              <a:latin typeface="+mn-ea"/>
            </a:endParaRPr>
          </a:p>
          <a:p>
            <a:pPr lvl="2"/>
            <a:r>
              <a:rPr lang="zh-CN" altLang="en-US" sz="2000" dirty="0" smtClean="0">
                <a:latin typeface="+mn-ea"/>
              </a:rPr>
              <a:t>对数据访问等消费应用提供了统一接口，无需暴露底层数据结构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高性能和扩展性</a:t>
            </a:r>
            <a:endParaRPr lang="en-US" altLang="zh-CN" sz="2400" dirty="0" smtClean="0">
              <a:latin typeface="+mn-ea"/>
            </a:endParaRPr>
          </a:p>
          <a:p>
            <a:pPr lvl="2"/>
            <a:r>
              <a:rPr lang="zh-CN" altLang="en-US" sz="2000" dirty="0" smtClean="0"/>
              <a:t>把</a:t>
            </a:r>
            <a:r>
              <a:rPr lang="zh-CN" altLang="en-US" sz="2000" dirty="0"/>
              <a:t>数据集成和数据访问分成了两个过程，因此访问时数据已经处于准备好的状态。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数据集成后提供真正单一数据视图</a:t>
            </a:r>
            <a:endParaRPr lang="en-US" altLang="zh-CN" sz="24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高可</a:t>
            </a:r>
            <a:r>
              <a:rPr lang="zh-CN" altLang="en-US" sz="2400" dirty="0">
                <a:latin typeface="+mn-ea"/>
              </a:rPr>
              <a:t>重用</a:t>
            </a:r>
            <a:r>
              <a:rPr lang="zh-CN" altLang="en-US" sz="2400" dirty="0" smtClean="0">
                <a:latin typeface="+mn-ea"/>
              </a:rPr>
              <a:t>性</a:t>
            </a:r>
            <a:endParaRPr lang="en-US" altLang="zh-CN" sz="2400" dirty="0" smtClean="0">
              <a:latin typeface="+mn-ea"/>
            </a:endParaRPr>
          </a:p>
          <a:p>
            <a:pPr lvl="2"/>
            <a:r>
              <a:rPr lang="zh-CN" altLang="en-US" sz="2000" dirty="0"/>
              <a:t>由于有了实际的物理存储，数据可以为各种应用提供可重用的数据视图，而不用担心底层实际的数据源的可用性。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数据管控能力加强，降低管理成本</a:t>
            </a:r>
            <a:endParaRPr lang="en-US" altLang="zh-CN" sz="2400" dirty="0">
              <a:latin typeface="+mn-ea"/>
            </a:endParaRPr>
          </a:p>
          <a:p>
            <a:pPr lvl="1"/>
            <a:endParaRPr lang="en-US" altLang="zh-CN" sz="2400" dirty="0">
              <a:latin typeface="+mn-ea"/>
            </a:endParaRPr>
          </a:p>
          <a:p>
            <a:pPr lvl="1"/>
            <a:endParaRPr lang="en-US" altLang="zh-CN" sz="2400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848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 smtClean="0"/>
              <a:t>基本问题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7912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一致性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数据一致性</a:t>
            </a:r>
            <a:endParaRPr lang="en-US" altLang="zh-CN" sz="2000" dirty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语义一致性</a:t>
            </a:r>
            <a:endParaRPr lang="en-US" altLang="zh-CN" sz="2000" dirty="0" smtClean="0">
              <a:latin typeface="+mn-ea"/>
            </a:endParaRPr>
          </a:p>
          <a:p>
            <a:pPr lvl="1"/>
            <a:endParaRPr lang="en-US" altLang="zh-CN" sz="2000" dirty="0" smtClean="0">
              <a:latin typeface="+mn-ea"/>
            </a:endParaRPr>
          </a:p>
          <a:p>
            <a:r>
              <a:rPr lang="zh-CN" altLang="en-US" sz="2800" b="1" dirty="0" smtClean="0">
                <a:latin typeface="+mn-ea"/>
              </a:rPr>
              <a:t>异构性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数据源的异构性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数据</a:t>
            </a:r>
            <a:r>
              <a:rPr lang="zh-CN" altLang="en-US" sz="2000" dirty="0" smtClean="0">
                <a:latin typeface="+mn-ea"/>
              </a:rPr>
              <a:t>模式的异构性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数据类型的异构性（</a:t>
            </a:r>
            <a:r>
              <a:rPr lang="en-US" altLang="zh-CN" sz="2000" dirty="0" err="1" smtClean="0">
                <a:latin typeface="+mn-ea"/>
              </a:rPr>
              <a:t>eg</a:t>
            </a:r>
            <a:r>
              <a:rPr lang="en-US" altLang="zh-CN" sz="2000" dirty="0" smtClean="0">
                <a:latin typeface="+mn-ea"/>
              </a:rPr>
              <a:t>:</a:t>
            </a:r>
            <a:r>
              <a:rPr lang="zh-CN" altLang="en-US" sz="2000" dirty="0" smtClean="0">
                <a:latin typeface="+mn-ea"/>
              </a:rPr>
              <a:t>浮点数 </a:t>
            </a:r>
            <a:r>
              <a:rPr lang="en-US" altLang="zh-CN" sz="2000" dirty="0" smtClean="0">
                <a:latin typeface="+mn-ea"/>
              </a:rPr>
              <a:t>float/double</a:t>
            </a:r>
            <a:r>
              <a:rPr lang="zh-CN" altLang="en-US" sz="2000" dirty="0" smtClean="0">
                <a:latin typeface="+mn-ea"/>
              </a:rPr>
              <a:t>）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取值的异构性（</a:t>
            </a:r>
            <a:r>
              <a:rPr lang="en-US" altLang="zh-CN" sz="2000" dirty="0" err="1" smtClean="0">
                <a:latin typeface="+mn-ea"/>
              </a:rPr>
              <a:t>eg</a:t>
            </a:r>
            <a:r>
              <a:rPr lang="en-US" altLang="zh-CN" sz="2000" dirty="0" smtClean="0">
                <a:latin typeface="+mn-ea"/>
              </a:rPr>
              <a:t>:</a:t>
            </a:r>
            <a:r>
              <a:rPr lang="zh-CN" altLang="en-US" sz="2000" dirty="0" smtClean="0">
                <a:latin typeface="+mn-ea"/>
              </a:rPr>
              <a:t>性别 </a:t>
            </a:r>
            <a:r>
              <a:rPr lang="en-US" altLang="zh-CN" sz="2000" dirty="0" smtClean="0">
                <a:latin typeface="+mn-ea"/>
              </a:rPr>
              <a:t>0/1 F/M</a:t>
            </a:r>
            <a:r>
              <a:rPr lang="zh-CN" altLang="en-US" sz="2000" dirty="0" smtClean="0">
                <a:latin typeface="+mn-ea"/>
              </a:rPr>
              <a:t>）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语义的异构性（</a:t>
            </a:r>
            <a:r>
              <a:rPr lang="en-US" altLang="zh-CN" sz="2000" dirty="0" err="1" smtClean="0">
                <a:latin typeface="+mn-ea"/>
              </a:rPr>
              <a:t>eg</a:t>
            </a:r>
            <a:r>
              <a:rPr lang="en-US" altLang="zh-CN" sz="2000" dirty="0" smtClean="0">
                <a:latin typeface="+mn-ea"/>
              </a:rPr>
              <a:t>:</a:t>
            </a:r>
            <a:r>
              <a:rPr lang="zh-CN" altLang="en-US" sz="2000" dirty="0" smtClean="0">
                <a:latin typeface="+mn-ea"/>
              </a:rPr>
              <a:t>不同数据的</a:t>
            </a:r>
            <a:r>
              <a:rPr lang="en-US" altLang="zh-CN" sz="2000" dirty="0" smtClean="0">
                <a:latin typeface="+mn-ea"/>
              </a:rPr>
              <a:t>id</a:t>
            </a:r>
            <a:r>
              <a:rPr lang="zh-CN" altLang="en-US" sz="2000" dirty="0" smtClean="0">
                <a:latin typeface="+mn-ea"/>
              </a:rPr>
              <a:t>）</a:t>
            </a:r>
            <a:endParaRPr lang="en-US" altLang="zh-CN" sz="2000" dirty="0" smtClean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4941168"/>
            <a:ext cx="6281639" cy="17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5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 smtClean="0"/>
              <a:t>基本问题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12776"/>
            <a:ext cx="6931496" cy="49530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容错性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各个数据源有很强的自治性</a:t>
            </a:r>
            <a:r>
              <a:rPr lang="en-US" altLang="zh-CN" sz="2000" dirty="0" smtClean="0"/>
              <a:t>,</a:t>
            </a:r>
            <a:r>
              <a:rPr lang="en-US" altLang="zh-CN" sz="2000" dirty="0"/>
              <a:t> </a:t>
            </a:r>
            <a:r>
              <a:rPr lang="zh-CN" altLang="en-US" sz="2000" dirty="0"/>
              <a:t>它们可以在不通知集成系统的前提下改变自身的结构和数据</a:t>
            </a:r>
            <a:endParaRPr lang="en-US" altLang="zh-CN" sz="2000" dirty="0" smtClean="0">
              <a:latin typeface="+mn-ea"/>
            </a:endParaRPr>
          </a:p>
          <a:p>
            <a:endParaRPr lang="en-US" altLang="zh-CN" sz="2800" b="1" dirty="0" smtClean="0">
              <a:latin typeface="+mn-ea"/>
            </a:endParaRPr>
          </a:p>
          <a:p>
            <a:r>
              <a:rPr lang="zh-CN" altLang="en-US" sz="2800" b="1" dirty="0">
                <a:latin typeface="+mn-ea"/>
              </a:rPr>
              <a:t>可</a:t>
            </a:r>
            <a:r>
              <a:rPr lang="zh-CN" altLang="en-US" sz="2800" b="1" dirty="0" smtClean="0">
                <a:latin typeface="+mn-ea"/>
              </a:rPr>
              <a:t>伸缩性</a:t>
            </a:r>
            <a:endParaRPr lang="en-US" altLang="zh-CN" sz="2800" b="1" dirty="0" smtClean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159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/>
              <a:t>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endParaRPr lang="en-US" altLang="zh-CN" sz="2400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1268760"/>
            <a:ext cx="7154483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5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/>
              <a:t>案例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endParaRPr lang="en-US" altLang="zh-CN" sz="2400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73" y="1447800"/>
            <a:ext cx="7642533" cy="455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4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r>
              <a:rPr lang="zh-CN" altLang="en-US" sz="3200" b="1" dirty="0" smtClean="0">
                <a:latin typeface="宋体" charset="-122"/>
              </a:rPr>
              <a:t>批数据集成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批数据集成简介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采集、迁移工具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panose="02010600030101010101" pitchFamily="2" charset="-122"/>
              </a:rPr>
              <a:t>ETL</a:t>
            </a:r>
            <a:r>
              <a:rPr lang="zh-CN" altLang="en-US" sz="2800" b="1" dirty="0"/>
              <a:t>工具及应用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数据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存储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887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宋体" panose="02010600030101010101" pitchFamily="2" charset="-122"/>
              </a:rPr>
              <a:t>采集、迁移工具</a:t>
            </a:r>
            <a:endParaRPr lang="en-US" altLang="zh-CN" sz="3200" b="1" dirty="0">
              <a:latin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85938" y="1412776"/>
            <a:ext cx="6900862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 err="1" smtClean="0">
                <a:latin typeface="宋体" panose="02010600030101010101" pitchFamily="2" charset="-122"/>
              </a:rPr>
              <a:t>Sqoop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Flume</a:t>
            </a:r>
          </a:p>
        </p:txBody>
      </p:sp>
    </p:spTree>
    <p:extLst>
      <p:ext uri="{BB962C8B-B14F-4D97-AF65-F5344CB8AC3E}">
        <p14:creationId xmlns:p14="http://schemas.microsoft.com/office/powerpoint/2010/main" val="214976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endParaRPr lang="en-US" altLang="zh-CN" sz="3200" b="1" dirty="0">
              <a:latin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altLang="zh-CN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b="1" dirty="0" smtClean="0">
                <a:latin typeface="宋体" panose="02010600030101010101" pitchFamily="2" charset="-122"/>
              </a:rPr>
              <a:t>简介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b="1" dirty="0" smtClean="0">
                <a:latin typeface="宋体" panose="02010600030101010101" pitchFamily="2" charset="-122"/>
              </a:rPr>
              <a:t>原理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b="1" dirty="0" smtClean="0">
                <a:latin typeface="宋体" panose="02010600030101010101" pitchFamily="2" charset="-122"/>
              </a:rPr>
              <a:t>使用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104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什么是</a:t>
            </a:r>
            <a:r>
              <a:rPr lang="en-US" altLang="zh-CN" sz="2800" b="1" dirty="0" err="1" smtClean="0">
                <a:latin typeface="+mn-ea"/>
              </a:rPr>
              <a:t>Sqoop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en-US" altLang="zh-CN" sz="2000" dirty="0" err="1"/>
              <a:t>Sqoop</a:t>
            </a:r>
            <a:r>
              <a:rPr lang="zh-CN" altLang="en-US" sz="2000" dirty="0"/>
              <a:t>：</a:t>
            </a:r>
            <a:r>
              <a:rPr lang="en-US" altLang="zh-CN" sz="2000" dirty="0"/>
              <a:t>SQL–to–Hadoop</a:t>
            </a:r>
            <a:endParaRPr lang="en-US" altLang="zh-CN" sz="2000" b="1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/>
              <a:t>Sqoop</a:t>
            </a:r>
            <a:r>
              <a:rPr lang="zh-CN" altLang="en-US" sz="2000" dirty="0"/>
              <a:t>项目始于</a:t>
            </a:r>
            <a:r>
              <a:rPr lang="en-US" altLang="zh-CN" sz="2000" dirty="0"/>
              <a:t>2009</a:t>
            </a:r>
            <a:r>
              <a:rPr lang="zh-CN" altLang="en-US" sz="2000" dirty="0"/>
              <a:t>年，早期为</a:t>
            </a:r>
            <a:r>
              <a:rPr lang="en-US" altLang="zh-CN" sz="2000" dirty="0"/>
              <a:t>Hadoop</a:t>
            </a:r>
            <a:r>
              <a:rPr lang="zh-CN" altLang="en-US" sz="2000" dirty="0"/>
              <a:t>的第三方模块，后来成为</a:t>
            </a:r>
            <a:r>
              <a:rPr lang="en-US" altLang="zh-CN" sz="2000" dirty="0"/>
              <a:t>Apache</a:t>
            </a:r>
            <a:r>
              <a:rPr lang="zh-CN" altLang="en-US" sz="2000" dirty="0"/>
              <a:t>的独立项目</a:t>
            </a:r>
            <a:endParaRPr lang="en-US" altLang="zh-CN" sz="20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 smtClean="0"/>
              <a:t>Sqoop</a:t>
            </a:r>
            <a:r>
              <a:rPr lang="zh-CN" altLang="en-US" sz="2000" dirty="0"/>
              <a:t>是一个主要在</a:t>
            </a:r>
            <a:r>
              <a:rPr lang="en-US" altLang="zh-CN" sz="2000" dirty="0"/>
              <a:t>Hadoop</a:t>
            </a:r>
            <a:r>
              <a:rPr lang="zh-CN" altLang="en-US" sz="2000" dirty="0"/>
              <a:t>和关系数据库之间进行批量数据迁移的</a:t>
            </a:r>
            <a:r>
              <a:rPr lang="zh-CN" altLang="en-US" sz="2000" dirty="0" smtClean="0"/>
              <a:t>工具</a:t>
            </a:r>
            <a:endParaRPr lang="en-US" altLang="zh-CN" sz="1800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3074" name="Picture 2" descr="https://img-blog.csdn.net/201605251339183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199073"/>
            <a:ext cx="5985366" cy="258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71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版本</a:t>
            </a:r>
            <a:endParaRPr lang="en-US" altLang="zh-CN" sz="2800" b="1" dirty="0" smtClean="0">
              <a:latin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latin typeface="+mn-ea"/>
              </a:rPr>
              <a:t>Sqoop1</a:t>
            </a:r>
            <a:r>
              <a:rPr lang="zh-CN" altLang="en-US" sz="2400" dirty="0" smtClean="0">
                <a:latin typeface="+mn-ea"/>
              </a:rPr>
              <a:t>与</a:t>
            </a:r>
            <a:r>
              <a:rPr lang="en-US" altLang="zh-CN" sz="2400" dirty="0" smtClean="0">
                <a:latin typeface="+mn-ea"/>
              </a:rPr>
              <a:t>Sqoop2</a:t>
            </a:r>
            <a:r>
              <a:rPr lang="zh-CN" altLang="en-US" sz="2400" dirty="0" smtClean="0">
                <a:latin typeface="+mn-ea"/>
              </a:rPr>
              <a:t>完全不兼容</a:t>
            </a:r>
            <a:endParaRPr lang="en-US" altLang="zh-CN" sz="2400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808" y="2492896"/>
            <a:ext cx="715068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5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>
                <a:latin typeface="+mn-ea"/>
              </a:rPr>
              <a:t>Sqoop1</a:t>
            </a:r>
            <a:endParaRPr lang="en-US" altLang="zh-CN" sz="2000" b="1" dirty="0" smtClean="0">
              <a:latin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优点</a:t>
            </a:r>
            <a:endParaRPr lang="en-US" altLang="zh-CN" sz="24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架构</a:t>
            </a:r>
            <a:r>
              <a:rPr lang="zh-CN" altLang="en-US" sz="2000" dirty="0"/>
              <a:t>简单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部署简单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功能</a:t>
            </a:r>
            <a:r>
              <a:rPr lang="zh-CN" altLang="en-US" sz="2000" dirty="0"/>
              <a:t>全面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稳定性</a:t>
            </a:r>
            <a:r>
              <a:rPr lang="zh-CN" altLang="en-US" sz="2000" dirty="0"/>
              <a:t>较高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速度</a:t>
            </a:r>
            <a:r>
              <a:rPr lang="zh-CN" altLang="en-US" sz="2000" dirty="0"/>
              <a:t>较</a:t>
            </a:r>
            <a:r>
              <a:rPr lang="zh-CN" altLang="en-US" sz="2000" dirty="0" smtClean="0"/>
              <a:t>快</a:t>
            </a: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+mn-ea"/>
              </a:rPr>
              <a:t>缺点</a:t>
            </a:r>
            <a:endParaRPr lang="en-US" altLang="zh-CN" sz="2400" dirty="0" smtClean="0">
              <a:latin typeface="+mn-ea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+mn-ea"/>
              </a:rPr>
              <a:t>访问</a:t>
            </a:r>
            <a:r>
              <a:rPr lang="zh-CN" altLang="en-US" sz="2000" dirty="0"/>
              <a:t>方式单一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命令行</a:t>
            </a:r>
            <a:r>
              <a:rPr lang="zh-CN" altLang="en-US" sz="2000" dirty="0"/>
              <a:t>方式容易出错，格式紧耦合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安全</a:t>
            </a:r>
            <a:r>
              <a:rPr lang="zh-CN" altLang="en-US" sz="2000" dirty="0"/>
              <a:t>机制不够完善，存在密码泄露风险</a:t>
            </a:r>
            <a:endParaRPr lang="en-US" altLang="zh-CN" sz="2000" dirty="0" smtClean="0">
              <a:latin typeface="+mn-ea"/>
            </a:endParaRPr>
          </a:p>
          <a:p>
            <a:endParaRPr lang="zh-CN" altLang="en-US" b="1" dirty="0" smtClean="0">
              <a:latin typeface="+mn-ea"/>
            </a:endParaRPr>
          </a:p>
        </p:txBody>
      </p:sp>
      <p:pic>
        <p:nvPicPr>
          <p:cNvPr id="4098" name="Picture 2" descr="https://upload-images.jianshu.io/upload_images/10439291-ef82449b1266264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836712"/>
            <a:ext cx="3541918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27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https://upload-images.jianshu.io/upload_images/10439291-f33ff010739925d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240" y="2088096"/>
            <a:ext cx="4950155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>
                <a:latin typeface="+mn-ea"/>
              </a:rPr>
              <a:t>Sqoop2</a:t>
            </a:r>
            <a:endParaRPr lang="en-US" altLang="zh-CN" sz="2000" b="1" dirty="0" smtClean="0">
              <a:latin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优点</a:t>
            </a:r>
            <a:endParaRPr lang="en-US" altLang="zh-CN" sz="24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/>
              <a:t>访问方式多样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集中</a:t>
            </a:r>
            <a:r>
              <a:rPr lang="zh-CN" altLang="en-US" sz="2000" dirty="0"/>
              <a:t>管理连接器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安全</a:t>
            </a:r>
            <a:r>
              <a:rPr lang="zh-CN" altLang="en-US" sz="2000" dirty="0"/>
              <a:t>机制较完善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支持多用户</a:t>
            </a:r>
            <a:endParaRPr lang="en-US" altLang="zh-CN" sz="2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+mn-ea"/>
              </a:rPr>
              <a:t>缺点</a:t>
            </a:r>
            <a:endParaRPr lang="en-US" altLang="zh-CN" sz="2400" dirty="0" smtClean="0">
              <a:latin typeface="+mn-ea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/>
              <a:t>架构较复杂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部署</a:t>
            </a:r>
            <a:r>
              <a:rPr lang="zh-CN" altLang="en-US" sz="2000" dirty="0"/>
              <a:t>较繁琐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稳定性</a:t>
            </a:r>
            <a:r>
              <a:rPr lang="zh-CN" altLang="en-US" sz="2000" dirty="0"/>
              <a:t>一般 </a:t>
            </a:r>
            <a:endParaRPr lang="en-US" altLang="zh-CN" sz="20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速度</a:t>
            </a:r>
            <a:r>
              <a:rPr lang="zh-CN" altLang="en-US" sz="2000" dirty="0"/>
              <a:t>一般</a:t>
            </a:r>
            <a:endParaRPr lang="zh-CN" altLang="en-US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899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>
                <a:latin typeface="宋体" panose="02010600030101010101" pitchFamily="2" charset="-122"/>
              </a:rPr>
              <a:t>原理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数据导入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en-US" altLang="zh-CN" sz="2400" dirty="0" smtClean="0">
                <a:latin typeface="+mn-ea"/>
              </a:rPr>
              <a:t>RDBMS-&gt;Hadoop</a:t>
            </a:r>
          </a:p>
          <a:p>
            <a:pPr marL="457200" lvl="1" indent="0">
              <a:buNone/>
            </a:pPr>
            <a:endParaRPr lang="en-US" altLang="zh-CN" sz="2400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2492896"/>
            <a:ext cx="6314286" cy="4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5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>
                <a:latin typeface="宋体" panose="02010600030101010101" pitchFamily="2" charset="-122"/>
              </a:rPr>
              <a:t>原理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数据导</a:t>
            </a:r>
            <a:r>
              <a:rPr lang="zh-CN" altLang="en-US" sz="2800" b="1" dirty="0">
                <a:latin typeface="+mn-ea"/>
              </a:rPr>
              <a:t>出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en-US" altLang="zh-CN" sz="2400" dirty="0" smtClean="0">
                <a:latin typeface="+mn-ea"/>
              </a:rPr>
              <a:t>Hadoop-&gt;RDBMS</a:t>
            </a:r>
            <a:endParaRPr lang="en-US" altLang="zh-CN" sz="2400" dirty="0">
              <a:latin typeface="+mn-ea"/>
            </a:endParaRPr>
          </a:p>
          <a:p>
            <a:pPr marL="457200" lvl="1" indent="0">
              <a:buNone/>
            </a:pPr>
            <a:endParaRPr lang="en-US" altLang="zh-CN" sz="2400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404" y="2496037"/>
            <a:ext cx="6106028" cy="394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1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en-US" altLang="zh-CN" sz="2800" b="1" dirty="0" err="1" smtClean="0">
                <a:latin typeface="+mn-ea"/>
              </a:rPr>
              <a:t>Sqoop</a:t>
            </a:r>
            <a:r>
              <a:rPr lang="zh-CN" altLang="en-US" sz="2800" b="1" dirty="0" smtClean="0">
                <a:latin typeface="+mn-ea"/>
              </a:rPr>
              <a:t>安装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需要准备</a:t>
            </a:r>
            <a:r>
              <a:rPr lang="en-US" altLang="zh-CN" sz="2400" dirty="0" smtClean="0">
                <a:latin typeface="+mn-ea"/>
              </a:rPr>
              <a:t>Java JDK</a:t>
            </a:r>
            <a:r>
              <a:rPr lang="zh-CN" altLang="en-US" sz="2400" dirty="0" smtClean="0">
                <a:latin typeface="+mn-ea"/>
              </a:rPr>
              <a:t>和</a:t>
            </a:r>
            <a:r>
              <a:rPr lang="en-US" altLang="zh-CN" sz="2400" dirty="0" smtClean="0">
                <a:latin typeface="+mn-ea"/>
              </a:rPr>
              <a:t>Hadoop</a:t>
            </a:r>
          </a:p>
          <a:p>
            <a:pPr lvl="1"/>
            <a:r>
              <a:rPr lang="zh-CN" altLang="en-US" sz="2400" dirty="0" smtClean="0">
                <a:latin typeface="+mn-ea"/>
              </a:rPr>
              <a:t>需要准备数据库驱动</a:t>
            </a:r>
            <a:endParaRPr lang="en-US" altLang="zh-CN" sz="2400" dirty="0" smtClean="0">
              <a:latin typeface="+mn-ea"/>
            </a:endParaRPr>
          </a:p>
          <a:p>
            <a:pPr lvl="2"/>
            <a:r>
              <a:rPr lang="zh-CN" altLang="en-US" sz="2000" dirty="0" smtClean="0">
                <a:latin typeface="+mn-ea"/>
              </a:rPr>
              <a:t>比如：</a:t>
            </a:r>
            <a:r>
              <a:rPr lang="zh-CN" altLang="en-US" sz="2000" dirty="0">
                <a:latin typeface="+mn-ea"/>
              </a:rPr>
              <a:t>下载</a:t>
            </a:r>
            <a:r>
              <a:rPr lang="en-US" altLang="zh-CN" sz="2000" dirty="0" err="1">
                <a:latin typeface="+mn-ea"/>
              </a:rPr>
              <a:t>mysql</a:t>
            </a:r>
            <a:r>
              <a:rPr lang="zh-CN" altLang="en-US" sz="2000" dirty="0">
                <a:latin typeface="+mn-ea"/>
              </a:rPr>
              <a:t>的数据库驱动，移动到</a:t>
            </a:r>
            <a:r>
              <a:rPr lang="en-US" altLang="zh-CN" sz="2000" dirty="0" err="1">
                <a:latin typeface="+mn-ea"/>
              </a:rPr>
              <a:t>Sqoop</a:t>
            </a:r>
            <a:endParaRPr lang="en-US" altLang="zh-CN" sz="2000" dirty="0">
              <a:latin typeface="+mn-ea"/>
            </a:endParaRPr>
          </a:p>
          <a:p>
            <a:pPr marL="914400" lvl="2" indent="0">
              <a:buNone/>
            </a:pPr>
            <a:r>
              <a:rPr lang="zh-CN" altLang="en-US" sz="2000" dirty="0">
                <a:latin typeface="+mn-ea"/>
              </a:rPr>
              <a:t>的</a:t>
            </a:r>
            <a:r>
              <a:rPr lang="en-US" altLang="zh-CN" sz="2000" dirty="0">
                <a:latin typeface="+mn-ea"/>
              </a:rPr>
              <a:t>lib</a:t>
            </a:r>
            <a:r>
              <a:rPr lang="zh-CN" altLang="en-US" sz="2000" dirty="0">
                <a:latin typeface="+mn-ea"/>
              </a:rPr>
              <a:t>目录</a:t>
            </a:r>
            <a:r>
              <a:rPr lang="zh-CN" altLang="en-US" sz="2000" dirty="0" smtClean="0">
                <a:latin typeface="+mn-ea"/>
              </a:rPr>
              <a:t>中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下载安装</a:t>
            </a:r>
            <a:r>
              <a:rPr lang="en-US" altLang="zh-CN" sz="2400" dirty="0" err="1" smtClean="0">
                <a:latin typeface="+mn-ea"/>
              </a:rPr>
              <a:t>Sqoop</a:t>
            </a:r>
            <a:r>
              <a:rPr lang="zh-CN" altLang="en-US" sz="2400" dirty="0" smtClean="0">
                <a:latin typeface="+mn-ea"/>
              </a:rPr>
              <a:t>，修改配置</a:t>
            </a:r>
            <a:endParaRPr lang="en-US" altLang="zh-CN" sz="24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验证</a:t>
            </a:r>
            <a:r>
              <a:rPr lang="en-US" altLang="zh-CN" sz="2400" dirty="0" err="1" smtClean="0">
                <a:latin typeface="+mn-ea"/>
              </a:rPr>
              <a:t>Sqoop</a:t>
            </a:r>
            <a:endParaRPr lang="en-US" altLang="zh-CN" sz="2400" dirty="0" smtClean="0">
              <a:latin typeface="+mn-ea"/>
            </a:endParaRPr>
          </a:p>
          <a:p>
            <a:pPr lvl="2"/>
            <a:r>
              <a:rPr lang="zh-CN" altLang="en-US" sz="2000" dirty="0" smtClean="0">
                <a:latin typeface="+mn-ea"/>
              </a:rPr>
              <a:t>输入命令：</a:t>
            </a:r>
            <a:r>
              <a:rPr lang="en-US" altLang="zh-CN" sz="2000" dirty="0" err="1" smtClean="0">
                <a:latin typeface="+mn-ea"/>
              </a:rPr>
              <a:t>sqoop</a:t>
            </a:r>
            <a:r>
              <a:rPr lang="en-US" altLang="zh-CN" sz="2000" dirty="0" smtClean="0">
                <a:latin typeface="+mn-ea"/>
              </a:rPr>
              <a:t> version</a:t>
            </a:r>
          </a:p>
          <a:p>
            <a:pPr lvl="1"/>
            <a:endParaRPr lang="en-US" altLang="zh-CN" sz="20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20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2000" dirty="0" smtClean="0">
              <a:latin typeface="+mn-ea"/>
            </a:endParaRPr>
          </a:p>
          <a:p>
            <a:pPr lvl="1"/>
            <a:endParaRPr lang="en-US" altLang="zh-CN" sz="2400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792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7912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800" b="1" dirty="0" err="1" smtClean="0">
                <a:latin typeface="+mn-ea"/>
              </a:rPr>
              <a:t>Sqoop</a:t>
            </a:r>
            <a:r>
              <a:rPr lang="zh-CN" altLang="en-US" sz="2800" b="1" dirty="0" smtClean="0">
                <a:latin typeface="+mn-ea"/>
              </a:rPr>
              <a:t>基本用法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b="1" dirty="0" smtClean="0">
                <a:latin typeface="+mn-ea"/>
              </a:rPr>
              <a:t>列出</a:t>
            </a:r>
            <a:r>
              <a:rPr lang="en-US" altLang="zh-CN" sz="2400" b="1" dirty="0" smtClean="0">
                <a:latin typeface="+mn-ea"/>
              </a:rPr>
              <a:t>databases</a:t>
            </a:r>
            <a:r>
              <a:rPr lang="en-US" altLang="zh-CN" sz="2400" b="1" dirty="0" smtClean="0">
                <a:latin typeface="+mn-ea"/>
                <a:sym typeface="Wingdings" panose="05000000000000000000" pitchFamily="2" charset="2"/>
              </a:rPr>
              <a:t>: </a:t>
            </a:r>
            <a:endParaRPr lang="en-US" altLang="zh-CN" sz="2400" b="1" dirty="0" smtClean="0">
              <a:latin typeface="+mn-ea"/>
            </a:endParaRPr>
          </a:p>
          <a:p>
            <a:pPr lvl="2"/>
            <a:r>
              <a:rPr lang="zh-CN" altLang="en-US" sz="2000" dirty="0" smtClean="0"/>
              <a:t>明文密码：</a:t>
            </a:r>
            <a:endParaRPr lang="en-US" altLang="zh-CN" sz="2000" dirty="0"/>
          </a:p>
          <a:p>
            <a:pPr marL="914400" lvl="2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2000" dirty="0" err="1" smtClean="0"/>
              <a:t>sqoop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list-databases \</a:t>
            </a:r>
          </a:p>
          <a:p>
            <a:pPr marL="914400" lvl="2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--connect </a:t>
            </a:r>
            <a:r>
              <a:rPr lang="en-US" altLang="zh-CN" sz="2000" dirty="0" err="1" smtClean="0"/>
              <a:t>jdbc:mysql</a:t>
            </a:r>
            <a:r>
              <a:rPr lang="en-US" altLang="zh-CN" sz="2000" dirty="0"/>
              <a:t>://IP:PORT/ </a:t>
            </a:r>
            <a:r>
              <a:rPr lang="en-US" altLang="zh-CN" sz="2000" dirty="0" smtClean="0"/>
              <a:t> \</a:t>
            </a:r>
          </a:p>
          <a:p>
            <a:pPr marL="914400" lvl="2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--</a:t>
            </a:r>
            <a:r>
              <a:rPr lang="en-US" altLang="zh-CN" sz="2000" dirty="0"/>
              <a:t>username USER </a:t>
            </a:r>
            <a:r>
              <a:rPr lang="en-US" altLang="zh-CN" sz="2000" dirty="0" smtClean="0"/>
              <a:t>\</a:t>
            </a:r>
          </a:p>
          <a:p>
            <a:pPr marL="914400" lvl="2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--</a:t>
            </a:r>
            <a:r>
              <a:rPr lang="en-US" altLang="zh-CN" sz="2000" dirty="0"/>
              <a:t>password </a:t>
            </a:r>
            <a:r>
              <a:rPr lang="en-US" altLang="zh-CN" sz="2000" dirty="0" smtClean="0"/>
              <a:t>PASSWD;</a:t>
            </a:r>
            <a:r>
              <a:rPr lang="en-US" altLang="zh-CN" sz="2000" dirty="0"/>
              <a:t> 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输入密码：</a:t>
            </a:r>
            <a:endParaRPr lang="en-US" altLang="zh-CN" sz="2000" dirty="0" smtClean="0"/>
          </a:p>
          <a:p>
            <a:pPr marL="914400" lvl="2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2000" dirty="0" err="1" smtClean="0"/>
              <a:t>sqoop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list-databases \</a:t>
            </a:r>
          </a:p>
          <a:p>
            <a:pPr marL="914400" lvl="2" indent="0">
              <a:buNone/>
            </a:pPr>
            <a:r>
              <a:rPr lang="en-US" altLang="zh-CN" sz="2000" dirty="0"/>
              <a:t>    --connect </a:t>
            </a:r>
            <a:r>
              <a:rPr lang="en-US" altLang="zh-CN" sz="2000" dirty="0" err="1"/>
              <a:t>jdbc:mysql</a:t>
            </a:r>
            <a:r>
              <a:rPr lang="en-US" altLang="zh-CN" sz="2000" dirty="0"/>
              <a:t>://IP:PORT/  \</a:t>
            </a:r>
          </a:p>
          <a:p>
            <a:pPr marL="914400" lvl="2" indent="0">
              <a:buNone/>
            </a:pPr>
            <a:r>
              <a:rPr lang="en-US" altLang="zh-CN" sz="2000" dirty="0"/>
              <a:t>    --username USER \</a:t>
            </a:r>
          </a:p>
          <a:p>
            <a:pPr marL="914400" lvl="2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smtClean="0"/>
              <a:t>-P</a:t>
            </a:r>
          </a:p>
          <a:p>
            <a:pPr lvl="2"/>
            <a:r>
              <a:rPr lang="zh-CN" altLang="en-US" sz="2000" dirty="0"/>
              <a:t>密码</a:t>
            </a:r>
            <a:r>
              <a:rPr lang="zh-CN" altLang="en-US" sz="2000" dirty="0" smtClean="0"/>
              <a:t>文件</a:t>
            </a:r>
            <a:endParaRPr lang="en-US" altLang="zh-CN" sz="2000" dirty="0" smtClean="0"/>
          </a:p>
          <a:p>
            <a:pPr marL="914400" lvl="2" indent="0">
              <a:buNone/>
            </a:pPr>
            <a:r>
              <a:rPr lang="en-US" altLang="zh-CN" sz="2000" dirty="0" err="1"/>
              <a:t>sqoop</a:t>
            </a:r>
            <a:r>
              <a:rPr lang="en-US" altLang="zh-CN" sz="2000" dirty="0"/>
              <a:t> list-databases \</a:t>
            </a:r>
          </a:p>
          <a:p>
            <a:pPr marL="914400" lvl="2" indent="0">
              <a:buNone/>
            </a:pPr>
            <a:r>
              <a:rPr lang="en-US" altLang="zh-CN" sz="2000" dirty="0"/>
              <a:t>    --connect </a:t>
            </a:r>
            <a:r>
              <a:rPr lang="en-US" altLang="zh-CN" sz="2000" dirty="0" err="1"/>
              <a:t>jdbc:mysql</a:t>
            </a:r>
            <a:r>
              <a:rPr lang="en-US" altLang="zh-CN" sz="2000" dirty="0"/>
              <a:t>://IP:PORT/  \</a:t>
            </a:r>
          </a:p>
          <a:p>
            <a:pPr marL="914400" lvl="2" indent="0">
              <a:buNone/>
            </a:pPr>
            <a:r>
              <a:rPr lang="en-US" altLang="zh-CN" sz="2000" dirty="0"/>
              <a:t>    --username USER \</a:t>
            </a:r>
          </a:p>
          <a:p>
            <a:pPr marL="914400" lvl="2" indent="0">
              <a:buNone/>
            </a:pPr>
            <a:r>
              <a:rPr lang="en-US" altLang="zh-CN" sz="2000" dirty="0"/>
              <a:t>    --password-file file</a:t>
            </a:r>
            <a:r>
              <a:rPr lang="en-US" altLang="zh-CN" sz="2000" dirty="0" smtClean="0"/>
              <a:t>:/temp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1"/>
            <a:endParaRPr lang="en-US" altLang="zh-CN" sz="20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20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2000" dirty="0" smtClean="0">
              <a:latin typeface="+mn-ea"/>
            </a:endParaRPr>
          </a:p>
          <a:p>
            <a:pPr lvl="1"/>
            <a:endParaRPr lang="en-US" altLang="zh-CN" sz="2400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220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7912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800" b="1" dirty="0" err="1" smtClean="0">
                <a:latin typeface="+mn-ea"/>
              </a:rPr>
              <a:t>Sqoop</a:t>
            </a:r>
            <a:r>
              <a:rPr lang="zh-CN" altLang="en-US" sz="2800" b="1" dirty="0" smtClean="0">
                <a:latin typeface="+mn-ea"/>
              </a:rPr>
              <a:t>基本用法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b="1" dirty="0" smtClean="0">
                <a:latin typeface="+mn-ea"/>
              </a:rPr>
              <a:t>列出数据库的所有</a:t>
            </a:r>
            <a:r>
              <a:rPr lang="zh-CN" altLang="en-US" sz="2400" b="1" dirty="0">
                <a:latin typeface="+mn-ea"/>
              </a:rPr>
              <a:t>表</a:t>
            </a:r>
            <a:r>
              <a:rPr lang="en-US" altLang="zh-CN" sz="2400" b="1" dirty="0" smtClean="0">
                <a:latin typeface="+mn-ea"/>
                <a:sym typeface="Wingdings" panose="05000000000000000000" pitchFamily="2" charset="2"/>
              </a:rPr>
              <a:t>: </a:t>
            </a:r>
            <a:endParaRPr lang="en-US" altLang="zh-CN" sz="2400" b="1" dirty="0" smtClean="0">
              <a:latin typeface="+mn-ea"/>
            </a:endParaRPr>
          </a:p>
          <a:p>
            <a:pPr lvl="2"/>
            <a:r>
              <a:rPr lang="zh-CN" altLang="en-US" sz="2000" dirty="0" smtClean="0"/>
              <a:t>明文密码：</a:t>
            </a:r>
            <a:endParaRPr lang="en-US" altLang="zh-CN" sz="2000" dirty="0"/>
          </a:p>
          <a:p>
            <a:pPr marL="914400" lvl="2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2000" dirty="0" err="1" smtClean="0"/>
              <a:t>sqoop</a:t>
            </a:r>
            <a:r>
              <a:rPr lang="en-US" altLang="zh-CN" sz="2000" dirty="0" smtClean="0"/>
              <a:t> list-tables </a:t>
            </a:r>
            <a:r>
              <a:rPr lang="en-US" altLang="zh-CN" sz="2000" dirty="0"/>
              <a:t>\</a:t>
            </a:r>
          </a:p>
          <a:p>
            <a:pPr marL="914400" lvl="2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--connect </a:t>
            </a:r>
            <a:r>
              <a:rPr lang="en-US" altLang="zh-CN" sz="2000" dirty="0" err="1" smtClean="0"/>
              <a:t>jdbc:mysql</a:t>
            </a:r>
            <a:r>
              <a:rPr lang="en-US" altLang="zh-CN" sz="2000" dirty="0"/>
              <a:t>://</a:t>
            </a:r>
            <a:r>
              <a:rPr lang="en-US" altLang="zh-CN" sz="2000" dirty="0" smtClean="0"/>
              <a:t>IP:PORT/</a:t>
            </a:r>
            <a:r>
              <a:rPr lang="en-US" altLang="zh-CN" sz="2000" dirty="0" err="1" smtClean="0"/>
              <a:t>testDB</a:t>
            </a:r>
            <a:r>
              <a:rPr lang="en-US" altLang="zh-CN" sz="2000" dirty="0" smtClean="0"/>
              <a:t>  \</a:t>
            </a:r>
          </a:p>
          <a:p>
            <a:pPr marL="914400" lvl="2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--</a:t>
            </a:r>
            <a:r>
              <a:rPr lang="en-US" altLang="zh-CN" sz="2000" dirty="0"/>
              <a:t>username USER </a:t>
            </a:r>
            <a:r>
              <a:rPr lang="en-US" altLang="zh-CN" sz="2000" dirty="0" smtClean="0"/>
              <a:t>\</a:t>
            </a:r>
          </a:p>
          <a:p>
            <a:pPr marL="914400" lvl="2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--</a:t>
            </a:r>
            <a:r>
              <a:rPr lang="en-US" altLang="zh-CN" sz="2000" dirty="0"/>
              <a:t>password </a:t>
            </a:r>
            <a:r>
              <a:rPr lang="en-US" altLang="zh-CN" sz="2000" dirty="0" smtClean="0"/>
              <a:t>PASSWD;</a:t>
            </a:r>
            <a:r>
              <a:rPr lang="en-US" altLang="zh-CN" sz="2000" dirty="0"/>
              <a:t> 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输入密码：</a:t>
            </a:r>
            <a:endParaRPr lang="en-US" altLang="zh-CN" sz="2000" dirty="0" smtClean="0"/>
          </a:p>
          <a:p>
            <a:pPr marL="914400" lvl="2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2000" dirty="0" err="1" smtClean="0"/>
              <a:t>sqoop</a:t>
            </a:r>
            <a:r>
              <a:rPr lang="en-US" altLang="zh-CN" sz="2000" dirty="0" smtClean="0"/>
              <a:t> list-tables \</a:t>
            </a:r>
          </a:p>
          <a:p>
            <a:pPr marL="914400" lvl="2" indent="0">
              <a:buNone/>
            </a:pPr>
            <a:r>
              <a:rPr lang="en-US" altLang="zh-CN" sz="2000" dirty="0" smtClean="0"/>
              <a:t>    --connect </a:t>
            </a:r>
            <a:r>
              <a:rPr lang="en-US" altLang="zh-CN" sz="2000" dirty="0" err="1" smtClean="0"/>
              <a:t>jdbc:mysql</a:t>
            </a:r>
            <a:r>
              <a:rPr lang="en-US" altLang="zh-CN" sz="2000" dirty="0" smtClean="0"/>
              <a:t>://IP:PORT/ </a:t>
            </a:r>
            <a:r>
              <a:rPr lang="en-US" altLang="zh-CN" sz="2000" dirty="0" err="1" smtClean="0"/>
              <a:t>testDB</a:t>
            </a:r>
            <a:r>
              <a:rPr lang="en-US" altLang="zh-CN" sz="2000" dirty="0" smtClean="0"/>
              <a:t> \</a:t>
            </a:r>
          </a:p>
          <a:p>
            <a:pPr marL="914400" lvl="2" indent="0">
              <a:buNone/>
            </a:pPr>
            <a:r>
              <a:rPr lang="en-US" altLang="zh-CN" sz="2000" dirty="0" smtClean="0"/>
              <a:t>    --username USER \</a:t>
            </a:r>
          </a:p>
          <a:p>
            <a:pPr marL="914400" lvl="2" indent="0">
              <a:buNone/>
            </a:pPr>
            <a:r>
              <a:rPr lang="en-US" altLang="zh-CN" sz="2000" dirty="0" smtClean="0"/>
              <a:t>    -P</a:t>
            </a:r>
          </a:p>
          <a:p>
            <a:pPr lvl="2"/>
            <a:r>
              <a:rPr lang="zh-CN" altLang="en-US" sz="2000" dirty="0" smtClean="0"/>
              <a:t>密码文件</a:t>
            </a:r>
            <a:endParaRPr lang="en-US" altLang="zh-CN" sz="2000" dirty="0" smtClean="0"/>
          </a:p>
          <a:p>
            <a:pPr marL="914400" lvl="2" indent="0">
              <a:buNone/>
            </a:pPr>
            <a:r>
              <a:rPr lang="en-US" altLang="zh-CN" sz="2000" dirty="0" err="1" smtClean="0"/>
              <a:t>sqoop</a:t>
            </a:r>
            <a:r>
              <a:rPr lang="en-US" altLang="zh-CN" sz="2000" dirty="0" smtClean="0"/>
              <a:t> list-tables \</a:t>
            </a:r>
          </a:p>
          <a:p>
            <a:pPr marL="914400" lvl="2" indent="0">
              <a:buNone/>
            </a:pPr>
            <a:r>
              <a:rPr lang="en-US" altLang="zh-CN" sz="2000" dirty="0" smtClean="0"/>
              <a:t>    --connect </a:t>
            </a:r>
            <a:r>
              <a:rPr lang="en-US" altLang="zh-CN" sz="2000" dirty="0" err="1" smtClean="0"/>
              <a:t>jdbc:mysql</a:t>
            </a:r>
            <a:r>
              <a:rPr lang="en-US" altLang="zh-CN" sz="2000" dirty="0" smtClean="0"/>
              <a:t>://IP:PORT/</a:t>
            </a:r>
            <a:r>
              <a:rPr lang="en-US" altLang="zh-CN" sz="2000" dirty="0" err="1" smtClean="0"/>
              <a:t>testDB</a:t>
            </a:r>
            <a:r>
              <a:rPr lang="en-US" altLang="zh-CN" sz="2000" dirty="0" smtClean="0"/>
              <a:t>  \</a:t>
            </a:r>
          </a:p>
          <a:p>
            <a:pPr marL="914400" lvl="2" indent="0">
              <a:buNone/>
            </a:pPr>
            <a:r>
              <a:rPr lang="en-US" altLang="zh-CN" sz="2000" dirty="0" smtClean="0"/>
              <a:t>    --username USER \</a:t>
            </a:r>
          </a:p>
          <a:p>
            <a:pPr marL="914400" lvl="2" indent="0">
              <a:buNone/>
            </a:pPr>
            <a:r>
              <a:rPr lang="en-US" altLang="zh-CN" sz="2000" dirty="0" smtClean="0"/>
              <a:t>    --password-file file:/temp</a:t>
            </a:r>
          </a:p>
          <a:p>
            <a:pPr lvl="2"/>
            <a:endParaRPr lang="en-US" altLang="zh-CN" sz="2000" dirty="0"/>
          </a:p>
          <a:p>
            <a:pPr lvl="1"/>
            <a:endParaRPr lang="en-US" altLang="zh-CN" sz="20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20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2000" dirty="0" smtClean="0">
              <a:latin typeface="+mn-ea"/>
            </a:endParaRPr>
          </a:p>
          <a:p>
            <a:pPr lvl="1"/>
            <a:endParaRPr lang="en-US" altLang="zh-CN" sz="2400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409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908720"/>
            <a:ext cx="7992888" cy="5791200"/>
          </a:xfrm>
        </p:spPr>
        <p:txBody>
          <a:bodyPr numCol="2">
            <a:normAutofit fontScale="92500" lnSpcReduction="10000"/>
          </a:bodyPr>
          <a:lstStyle/>
          <a:p>
            <a:r>
              <a:rPr lang="zh-CN" altLang="en-US" sz="2800" b="1" dirty="0">
                <a:latin typeface="+mn-ea"/>
              </a:rPr>
              <a:t>全</a:t>
            </a:r>
            <a:r>
              <a:rPr lang="zh-CN" altLang="en-US" sz="2800" b="1" dirty="0" smtClean="0">
                <a:latin typeface="+mn-ea"/>
              </a:rPr>
              <a:t>量数据导入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en-US" altLang="zh-CN" sz="2000" dirty="0" err="1"/>
              <a:t>sqoop</a:t>
            </a:r>
            <a:r>
              <a:rPr lang="en-US" altLang="zh-CN" sz="2000" dirty="0"/>
              <a:t> import </a:t>
            </a:r>
            <a:r>
              <a:rPr lang="en-US" altLang="zh-CN" sz="2000" dirty="0" smtClean="0"/>
              <a:t>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connect </a:t>
            </a:r>
            <a:r>
              <a:rPr lang="en-US" altLang="zh-CN" sz="2000" dirty="0" err="1"/>
              <a:t>jdbc:mysql</a:t>
            </a:r>
            <a:r>
              <a:rPr lang="en-US" altLang="zh-CN" sz="2000" dirty="0" smtClean="0"/>
              <a:t>://IP:PORT/</a:t>
            </a:r>
            <a:r>
              <a:rPr lang="en-US" altLang="zh-CN" sz="2000" dirty="0" err="1" smtClean="0"/>
              <a:t>testDB</a:t>
            </a:r>
            <a:r>
              <a:rPr lang="en-US" altLang="zh-CN" sz="2000" dirty="0" smtClean="0"/>
              <a:t> 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username USER </a:t>
            </a:r>
            <a:r>
              <a:rPr lang="en-US" altLang="zh-CN" sz="2000" dirty="0" smtClean="0"/>
              <a:t>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password PASSWD </a:t>
            </a:r>
            <a:r>
              <a:rPr lang="en-US" altLang="zh-CN" sz="2000" dirty="0" smtClean="0"/>
              <a:t>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query “select * from </a:t>
            </a:r>
            <a:r>
              <a:rPr lang="en-US" altLang="zh-CN" sz="2000" dirty="0" err="1"/>
              <a:t>testdb</a:t>
            </a:r>
            <a:r>
              <a:rPr lang="en-US" altLang="zh-CN" sz="2000" dirty="0"/>
              <a:t> where \$CONDITIONS”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target-</a:t>
            </a:r>
            <a:r>
              <a:rPr lang="en-US" altLang="zh-CN" sz="2000" dirty="0" err="1"/>
              <a:t>dir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/input \ 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fields-terminated-by “\\01”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hive-drop-import-</a:t>
            </a:r>
            <a:r>
              <a:rPr lang="en-US" altLang="zh-CN" sz="2000" dirty="0" err="1"/>
              <a:t>delims</a:t>
            </a:r>
            <a:r>
              <a:rPr lang="en-US" altLang="zh-CN" sz="2000" dirty="0"/>
              <a:t>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null-string “\\N”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null-non-string “\\N”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split-by id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</a:t>
            </a:r>
            <a:r>
              <a:rPr lang="en-US" altLang="zh-CN" sz="2000" dirty="0"/>
              <a:t>m 6 </a:t>
            </a:r>
            <a:r>
              <a:rPr lang="en-US" altLang="zh-CN" sz="2000" dirty="0" smtClean="0"/>
              <a:t>\</a:t>
            </a:r>
          </a:p>
          <a:p>
            <a:pPr lvl="1"/>
            <a:endParaRPr lang="en-US" altLang="zh-CN" sz="1800" dirty="0" smtClean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 smtClean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 smtClean="0"/>
          </a:p>
          <a:p>
            <a:pPr lvl="1"/>
            <a:r>
              <a:rPr lang="zh-CN" altLang="en-US" sz="1800" dirty="0" smtClean="0"/>
              <a:t>参数说明</a:t>
            </a:r>
            <a:endParaRPr lang="en-US" altLang="zh-CN" sz="1800" dirty="0" smtClean="0"/>
          </a:p>
          <a:p>
            <a:pPr lvl="2"/>
            <a:r>
              <a:rPr lang="en-US" altLang="zh-CN" sz="1500" dirty="0" smtClean="0"/>
              <a:t>--query</a:t>
            </a:r>
            <a:r>
              <a:rPr lang="zh-CN" altLang="en-US" sz="1500" dirty="0" smtClean="0"/>
              <a:t>：</a:t>
            </a:r>
            <a:r>
              <a:rPr lang="en-US" altLang="zh-CN" sz="1500" dirty="0" err="1" smtClean="0"/>
              <a:t>sql</a:t>
            </a:r>
            <a:r>
              <a:rPr lang="zh-CN" altLang="en-US" sz="1500" dirty="0" smtClean="0"/>
              <a:t>查询语句</a:t>
            </a:r>
            <a:endParaRPr lang="en-US" altLang="zh-CN" sz="1500" dirty="0" smtClean="0"/>
          </a:p>
          <a:p>
            <a:pPr lvl="2"/>
            <a:r>
              <a:rPr lang="en-US" altLang="zh-CN" sz="1500" dirty="0" smtClean="0"/>
              <a:t>--target-</a:t>
            </a:r>
            <a:r>
              <a:rPr lang="en-US" altLang="zh-CN" sz="1500" dirty="0" err="1" smtClean="0"/>
              <a:t>dir</a:t>
            </a:r>
            <a:r>
              <a:rPr lang="zh-CN" altLang="en-US" sz="1500" dirty="0" smtClean="0"/>
              <a:t>：</a:t>
            </a:r>
            <a:r>
              <a:rPr lang="en-US" altLang="zh-CN" sz="1500" dirty="0" err="1" smtClean="0"/>
              <a:t>hdfs</a:t>
            </a:r>
            <a:r>
              <a:rPr lang="zh-CN" altLang="en-US" sz="1500" dirty="0" smtClean="0"/>
              <a:t>目标目录</a:t>
            </a:r>
            <a:endParaRPr lang="en-US" altLang="zh-CN" sz="1500" dirty="0" smtClean="0"/>
          </a:p>
          <a:p>
            <a:pPr lvl="2"/>
            <a:r>
              <a:rPr lang="en-US" altLang="zh-CN" sz="1500" dirty="0" smtClean="0"/>
              <a:t>-- hive-drop-import- </a:t>
            </a:r>
            <a:r>
              <a:rPr lang="en-US" altLang="zh-CN" sz="1500" dirty="0" err="1" smtClean="0"/>
              <a:t>delims</a:t>
            </a:r>
            <a:r>
              <a:rPr lang="zh-CN" altLang="en-US" sz="1500" dirty="0" smtClean="0"/>
              <a:t>：</a:t>
            </a:r>
            <a:endParaRPr lang="en-US" altLang="zh-CN" sz="1500" dirty="0" smtClean="0"/>
          </a:p>
          <a:p>
            <a:pPr marL="914400" lvl="2" indent="0">
              <a:buNone/>
            </a:pPr>
            <a:r>
              <a:rPr lang="en-US" altLang="zh-CN" sz="1500" dirty="0" smtClean="0"/>
              <a:t>    </a:t>
            </a:r>
            <a:r>
              <a:rPr lang="zh-CN" altLang="en-US" sz="1500" dirty="0" smtClean="0"/>
              <a:t>删除数据中包含的</a:t>
            </a:r>
            <a:r>
              <a:rPr lang="en-US" altLang="zh-CN" sz="1500" dirty="0" smtClean="0"/>
              <a:t>Hive</a:t>
            </a:r>
            <a:r>
              <a:rPr lang="zh-CN" altLang="en-US" sz="1500" dirty="0" smtClean="0"/>
              <a:t>默认分隔</a:t>
            </a:r>
            <a:endParaRPr lang="en-US" altLang="zh-CN" sz="1500" dirty="0" smtClean="0"/>
          </a:p>
          <a:p>
            <a:pPr marL="914400" lvl="2" indent="0">
              <a:buNone/>
            </a:pPr>
            <a:r>
              <a:rPr lang="en-US" altLang="zh-CN" sz="1500" dirty="0"/>
              <a:t> </a:t>
            </a:r>
            <a:r>
              <a:rPr lang="en-US" altLang="zh-CN" sz="1500" dirty="0" smtClean="0"/>
              <a:t>   </a:t>
            </a:r>
            <a:r>
              <a:rPr lang="zh-CN" altLang="en-US" sz="1500" dirty="0" smtClean="0"/>
              <a:t>符（</a:t>
            </a:r>
            <a:r>
              <a:rPr lang="en-US" altLang="zh-CN" sz="1500" dirty="0" smtClean="0"/>
              <a:t>^A, ^B, \n</a:t>
            </a:r>
            <a:r>
              <a:rPr lang="zh-CN" altLang="en-US" sz="1500" dirty="0" smtClean="0"/>
              <a:t>）</a:t>
            </a:r>
            <a:endParaRPr lang="en-US" altLang="zh-CN" sz="1500" dirty="0" smtClean="0"/>
          </a:p>
          <a:p>
            <a:pPr lvl="2"/>
            <a:r>
              <a:rPr lang="en-US" altLang="zh-CN" sz="1500" dirty="0" smtClean="0"/>
              <a:t>--null-string</a:t>
            </a:r>
            <a:r>
              <a:rPr lang="zh-CN" altLang="en-US" sz="1500" dirty="0" smtClean="0"/>
              <a:t>：</a:t>
            </a:r>
            <a:r>
              <a:rPr lang="en-US" altLang="zh-CN" sz="1500" dirty="0" smtClean="0"/>
              <a:t> string</a:t>
            </a:r>
            <a:r>
              <a:rPr lang="zh-CN" altLang="en-US" sz="1500" dirty="0" smtClean="0"/>
              <a:t>类型空值的替</a:t>
            </a:r>
            <a:endParaRPr lang="en-US" altLang="zh-CN" sz="1500" dirty="0" smtClean="0"/>
          </a:p>
          <a:p>
            <a:pPr marL="914400" lvl="2" indent="0">
              <a:buNone/>
            </a:pPr>
            <a:r>
              <a:rPr lang="en-US" altLang="zh-CN" sz="1500" dirty="0" smtClean="0"/>
              <a:t>     </a:t>
            </a:r>
            <a:r>
              <a:rPr lang="zh-CN" altLang="en-US" sz="1500" dirty="0" smtClean="0"/>
              <a:t>换符（</a:t>
            </a:r>
            <a:r>
              <a:rPr lang="en-US" altLang="zh-CN" sz="1500" dirty="0" smtClean="0"/>
              <a:t>Hive</a:t>
            </a:r>
            <a:r>
              <a:rPr lang="zh-CN" altLang="en-US" sz="1500" dirty="0" smtClean="0"/>
              <a:t>中 </a:t>
            </a:r>
            <a:r>
              <a:rPr lang="en-US" altLang="zh-CN" sz="1500" dirty="0" smtClean="0"/>
              <a:t>Null</a:t>
            </a:r>
            <a:r>
              <a:rPr lang="zh-CN" altLang="en-US" sz="1500" dirty="0" smtClean="0"/>
              <a:t>用</a:t>
            </a:r>
            <a:r>
              <a:rPr lang="en-US" altLang="zh-CN" sz="1500" dirty="0" smtClean="0"/>
              <a:t>\n</a:t>
            </a:r>
            <a:r>
              <a:rPr lang="zh-CN" altLang="en-US" sz="1500" dirty="0" smtClean="0"/>
              <a:t>表示）</a:t>
            </a:r>
            <a:endParaRPr lang="en-US" altLang="zh-CN" sz="1500" dirty="0" smtClean="0"/>
          </a:p>
          <a:p>
            <a:pPr lvl="2"/>
            <a:r>
              <a:rPr lang="en-US" altLang="zh-CN" sz="1500" dirty="0"/>
              <a:t>--</a:t>
            </a:r>
            <a:r>
              <a:rPr lang="en-US" altLang="zh-CN" sz="1500" dirty="0" smtClean="0"/>
              <a:t>null-non-string</a:t>
            </a:r>
            <a:r>
              <a:rPr lang="zh-CN" altLang="en-US" sz="1500" dirty="0" smtClean="0"/>
              <a:t>：非</a:t>
            </a:r>
            <a:r>
              <a:rPr lang="en-US" altLang="zh-CN" sz="1500" dirty="0"/>
              <a:t>string</a:t>
            </a:r>
            <a:r>
              <a:rPr lang="zh-CN" altLang="en-US" sz="1500" dirty="0"/>
              <a:t>类型</a:t>
            </a:r>
            <a:r>
              <a:rPr lang="zh-CN" altLang="en-US" sz="1500" dirty="0" smtClean="0"/>
              <a:t>空</a:t>
            </a:r>
            <a:endParaRPr lang="en-US" altLang="zh-CN" sz="1500" dirty="0" smtClean="0"/>
          </a:p>
          <a:p>
            <a:pPr marL="914400" lvl="2" indent="0">
              <a:buNone/>
            </a:pPr>
            <a:r>
              <a:rPr lang="en-US" altLang="zh-CN" sz="1500" dirty="0" smtClean="0"/>
              <a:t>     </a:t>
            </a:r>
            <a:r>
              <a:rPr lang="zh-CN" altLang="en-US" sz="1500" dirty="0" smtClean="0"/>
              <a:t>值</a:t>
            </a:r>
            <a:r>
              <a:rPr lang="zh-CN" altLang="en-US" sz="1500" dirty="0"/>
              <a:t>的替换</a:t>
            </a:r>
            <a:r>
              <a:rPr lang="zh-CN" altLang="en-US" sz="1500" dirty="0" smtClean="0"/>
              <a:t>符</a:t>
            </a:r>
            <a:endParaRPr lang="en-US" altLang="zh-CN" sz="1500" dirty="0" smtClean="0"/>
          </a:p>
          <a:p>
            <a:pPr lvl="2"/>
            <a:r>
              <a:rPr lang="en-US" altLang="zh-CN" sz="1500" dirty="0"/>
              <a:t>---</a:t>
            </a:r>
            <a:r>
              <a:rPr lang="en-US" altLang="zh-CN" sz="1500" dirty="0" smtClean="0"/>
              <a:t>split-by</a:t>
            </a:r>
            <a:r>
              <a:rPr lang="zh-CN" altLang="en-US" sz="1500" dirty="0"/>
              <a:t>：数据切片字段（</a:t>
            </a:r>
            <a:r>
              <a:rPr lang="en-US" altLang="zh-CN" sz="1500" dirty="0" err="1"/>
              <a:t>int</a:t>
            </a:r>
            <a:r>
              <a:rPr lang="zh-CN" altLang="en-US" sz="1500" dirty="0" smtClean="0"/>
              <a:t>类</a:t>
            </a:r>
            <a:endParaRPr lang="en-US" altLang="zh-CN" sz="1500" dirty="0" smtClean="0"/>
          </a:p>
          <a:p>
            <a:pPr marL="914400" lvl="2" indent="0">
              <a:buNone/>
            </a:pPr>
            <a:r>
              <a:rPr lang="en-US" altLang="zh-CN" sz="1500" dirty="0"/>
              <a:t> </a:t>
            </a:r>
            <a:r>
              <a:rPr lang="en-US" altLang="zh-CN" sz="1500" dirty="0" smtClean="0"/>
              <a:t>     </a:t>
            </a:r>
            <a:r>
              <a:rPr lang="zh-CN" altLang="en-US" sz="1500" dirty="0" smtClean="0"/>
              <a:t>型</a:t>
            </a:r>
            <a:r>
              <a:rPr lang="zh-CN" altLang="en-US" sz="1500" dirty="0"/>
              <a:t>，</a:t>
            </a:r>
            <a:r>
              <a:rPr lang="en-US" altLang="zh-CN" sz="1500" dirty="0"/>
              <a:t>m&gt;1</a:t>
            </a:r>
            <a:r>
              <a:rPr lang="zh-CN" altLang="en-US" sz="1500" dirty="0"/>
              <a:t>时必 须指定</a:t>
            </a:r>
            <a:r>
              <a:rPr lang="zh-CN" altLang="en-US" sz="1500" dirty="0" smtClean="0"/>
              <a:t>）</a:t>
            </a:r>
            <a:endParaRPr lang="en-US" altLang="zh-CN" sz="1500" dirty="0" smtClean="0"/>
          </a:p>
          <a:p>
            <a:pPr lvl="2"/>
            <a:r>
              <a:rPr lang="en-US" altLang="zh-CN" sz="1500" dirty="0" smtClean="0"/>
              <a:t>-m</a:t>
            </a:r>
            <a:r>
              <a:rPr lang="zh-CN" altLang="en-US" sz="1500" dirty="0" smtClean="0"/>
              <a:t>：</a:t>
            </a:r>
            <a:r>
              <a:rPr lang="en-US" altLang="zh-CN" sz="1500" dirty="0"/>
              <a:t>Mapper</a:t>
            </a:r>
            <a:r>
              <a:rPr lang="zh-CN" altLang="en-US" sz="1500" dirty="0"/>
              <a:t>任务数，默认为</a:t>
            </a:r>
            <a:r>
              <a:rPr lang="en-US" altLang="zh-CN" sz="1500" dirty="0"/>
              <a:t>4</a:t>
            </a:r>
          </a:p>
          <a:p>
            <a:pPr lvl="2"/>
            <a:endParaRPr lang="en-US" altLang="zh-CN" sz="1500" dirty="0" smtClean="0"/>
          </a:p>
          <a:p>
            <a:pPr marL="457200" lvl="1" indent="0">
              <a:buNone/>
            </a:pPr>
            <a:endParaRPr lang="en-US" altLang="zh-CN" sz="15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15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1500" dirty="0" smtClean="0">
              <a:latin typeface="+mn-ea"/>
            </a:endParaRPr>
          </a:p>
          <a:p>
            <a:pPr lvl="1"/>
            <a:endParaRPr lang="en-US" altLang="zh-CN" sz="1500" dirty="0" smtClean="0">
              <a:latin typeface="+mn-ea"/>
            </a:endParaRPr>
          </a:p>
          <a:p>
            <a:pPr lvl="1"/>
            <a:endParaRPr lang="en-US" altLang="zh-CN" sz="1500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sz="1500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872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908720"/>
            <a:ext cx="7992888" cy="5791200"/>
          </a:xfrm>
        </p:spPr>
        <p:txBody>
          <a:bodyPr numCol="2">
            <a:normAutofit/>
          </a:bodyPr>
          <a:lstStyle/>
          <a:p>
            <a:r>
              <a:rPr lang="zh-CN" altLang="en-US" sz="2400" b="1" dirty="0">
                <a:latin typeface="+mn-ea"/>
              </a:rPr>
              <a:t>基于递增</a:t>
            </a:r>
            <a:r>
              <a:rPr lang="zh-CN" altLang="en-US" sz="2400" b="1" dirty="0" smtClean="0">
                <a:latin typeface="+mn-ea"/>
              </a:rPr>
              <a:t>列</a:t>
            </a:r>
            <a:r>
              <a:rPr lang="zh-CN" altLang="en-US" sz="2400" b="1" dirty="0">
                <a:latin typeface="+mn-ea"/>
              </a:rPr>
              <a:t>的</a:t>
            </a:r>
            <a:r>
              <a:rPr lang="zh-CN" altLang="en-US" sz="2400" b="1" dirty="0" smtClean="0">
                <a:latin typeface="+mn-ea"/>
              </a:rPr>
              <a:t>增量数据导入（</a:t>
            </a:r>
            <a:r>
              <a:rPr lang="en-US" altLang="zh-CN" sz="2400" b="1" dirty="0" smtClean="0">
                <a:latin typeface="+mn-ea"/>
              </a:rPr>
              <a:t>Append</a:t>
            </a:r>
            <a:r>
              <a:rPr lang="zh-CN" altLang="en-US" sz="2400" b="1" dirty="0" smtClean="0">
                <a:latin typeface="+mn-ea"/>
              </a:rPr>
              <a:t>）</a:t>
            </a:r>
            <a:endParaRPr lang="en-US" altLang="zh-CN" sz="2400" b="1" dirty="0" smtClean="0">
              <a:latin typeface="+mn-ea"/>
            </a:endParaRPr>
          </a:p>
          <a:p>
            <a:pPr lvl="1"/>
            <a:r>
              <a:rPr lang="en-US" altLang="zh-CN" sz="2000" dirty="0" err="1"/>
              <a:t>sqoop</a:t>
            </a:r>
            <a:r>
              <a:rPr lang="en-US" altLang="zh-CN" sz="2000" dirty="0"/>
              <a:t> import </a:t>
            </a:r>
            <a:r>
              <a:rPr lang="en-US" altLang="zh-CN" sz="2000" dirty="0" smtClean="0"/>
              <a:t> 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connect </a:t>
            </a:r>
            <a:r>
              <a:rPr lang="en-US" altLang="zh-CN" sz="2000" dirty="0" err="1"/>
              <a:t>jdbc:mysql</a:t>
            </a:r>
            <a:r>
              <a:rPr lang="en-US" altLang="zh-CN" sz="2000" dirty="0" smtClean="0"/>
              <a:t>://IP:PORT/</a:t>
            </a:r>
            <a:r>
              <a:rPr lang="en-US" altLang="zh-CN" sz="2000" dirty="0" err="1" smtClean="0"/>
              <a:t>testDB</a:t>
            </a:r>
            <a:r>
              <a:rPr lang="en-US" altLang="zh-CN" sz="2000" dirty="0" smtClean="0"/>
              <a:t>  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username USER </a:t>
            </a:r>
            <a:r>
              <a:rPr lang="en-US" altLang="zh-CN" sz="2000" dirty="0" smtClean="0"/>
              <a:t> 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password PASSWD </a:t>
            </a:r>
            <a:r>
              <a:rPr lang="en-US" altLang="zh-CN" sz="2000" dirty="0" smtClean="0"/>
              <a:t> 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query “select * from </a:t>
            </a:r>
            <a:r>
              <a:rPr lang="en-US" altLang="zh-CN" sz="2000" dirty="0" smtClean="0"/>
              <a:t>table1 </a:t>
            </a:r>
            <a:r>
              <a:rPr lang="en-US" altLang="zh-CN" sz="2000" dirty="0"/>
              <a:t>where \$CONDITIONS” </a:t>
            </a:r>
            <a:r>
              <a:rPr lang="en-US" altLang="zh-CN" sz="2000" dirty="0" smtClean="0"/>
              <a:t> \ 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target-</a:t>
            </a:r>
            <a:r>
              <a:rPr lang="en-US" altLang="zh-CN" sz="2000" dirty="0" err="1"/>
              <a:t>dir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/input \ </a:t>
            </a:r>
          </a:p>
          <a:p>
            <a:pPr marL="457200" lvl="1" indent="0">
              <a:buNone/>
            </a:pPr>
            <a:r>
              <a:rPr lang="en-US" altLang="zh-CN" sz="2000" dirty="0" smtClean="0"/>
              <a:t>     --</a:t>
            </a:r>
            <a:r>
              <a:rPr lang="en-US" altLang="zh-CN" sz="2000" dirty="0"/>
              <a:t>split-by id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-m </a:t>
            </a:r>
            <a:r>
              <a:rPr lang="en-US" altLang="zh-CN" sz="2000" dirty="0"/>
              <a:t>6 </a:t>
            </a:r>
            <a:r>
              <a:rPr lang="en-US" altLang="zh-CN" sz="2000" dirty="0" smtClean="0"/>
              <a:t>\</a:t>
            </a:r>
          </a:p>
          <a:p>
            <a:pPr marL="457200" lvl="1" indent="0">
              <a:buNone/>
            </a:pPr>
            <a:r>
              <a:rPr lang="en-US" altLang="zh-CN" sz="2000" dirty="0" smtClean="0"/>
              <a:t>     --</a:t>
            </a:r>
            <a:r>
              <a:rPr lang="en-US" altLang="zh-CN" sz="2000" dirty="0"/>
              <a:t>incremental append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check-column id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last-value 4 </a:t>
            </a:r>
            <a:endParaRPr lang="en-US" altLang="zh-CN" sz="2000" dirty="0" smtClean="0"/>
          </a:p>
          <a:p>
            <a:pPr lvl="1"/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pPr lvl="1"/>
            <a:r>
              <a:rPr lang="zh-CN" altLang="en-US" sz="1800" dirty="0" smtClean="0"/>
              <a:t>参数说明</a:t>
            </a:r>
            <a:endParaRPr lang="en-US" altLang="zh-CN" sz="1800" dirty="0" smtClean="0"/>
          </a:p>
          <a:p>
            <a:pPr lvl="2"/>
            <a:r>
              <a:rPr lang="en-US" altLang="zh-CN" sz="1500" dirty="0" smtClean="0"/>
              <a:t>--</a:t>
            </a:r>
            <a:r>
              <a:rPr lang="en-US" altLang="zh-CN" sz="1600" dirty="0"/>
              <a:t>incremental append</a:t>
            </a:r>
            <a:r>
              <a:rPr lang="zh-CN" altLang="en-US" sz="1500" dirty="0" smtClean="0"/>
              <a:t>：</a:t>
            </a:r>
            <a:r>
              <a:rPr lang="zh-CN" altLang="en-US" sz="1600" dirty="0"/>
              <a:t>基于递增列的增量导入（将递增列值大于阈值的所有数据增量导入</a:t>
            </a:r>
            <a:r>
              <a:rPr lang="en-US" altLang="zh-CN" sz="1600" dirty="0"/>
              <a:t>Hadoop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lvl="2"/>
            <a:r>
              <a:rPr lang="en-US" altLang="zh-CN" sz="1600" dirty="0"/>
              <a:t>--</a:t>
            </a:r>
            <a:r>
              <a:rPr lang="en-US" altLang="zh-CN" sz="1600" dirty="0" smtClean="0"/>
              <a:t>check-column:</a:t>
            </a:r>
            <a:r>
              <a:rPr lang="zh-CN" altLang="en-US" sz="1600" dirty="0"/>
              <a:t>递增列（</a:t>
            </a:r>
            <a:r>
              <a:rPr lang="en-US" altLang="zh-CN" sz="1600" dirty="0" err="1"/>
              <a:t>int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lvl="2"/>
            <a:r>
              <a:rPr lang="en-US" altLang="zh-CN" sz="1600" dirty="0"/>
              <a:t>--</a:t>
            </a:r>
            <a:r>
              <a:rPr lang="en-US" altLang="zh-CN" sz="1600" dirty="0" smtClean="0"/>
              <a:t>last-value:</a:t>
            </a:r>
            <a:r>
              <a:rPr lang="zh-CN" altLang="en-US" sz="1600" dirty="0"/>
              <a:t>阈值（</a:t>
            </a:r>
            <a:r>
              <a:rPr lang="en-US" altLang="zh-CN" sz="1600" dirty="0" err="1"/>
              <a:t>int</a:t>
            </a:r>
            <a:r>
              <a:rPr lang="zh-CN" altLang="en-US" sz="1600" dirty="0"/>
              <a:t>）</a:t>
            </a:r>
            <a:endParaRPr lang="en-US" altLang="zh-CN" sz="15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15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1500" dirty="0" smtClean="0">
              <a:latin typeface="+mn-ea"/>
            </a:endParaRPr>
          </a:p>
          <a:p>
            <a:pPr lvl="1"/>
            <a:endParaRPr lang="en-US" altLang="zh-CN" sz="1500" dirty="0" smtClean="0">
              <a:latin typeface="+mn-ea"/>
            </a:endParaRPr>
          </a:p>
          <a:p>
            <a:pPr lvl="1"/>
            <a:endParaRPr lang="en-US" altLang="zh-CN" sz="1500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sz="1500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575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Sqoop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908720"/>
            <a:ext cx="7704856" cy="5791200"/>
          </a:xfrm>
        </p:spPr>
        <p:txBody>
          <a:bodyPr numCol="2">
            <a:normAutofit lnSpcReduction="10000"/>
          </a:bodyPr>
          <a:lstStyle/>
          <a:p>
            <a:r>
              <a:rPr lang="zh-CN" altLang="en-US" sz="2400" b="1" dirty="0" smtClean="0">
                <a:latin typeface="+mn-ea"/>
              </a:rPr>
              <a:t>基于</a:t>
            </a:r>
            <a:r>
              <a:rPr lang="zh-CN" altLang="en-US" sz="2400" b="1" dirty="0">
                <a:latin typeface="+mn-ea"/>
              </a:rPr>
              <a:t>时间列的增量数据导入（</a:t>
            </a:r>
            <a:r>
              <a:rPr lang="en-US" altLang="zh-CN" sz="2400" b="1" dirty="0" err="1">
                <a:latin typeface="+mn-ea"/>
              </a:rPr>
              <a:t>LastModified</a:t>
            </a:r>
            <a:r>
              <a:rPr lang="zh-CN" altLang="en-US" sz="2400" b="1" dirty="0">
                <a:latin typeface="+mn-ea"/>
              </a:rPr>
              <a:t>方式</a:t>
            </a:r>
            <a:r>
              <a:rPr lang="zh-CN" altLang="en-US" sz="2400" b="1" dirty="0" smtClean="0">
                <a:latin typeface="+mn-ea"/>
              </a:rPr>
              <a:t>）</a:t>
            </a:r>
            <a:endParaRPr lang="en-US" altLang="zh-CN" sz="2400" b="1" dirty="0" smtClean="0">
              <a:latin typeface="+mn-ea"/>
            </a:endParaRPr>
          </a:p>
          <a:p>
            <a:pPr lvl="1"/>
            <a:r>
              <a:rPr lang="en-US" altLang="zh-CN" sz="2000" dirty="0" err="1" smtClean="0"/>
              <a:t>sqoop</a:t>
            </a:r>
            <a:r>
              <a:rPr lang="en-US" altLang="zh-CN" sz="2000" dirty="0" smtClean="0"/>
              <a:t> import  \</a:t>
            </a:r>
          </a:p>
          <a:p>
            <a:pPr marL="457200" lvl="1" indent="0">
              <a:buNone/>
            </a:pPr>
            <a:r>
              <a:rPr lang="en-US" altLang="zh-CN" sz="2000" dirty="0" smtClean="0"/>
              <a:t>     --</a:t>
            </a:r>
            <a:r>
              <a:rPr lang="en-US" altLang="zh-CN" sz="2000" dirty="0"/>
              <a:t>connect </a:t>
            </a:r>
            <a:r>
              <a:rPr lang="en-US" altLang="zh-CN" sz="2000" dirty="0" err="1"/>
              <a:t>jdbc:mysql</a:t>
            </a:r>
            <a:r>
              <a:rPr lang="en-US" altLang="zh-CN" sz="2000" dirty="0" smtClean="0"/>
              <a:t>://IP:PORT/</a:t>
            </a:r>
            <a:r>
              <a:rPr lang="en-US" altLang="zh-CN" sz="2000" dirty="0" err="1" smtClean="0"/>
              <a:t>testDB</a:t>
            </a:r>
            <a:r>
              <a:rPr lang="en-US" altLang="zh-CN" sz="2000" dirty="0" smtClean="0"/>
              <a:t>  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username USER </a:t>
            </a:r>
            <a:r>
              <a:rPr lang="en-US" altLang="zh-CN" sz="2000" dirty="0" smtClean="0"/>
              <a:t> 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password PASSWD </a:t>
            </a:r>
            <a:r>
              <a:rPr lang="en-US" altLang="zh-CN" sz="2000" dirty="0" smtClean="0"/>
              <a:t> \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query “select * from </a:t>
            </a:r>
            <a:r>
              <a:rPr lang="en-US" altLang="zh-CN" sz="2000" dirty="0" smtClean="0"/>
              <a:t>table1 </a:t>
            </a:r>
            <a:r>
              <a:rPr lang="en-US" altLang="zh-CN" sz="2000" dirty="0"/>
              <a:t>where \$CONDITIONS” </a:t>
            </a:r>
            <a:r>
              <a:rPr lang="en-US" altLang="zh-CN" sz="2000" dirty="0" smtClean="0"/>
              <a:t> \ </a:t>
            </a:r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target-</a:t>
            </a:r>
            <a:r>
              <a:rPr lang="en-US" altLang="zh-CN" sz="2000" dirty="0" err="1"/>
              <a:t>dir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/input \ </a:t>
            </a:r>
          </a:p>
          <a:p>
            <a:pPr marL="457200" lvl="1" indent="0">
              <a:buNone/>
            </a:pPr>
            <a:r>
              <a:rPr lang="en-US" altLang="zh-CN" sz="2000" dirty="0" smtClean="0"/>
              <a:t>     --</a:t>
            </a:r>
            <a:r>
              <a:rPr lang="en-US" altLang="zh-CN" sz="2000" dirty="0"/>
              <a:t>split-by id \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-m 1 \</a:t>
            </a:r>
          </a:p>
          <a:p>
            <a:pPr marL="457200" lvl="1" indent="0">
              <a:buNone/>
            </a:pPr>
            <a:r>
              <a:rPr lang="en-US" altLang="zh-CN" sz="2000" dirty="0" smtClean="0"/>
              <a:t>     --</a:t>
            </a:r>
            <a:r>
              <a:rPr lang="en-US" altLang="zh-CN" sz="2000" dirty="0"/>
              <a:t>incremental </a:t>
            </a:r>
            <a:r>
              <a:rPr lang="en-US" altLang="zh-CN" sz="2000" dirty="0" err="1" smtClean="0"/>
              <a:t>lastmodified</a:t>
            </a:r>
            <a:r>
              <a:rPr lang="en-US" altLang="zh-CN" sz="2000" dirty="0" smtClean="0"/>
              <a:t> \ </a:t>
            </a:r>
          </a:p>
          <a:p>
            <a:pPr marL="457200" lvl="1" indent="0">
              <a:buNone/>
            </a:pPr>
            <a:r>
              <a:rPr lang="en-US" altLang="zh-CN" sz="2000" dirty="0"/>
              <a:t>     --merge-key id </a:t>
            </a:r>
            <a:r>
              <a:rPr lang="en-US" altLang="zh-CN" sz="2000" dirty="0" smtClean="0"/>
              <a:t>\</a:t>
            </a:r>
          </a:p>
          <a:p>
            <a:pPr marL="457200" lvl="1" indent="0">
              <a:buNone/>
            </a:pPr>
            <a:r>
              <a:rPr lang="en-US" altLang="zh-CN" sz="2000" dirty="0" smtClean="0"/>
              <a:t>    --</a:t>
            </a:r>
            <a:r>
              <a:rPr lang="en-US" altLang="zh-CN" sz="2000" dirty="0"/>
              <a:t>check-column time \  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--</a:t>
            </a:r>
            <a:r>
              <a:rPr lang="en-US" altLang="zh-CN" sz="2000" dirty="0"/>
              <a:t>last-value </a:t>
            </a:r>
            <a:r>
              <a:rPr lang="en-US" altLang="zh-CN" sz="2000" dirty="0" smtClean="0"/>
              <a:t>“2020-05-01 00:00:00”</a:t>
            </a:r>
          </a:p>
          <a:p>
            <a:pPr lvl="1"/>
            <a:endParaRPr lang="en-US" altLang="zh-CN" sz="1800" dirty="0" smtClean="0"/>
          </a:p>
          <a:p>
            <a:pPr marL="457200" lvl="1" indent="0">
              <a:buNone/>
            </a:pPr>
            <a:endParaRPr lang="en-US" altLang="zh-CN" sz="1800" dirty="0" smtClean="0"/>
          </a:p>
          <a:p>
            <a:pPr lvl="1"/>
            <a:r>
              <a:rPr lang="zh-CN" altLang="en-US" sz="1800" dirty="0" smtClean="0"/>
              <a:t>参数说明</a:t>
            </a:r>
            <a:endParaRPr lang="en-US" altLang="zh-CN" sz="1800" dirty="0" smtClean="0"/>
          </a:p>
          <a:p>
            <a:pPr lvl="2"/>
            <a:r>
              <a:rPr lang="en-US" altLang="zh-CN" sz="1500" dirty="0" smtClean="0"/>
              <a:t>--</a:t>
            </a:r>
            <a:r>
              <a:rPr lang="en-US" altLang="zh-CN" sz="1600" dirty="0"/>
              <a:t>incremental </a:t>
            </a:r>
            <a:r>
              <a:rPr lang="en-US" altLang="zh-CN" sz="1600" dirty="0" err="1"/>
              <a:t>lastmodified</a:t>
            </a:r>
            <a:r>
              <a:rPr lang="zh-CN" altLang="en-US" sz="1500" dirty="0" smtClean="0"/>
              <a:t>：</a:t>
            </a:r>
            <a:endParaRPr lang="en-US" altLang="zh-CN" sz="1500" dirty="0" smtClean="0"/>
          </a:p>
          <a:p>
            <a:pPr marL="914400" lvl="2" indent="0">
              <a:buNone/>
            </a:pPr>
            <a:r>
              <a:rPr lang="zh-CN" altLang="en-US" sz="1600" dirty="0" smtClean="0"/>
              <a:t>基于</a:t>
            </a:r>
            <a:r>
              <a:rPr lang="zh-CN" altLang="en-US" sz="1600" dirty="0"/>
              <a:t>时间列的增量导入（将时 间列大于等于阈值的所有数据 增量导入</a:t>
            </a:r>
            <a:r>
              <a:rPr lang="en-US" altLang="zh-CN" sz="1600" dirty="0"/>
              <a:t>Hadoop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lvl="2"/>
            <a:r>
              <a:rPr lang="en-US" altLang="zh-CN" sz="1600" dirty="0"/>
              <a:t>--</a:t>
            </a:r>
            <a:r>
              <a:rPr lang="en-US" altLang="zh-CN" sz="1600" dirty="0" smtClean="0"/>
              <a:t>merge-key:</a:t>
            </a:r>
          </a:p>
          <a:p>
            <a:pPr marL="914400" lvl="2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</a:t>
            </a:r>
            <a:r>
              <a:rPr lang="zh-CN" altLang="en-US" sz="1600" dirty="0" smtClean="0"/>
              <a:t>合</a:t>
            </a:r>
            <a:r>
              <a:rPr lang="zh-CN" altLang="en-US" sz="1600" dirty="0"/>
              <a:t>并列（主键，合并键值相同 的记录） </a:t>
            </a:r>
            <a:endParaRPr lang="en-US" altLang="zh-CN" sz="1600" dirty="0" smtClean="0"/>
          </a:p>
          <a:p>
            <a:pPr lvl="2"/>
            <a:r>
              <a:rPr lang="en-US" altLang="zh-CN" sz="1600" dirty="0"/>
              <a:t>--check-column</a:t>
            </a:r>
            <a:r>
              <a:rPr lang="en-US" altLang="zh-CN" sz="1600" dirty="0" smtClean="0"/>
              <a:t>:</a:t>
            </a:r>
          </a:p>
          <a:p>
            <a:pPr marL="914400" lvl="2" indent="0">
              <a:buNone/>
            </a:pPr>
            <a:r>
              <a:rPr lang="en-US" altLang="zh-CN" sz="1600" dirty="0" smtClean="0"/>
              <a:t>      </a:t>
            </a:r>
            <a:r>
              <a:rPr lang="zh-CN" altLang="en-US" sz="1600" dirty="0" smtClean="0"/>
              <a:t>时间</a:t>
            </a:r>
            <a:r>
              <a:rPr lang="zh-CN" altLang="en-US" sz="1600" dirty="0"/>
              <a:t>列（</a:t>
            </a:r>
            <a:r>
              <a:rPr lang="en-US" altLang="zh-CN" sz="1600" dirty="0"/>
              <a:t>timestamp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lvl="2"/>
            <a:r>
              <a:rPr lang="en-US" altLang="zh-CN" sz="1600" dirty="0"/>
              <a:t>--last-value</a:t>
            </a:r>
            <a:r>
              <a:rPr lang="en-US" altLang="zh-CN" sz="1600" dirty="0" smtClean="0"/>
              <a:t>: </a:t>
            </a:r>
          </a:p>
          <a:p>
            <a:pPr marL="914400" lvl="2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</a:t>
            </a:r>
            <a:r>
              <a:rPr lang="zh-CN" altLang="en-US" sz="1600" dirty="0" smtClean="0"/>
              <a:t>阈值</a:t>
            </a:r>
            <a:r>
              <a:rPr lang="zh-CN" altLang="en-US" sz="1600" dirty="0"/>
              <a:t>（</a:t>
            </a:r>
            <a:r>
              <a:rPr lang="en-US" altLang="zh-CN" sz="1600" dirty="0"/>
              <a:t>timestamp</a:t>
            </a:r>
            <a:r>
              <a:rPr lang="zh-CN" altLang="en-US" sz="1600" dirty="0"/>
              <a:t>）</a:t>
            </a:r>
            <a:endParaRPr lang="en-US" altLang="zh-CN" sz="1500" dirty="0" smtClean="0">
              <a:latin typeface="+mn-ea"/>
            </a:endParaRPr>
          </a:p>
          <a:p>
            <a:pPr marL="914400" lvl="2" indent="0">
              <a:buNone/>
            </a:pPr>
            <a:endParaRPr lang="en-US" altLang="zh-CN" sz="1500" dirty="0" smtClean="0">
              <a:latin typeface="+mn-ea"/>
            </a:endParaRPr>
          </a:p>
          <a:p>
            <a:pPr lvl="1"/>
            <a:endParaRPr lang="en-US" altLang="zh-CN" sz="1500" dirty="0" smtClean="0">
              <a:latin typeface="+mn-ea"/>
            </a:endParaRPr>
          </a:p>
          <a:p>
            <a:pPr lvl="1"/>
            <a:endParaRPr lang="en-US" altLang="zh-CN" sz="1500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sz="1500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231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endParaRPr lang="en-US" altLang="zh-CN" sz="3200" b="1" dirty="0">
              <a:latin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Flume</a:t>
            </a:r>
            <a:r>
              <a:rPr lang="zh-CN" altLang="en-US" b="1" dirty="0" smtClean="0">
                <a:latin typeface="宋体" panose="02010600030101010101" pitchFamily="2" charset="-122"/>
              </a:rPr>
              <a:t>简介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Flume</a:t>
            </a:r>
            <a:r>
              <a:rPr lang="zh-CN" altLang="en-US" b="1" dirty="0" smtClean="0">
                <a:latin typeface="宋体" panose="02010600030101010101" pitchFamily="2" charset="-122"/>
              </a:rPr>
              <a:t>原理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Flume</a:t>
            </a:r>
            <a:r>
              <a:rPr lang="zh-CN" altLang="en-US" b="1" dirty="0" smtClean="0">
                <a:latin typeface="宋体" panose="02010600030101010101" pitchFamily="2" charset="-122"/>
              </a:rPr>
              <a:t>使用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105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5149552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800" b="1" dirty="0" smtClean="0">
                <a:latin typeface="+mn-ea"/>
              </a:rPr>
              <a:t>什么是</a:t>
            </a:r>
            <a:r>
              <a:rPr lang="en-US" altLang="zh-CN" sz="2800" b="1" dirty="0" smtClean="0">
                <a:latin typeface="+mn-ea"/>
              </a:rPr>
              <a:t>Flume</a:t>
            </a:r>
          </a:p>
          <a:p>
            <a:pPr lvl="1"/>
            <a:r>
              <a:rPr lang="en-US" altLang="zh-CN" sz="2000" dirty="0"/>
              <a:t>Flume</a:t>
            </a:r>
            <a:r>
              <a:rPr lang="zh-CN" altLang="en-US" sz="2000" dirty="0"/>
              <a:t>是一个分布式</a:t>
            </a:r>
            <a:r>
              <a:rPr lang="zh-CN" altLang="en-US" sz="2000" dirty="0" smtClean="0"/>
              <a:t>海量</a:t>
            </a:r>
            <a:r>
              <a:rPr lang="zh-CN" altLang="en-US" sz="2000" dirty="0"/>
              <a:t>日志</a:t>
            </a:r>
            <a:r>
              <a:rPr lang="zh-CN" altLang="en-US" sz="2000" dirty="0" smtClean="0"/>
              <a:t>采集</a:t>
            </a:r>
            <a:r>
              <a:rPr lang="zh-CN" altLang="en-US" sz="2000" dirty="0"/>
              <a:t>、聚合和</a:t>
            </a:r>
            <a:r>
              <a:rPr lang="zh-CN" altLang="en-US" sz="2000" dirty="0" smtClean="0"/>
              <a:t>传输系统</a:t>
            </a:r>
            <a:endParaRPr lang="en-US" altLang="zh-CN" sz="2000" dirty="0" smtClean="0"/>
          </a:p>
          <a:p>
            <a:pPr lvl="1"/>
            <a:r>
              <a:rPr lang="en-US" altLang="zh-CN" sz="2000" dirty="0"/>
              <a:t>F</a:t>
            </a:r>
            <a:r>
              <a:rPr lang="en-US" altLang="zh-CN" sz="2000" dirty="0" smtClean="0"/>
              <a:t>lume</a:t>
            </a:r>
            <a:r>
              <a:rPr lang="zh-CN" altLang="en-US" sz="2000" dirty="0"/>
              <a:t>是由</a:t>
            </a:r>
            <a:r>
              <a:rPr lang="en-US" altLang="zh-CN" sz="2000" dirty="0" err="1"/>
              <a:t>cloudera</a:t>
            </a:r>
            <a:r>
              <a:rPr lang="zh-CN" altLang="en-US" sz="2000" dirty="0"/>
              <a:t>软件公司产出的可分布式日志收集系统，后与</a:t>
            </a:r>
            <a:r>
              <a:rPr lang="en-US" altLang="zh-CN" sz="2000" dirty="0"/>
              <a:t>2009</a:t>
            </a:r>
            <a:r>
              <a:rPr lang="zh-CN" altLang="en-US" sz="2000" dirty="0"/>
              <a:t>年被捐赠了</a:t>
            </a:r>
            <a:r>
              <a:rPr lang="en-US" altLang="zh-CN" sz="2000" dirty="0"/>
              <a:t>apache</a:t>
            </a:r>
            <a:r>
              <a:rPr lang="zh-CN" altLang="en-US" sz="2000" dirty="0"/>
              <a:t>软件基金会，为</a:t>
            </a:r>
            <a:r>
              <a:rPr lang="en-US" altLang="zh-CN" sz="2000" dirty="0" err="1"/>
              <a:t>hadoop</a:t>
            </a:r>
            <a:r>
              <a:rPr lang="zh-CN" altLang="en-US" sz="2000" dirty="0"/>
              <a:t>相关组件之一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endParaRPr lang="en-US" altLang="zh-CN" sz="2000" dirty="0" smtClean="0"/>
          </a:p>
          <a:p>
            <a:r>
              <a:rPr lang="zh-CN" altLang="en-US" sz="2800" b="1" dirty="0" smtClean="0"/>
              <a:t>特点</a:t>
            </a:r>
            <a:endParaRPr lang="en-US" altLang="zh-CN" sz="2800" b="1" dirty="0" smtClean="0"/>
          </a:p>
          <a:p>
            <a:pPr lvl="1"/>
            <a:r>
              <a:rPr lang="zh-CN" altLang="en-US" sz="2400" dirty="0"/>
              <a:t>基于事件的海量数据采集 </a:t>
            </a:r>
            <a:endParaRPr lang="en-US" altLang="zh-CN" sz="2400" dirty="0"/>
          </a:p>
          <a:p>
            <a:pPr lvl="1"/>
            <a:r>
              <a:rPr lang="zh-CN" altLang="en-US" sz="2400" dirty="0" smtClean="0"/>
              <a:t>数据流</a:t>
            </a:r>
            <a:r>
              <a:rPr lang="zh-CN" altLang="en-US" sz="2400" dirty="0"/>
              <a:t>模型：</a:t>
            </a:r>
            <a:r>
              <a:rPr lang="en-US" altLang="zh-CN" sz="2400" dirty="0" smtClean="0"/>
              <a:t>Source-&gt;Channel-&gt;Sink </a:t>
            </a:r>
            <a:endParaRPr lang="en-US" altLang="zh-CN" sz="2400" dirty="0"/>
          </a:p>
          <a:p>
            <a:pPr lvl="1"/>
            <a:r>
              <a:rPr lang="zh-CN" altLang="en-US" sz="2400" dirty="0" smtClean="0"/>
              <a:t>事务</a:t>
            </a:r>
            <a:r>
              <a:rPr lang="zh-CN" altLang="en-US" sz="2400" dirty="0"/>
              <a:t>机制：支持重读重写，保证消息传递的可靠性 </a:t>
            </a:r>
            <a:endParaRPr lang="en-US" altLang="zh-CN" sz="2400" dirty="0"/>
          </a:p>
          <a:p>
            <a:pPr lvl="1"/>
            <a:r>
              <a:rPr lang="zh-CN" altLang="en-US" sz="2400" dirty="0" smtClean="0"/>
              <a:t>内置</a:t>
            </a:r>
            <a:r>
              <a:rPr lang="zh-CN" altLang="en-US" sz="2400" dirty="0"/>
              <a:t>丰富插件：轻松与各种外部系统集成 </a:t>
            </a:r>
            <a:endParaRPr lang="en-US" altLang="zh-CN" sz="2400" dirty="0"/>
          </a:p>
          <a:p>
            <a:pPr lvl="1"/>
            <a:r>
              <a:rPr lang="zh-CN" altLang="en-US" sz="2400" dirty="0" smtClean="0"/>
              <a:t>高</a:t>
            </a:r>
            <a:r>
              <a:rPr lang="zh-CN" altLang="en-US" sz="2400" dirty="0"/>
              <a:t>可用：</a:t>
            </a:r>
            <a:r>
              <a:rPr lang="en-US" altLang="zh-CN" sz="2400" dirty="0"/>
              <a:t>Agent</a:t>
            </a:r>
            <a:r>
              <a:rPr lang="zh-CN" altLang="en-US" sz="2400" dirty="0"/>
              <a:t>主备切换 </a:t>
            </a:r>
            <a:endParaRPr lang="en-US" altLang="zh-CN" sz="2400" dirty="0"/>
          </a:p>
          <a:p>
            <a:pPr lvl="1"/>
            <a:r>
              <a:rPr lang="en-US" altLang="zh-CN" sz="2400" dirty="0" smtClean="0"/>
              <a:t>Java</a:t>
            </a:r>
            <a:r>
              <a:rPr lang="zh-CN" altLang="en-US" sz="2400" dirty="0" smtClean="0"/>
              <a:t>实现：开源，优秀</a:t>
            </a:r>
            <a:r>
              <a:rPr lang="zh-CN" altLang="en-US" sz="2400" dirty="0"/>
              <a:t>的系统框架设计，模块分明，易于开发</a:t>
            </a:r>
            <a:endParaRPr lang="en-US" altLang="zh-CN" sz="2400" b="1" dirty="0" smtClean="0"/>
          </a:p>
          <a:p>
            <a:pPr marL="514350" indent="-457200"/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174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应用场景</a:t>
            </a: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648" y="2132856"/>
            <a:ext cx="5380952" cy="4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0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原理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基本概念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>
                <a:latin typeface="+mn-ea"/>
              </a:rPr>
              <a:t>Event</a:t>
            </a:r>
          </a:p>
          <a:p>
            <a:pPr lvl="1"/>
            <a:r>
              <a:rPr lang="zh-CN" altLang="en-US" sz="2200" dirty="0"/>
              <a:t>事件，最小数据传输单元，由</a:t>
            </a:r>
            <a:r>
              <a:rPr lang="en-US" altLang="zh-CN" sz="2200" dirty="0"/>
              <a:t>Header</a:t>
            </a:r>
            <a:r>
              <a:rPr lang="zh-CN" altLang="en-US" sz="2200" dirty="0"/>
              <a:t>和</a:t>
            </a:r>
            <a:r>
              <a:rPr lang="en-US" altLang="zh-CN" sz="2200" dirty="0"/>
              <a:t>Body</a:t>
            </a:r>
            <a:r>
              <a:rPr lang="zh-CN" altLang="en-US" sz="2200" dirty="0" smtClean="0"/>
              <a:t>组成</a:t>
            </a:r>
            <a:endParaRPr lang="en-US" altLang="zh-CN" sz="2200" dirty="0" smtClean="0"/>
          </a:p>
          <a:p>
            <a:pPr lvl="1"/>
            <a:endParaRPr lang="en-US" altLang="zh-CN" sz="2400" b="1" dirty="0">
              <a:latin typeface="+mn-ea"/>
            </a:endParaRPr>
          </a:p>
          <a:p>
            <a:pPr lvl="1"/>
            <a:endParaRPr lang="en-US" altLang="zh-CN" sz="2400" b="1" dirty="0" smtClean="0">
              <a:latin typeface="+mn-ea"/>
            </a:endParaRPr>
          </a:p>
          <a:p>
            <a:pPr lvl="1"/>
            <a:endParaRPr lang="en-US" altLang="zh-CN" sz="2400" b="1" dirty="0">
              <a:latin typeface="+mn-ea"/>
            </a:endParaRPr>
          </a:p>
          <a:p>
            <a:r>
              <a:rPr lang="en-US" altLang="zh-CN" b="1" dirty="0" smtClean="0">
                <a:latin typeface="+mn-ea"/>
              </a:rPr>
              <a:t>Agent</a:t>
            </a:r>
          </a:p>
          <a:p>
            <a:pPr lvl="1"/>
            <a:r>
              <a:rPr lang="zh-CN" altLang="en-US" sz="2200" dirty="0"/>
              <a:t>代理，</a:t>
            </a:r>
            <a:r>
              <a:rPr lang="en-US" altLang="zh-CN" sz="2200" dirty="0"/>
              <a:t>JVM</a:t>
            </a:r>
            <a:r>
              <a:rPr lang="zh-CN" altLang="en-US" sz="2200" dirty="0"/>
              <a:t>进程，最小运行</a:t>
            </a:r>
            <a:r>
              <a:rPr lang="zh-CN" altLang="en-US" sz="2200" dirty="0" smtClean="0"/>
              <a:t>单元</a:t>
            </a:r>
            <a:endParaRPr lang="en-US" altLang="zh-CN" sz="2200" dirty="0" smtClean="0"/>
          </a:p>
          <a:p>
            <a:pPr lvl="1"/>
            <a:r>
              <a:rPr lang="zh-CN" altLang="en-US" sz="2200" dirty="0" smtClean="0"/>
              <a:t>由</a:t>
            </a:r>
            <a:r>
              <a:rPr lang="en-US" altLang="zh-CN" sz="2200" dirty="0"/>
              <a:t>Source</a:t>
            </a:r>
            <a:r>
              <a:rPr lang="zh-CN" altLang="en-US" sz="2200" dirty="0"/>
              <a:t>、</a:t>
            </a:r>
            <a:r>
              <a:rPr lang="en-US" altLang="zh-CN" sz="2200" dirty="0"/>
              <a:t>Channel</a:t>
            </a:r>
            <a:r>
              <a:rPr lang="zh-CN" altLang="en-US" sz="2200" dirty="0"/>
              <a:t>、</a:t>
            </a:r>
            <a:r>
              <a:rPr lang="en-US" altLang="zh-CN" sz="2200" dirty="0"/>
              <a:t>Sink</a:t>
            </a:r>
            <a:r>
              <a:rPr lang="zh-CN" altLang="en-US" sz="2200" dirty="0"/>
              <a:t>三</a:t>
            </a:r>
            <a:r>
              <a:rPr lang="zh-CN" altLang="en-US" sz="2200" dirty="0" smtClean="0"/>
              <a:t>个</a:t>
            </a:r>
            <a:r>
              <a:rPr lang="zh-CN" altLang="en-US" sz="2200" dirty="0"/>
              <a:t>核心</a:t>
            </a:r>
            <a:r>
              <a:rPr lang="zh-CN" altLang="en-US" sz="2200" dirty="0" smtClean="0"/>
              <a:t>组件构成</a:t>
            </a:r>
            <a:endParaRPr lang="en-US" altLang="zh-CN" sz="2200" dirty="0" smtClean="0"/>
          </a:p>
          <a:p>
            <a:pPr lvl="1"/>
            <a:r>
              <a:rPr lang="zh-CN" altLang="en-US" sz="2200" dirty="0" smtClean="0"/>
              <a:t>负 </a:t>
            </a:r>
            <a:r>
              <a:rPr lang="zh-CN" altLang="en-US" sz="2200" dirty="0"/>
              <a:t>责将外部数据源产生的数据以</a:t>
            </a:r>
            <a:r>
              <a:rPr lang="en-US" altLang="zh-CN" sz="2200" dirty="0"/>
              <a:t>Event</a:t>
            </a:r>
            <a:r>
              <a:rPr lang="zh-CN" altLang="en-US" sz="2200" dirty="0"/>
              <a:t>的形式传输到目的地</a:t>
            </a:r>
            <a:endParaRPr lang="en-US" altLang="zh-CN" sz="2200" b="1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sz="2000" dirty="0" smtClean="0"/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564904"/>
            <a:ext cx="5097760" cy="106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3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原理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基本概念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196752"/>
            <a:ext cx="6931496" cy="541020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>
                <a:latin typeface="+mn-ea"/>
              </a:rPr>
              <a:t>Source</a:t>
            </a:r>
          </a:p>
          <a:p>
            <a:pPr lvl="1"/>
            <a:r>
              <a:rPr lang="zh-CN" altLang="en-US" sz="2200" dirty="0" smtClean="0"/>
              <a:t>对接</a:t>
            </a:r>
            <a:r>
              <a:rPr lang="zh-CN" altLang="en-US" sz="2200" dirty="0"/>
              <a:t>各种外部数据源，将采集到的数据封装成</a:t>
            </a:r>
            <a:r>
              <a:rPr lang="en-US" altLang="zh-CN" sz="2200" dirty="0"/>
              <a:t>Event</a:t>
            </a:r>
            <a:r>
              <a:rPr lang="zh-CN" altLang="en-US" sz="2200" dirty="0"/>
              <a:t>，然后写入</a:t>
            </a:r>
            <a:r>
              <a:rPr lang="en-US" altLang="zh-CN" sz="2200" dirty="0" smtClean="0"/>
              <a:t>Channel</a:t>
            </a:r>
          </a:p>
          <a:p>
            <a:pPr lvl="1"/>
            <a:r>
              <a:rPr lang="zh-CN" altLang="en-US" sz="2200" dirty="0"/>
              <a:t>一个</a:t>
            </a:r>
            <a:r>
              <a:rPr lang="en-US" altLang="zh-CN" sz="2200" dirty="0"/>
              <a:t>Source</a:t>
            </a:r>
            <a:r>
              <a:rPr lang="zh-CN" altLang="en-US" sz="2200" dirty="0"/>
              <a:t>可向多个</a:t>
            </a:r>
            <a:r>
              <a:rPr lang="en-US" altLang="zh-CN" sz="2200" dirty="0"/>
              <a:t>Channel</a:t>
            </a:r>
            <a:r>
              <a:rPr lang="zh-CN" altLang="en-US" sz="2200" dirty="0"/>
              <a:t>发送</a:t>
            </a:r>
            <a:r>
              <a:rPr lang="en-US" altLang="zh-CN" sz="2200" dirty="0" smtClean="0"/>
              <a:t>Event</a:t>
            </a:r>
          </a:p>
          <a:p>
            <a:pPr lvl="1"/>
            <a:r>
              <a:rPr lang="en-US" altLang="zh-CN" sz="2200" dirty="0"/>
              <a:t>Flume</a:t>
            </a:r>
            <a:r>
              <a:rPr lang="zh-CN" altLang="en-US" sz="2200" dirty="0"/>
              <a:t>内置类型丰富的</a:t>
            </a:r>
            <a:r>
              <a:rPr lang="en-US" altLang="zh-CN" sz="2200" dirty="0"/>
              <a:t>Source</a:t>
            </a:r>
            <a:r>
              <a:rPr lang="zh-CN" altLang="en-US" sz="2200" dirty="0" smtClean="0"/>
              <a:t>，包括</a:t>
            </a:r>
            <a:r>
              <a:rPr lang="en-US" altLang="zh-CN" sz="2200" dirty="0" err="1" smtClean="0"/>
              <a:t>avro</a:t>
            </a:r>
            <a:r>
              <a:rPr lang="zh-CN" altLang="en-US" sz="2200" dirty="0" smtClean="0"/>
              <a:t>、</a:t>
            </a:r>
            <a:r>
              <a:rPr lang="en-US" altLang="zh-CN" sz="2200" dirty="0"/>
              <a:t>exec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jms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spooldir</a:t>
            </a:r>
            <a:r>
              <a:rPr lang="zh-CN" altLang="en-US" sz="2200" dirty="0"/>
              <a:t>、</a:t>
            </a:r>
            <a:r>
              <a:rPr lang="en-US" altLang="zh-CN" sz="2200" dirty="0" err="1" smtClean="0"/>
              <a:t>netcat</a:t>
            </a:r>
            <a:r>
              <a:rPr lang="zh-CN" altLang="en-US" sz="2200" dirty="0" smtClean="0"/>
              <a:t>、</a:t>
            </a:r>
            <a:r>
              <a:rPr lang="en-US" altLang="zh-CN" sz="2200" dirty="0" smtClean="0"/>
              <a:t>sequence </a:t>
            </a:r>
            <a:r>
              <a:rPr lang="en-US" altLang="zh-CN" sz="2200" dirty="0"/>
              <a:t>generator</a:t>
            </a:r>
            <a:r>
              <a:rPr lang="zh-CN" altLang="en-US" sz="2200" dirty="0"/>
              <a:t>、</a:t>
            </a:r>
            <a:r>
              <a:rPr lang="en-US" altLang="zh-CN" sz="2200" dirty="0"/>
              <a:t>syslog</a:t>
            </a:r>
            <a:r>
              <a:rPr lang="zh-CN" altLang="en-US" sz="2200" dirty="0" smtClean="0"/>
              <a:t>、</a:t>
            </a:r>
            <a:r>
              <a:rPr lang="en-US" altLang="zh-CN" sz="2200" dirty="0" err="1" smtClean="0"/>
              <a:t>kafka</a:t>
            </a:r>
            <a:r>
              <a:rPr lang="zh-CN" altLang="en-US" sz="2200" dirty="0" smtClean="0"/>
              <a:t>、</a:t>
            </a:r>
            <a:r>
              <a:rPr lang="en-US" altLang="zh-CN" sz="2200" dirty="0" smtClean="0"/>
              <a:t>http</a:t>
            </a:r>
            <a:r>
              <a:rPr lang="zh-CN" altLang="en-US" sz="2200" dirty="0"/>
              <a:t>、</a:t>
            </a:r>
            <a:r>
              <a:rPr lang="en-US" altLang="zh-CN" sz="2200" dirty="0"/>
              <a:t>legacy</a:t>
            </a:r>
            <a:r>
              <a:rPr lang="zh-CN" altLang="en-US" sz="2200" dirty="0"/>
              <a:t>、自定义。</a:t>
            </a:r>
            <a:endParaRPr lang="en-US" altLang="zh-CN" sz="2200" dirty="0" smtClean="0"/>
          </a:p>
          <a:p>
            <a:pPr lvl="1"/>
            <a:endParaRPr lang="en-US" altLang="zh-CN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9010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原理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基本概念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196752"/>
            <a:ext cx="6931496" cy="541020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>
                <a:latin typeface="+mn-ea"/>
              </a:rPr>
              <a:t>Channel</a:t>
            </a:r>
          </a:p>
          <a:p>
            <a:pPr lvl="1"/>
            <a:r>
              <a:rPr lang="en-US" altLang="zh-CN" sz="2200" dirty="0"/>
              <a:t>Event</a:t>
            </a:r>
            <a:r>
              <a:rPr lang="zh-CN" altLang="en-US" sz="2200" dirty="0"/>
              <a:t>暂存容器，负责保存</a:t>
            </a:r>
            <a:r>
              <a:rPr lang="en-US" altLang="zh-CN" sz="2200" dirty="0"/>
              <a:t>Source</a:t>
            </a:r>
            <a:r>
              <a:rPr lang="zh-CN" altLang="en-US" sz="2200" dirty="0"/>
              <a:t>发送的</a:t>
            </a:r>
            <a:r>
              <a:rPr lang="en-US" altLang="zh-CN" sz="2200" dirty="0"/>
              <a:t>Event</a:t>
            </a:r>
            <a:r>
              <a:rPr lang="zh-CN" altLang="en-US" sz="2200" dirty="0"/>
              <a:t>，直至被</a:t>
            </a:r>
            <a:r>
              <a:rPr lang="en-US" altLang="zh-CN" sz="2200" dirty="0"/>
              <a:t>Sink</a:t>
            </a:r>
            <a:r>
              <a:rPr lang="zh-CN" altLang="en-US" sz="2200" dirty="0"/>
              <a:t>成功</a:t>
            </a:r>
            <a:r>
              <a:rPr lang="zh-CN" altLang="en-US" sz="2200" dirty="0" smtClean="0"/>
              <a:t>读取，</a:t>
            </a:r>
            <a:r>
              <a:rPr lang="zh-CN" altLang="en-US" sz="2200" dirty="0"/>
              <a:t>可以存放在</a:t>
            </a:r>
            <a:r>
              <a:rPr lang="en-US" altLang="zh-CN" sz="2200" dirty="0"/>
              <a:t>memory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jdbc</a:t>
            </a:r>
            <a:r>
              <a:rPr lang="zh-CN" altLang="en-US" sz="2200" dirty="0"/>
              <a:t>、</a:t>
            </a:r>
            <a:r>
              <a:rPr lang="en-US" altLang="zh-CN" sz="2200" dirty="0" smtClean="0"/>
              <a:t>file</a:t>
            </a:r>
            <a:r>
              <a:rPr lang="zh-CN" altLang="en-US" sz="2200" dirty="0" smtClean="0"/>
              <a:t>、</a:t>
            </a:r>
            <a:r>
              <a:rPr lang="en-US" altLang="zh-CN" sz="2200" dirty="0" err="1" smtClean="0"/>
              <a:t>kafka</a:t>
            </a:r>
            <a:r>
              <a:rPr lang="en-US" altLang="zh-CN" sz="2200" dirty="0" smtClean="0"/>
              <a:t> channel</a:t>
            </a:r>
            <a:r>
              <a:rPr lang="zh-CN" altLang="en-US" sz="2200" dirty="0" smtClean="0"/>
              <a:t>等</a:t>
            </a:r>
            <a:endParaRPr lang="en-US" altLang="zh-CN" sz="2200" dirty="0" smtClean="0"/>
          </a:p>
          <a:p>
            <a:pPr lvl="1"/>
            <a:r>
              <a:rPr lang="zh-CN" altLang="en-US" sz="2200" dirty="0"/>
              <a:t>为了平衡</a:t>
            </a:r>
            <a:r>
              <a:rPr lang="en-US" altLang="zh-CN" sz="2200" dirty="0"/>
              <a:t>Source</a:t>
            </a:r>
            <a:r>
              <a:rPr lang="zh-CN" altLang="en-US" sz="2200" dirty="0"/>
              <a:t>采集、</a:t>
            </a:r>
            <a:r>
              <a:rPr lang="en-US" altLang="zh-CN" sz="2200" dirty="0"/>
              <a:t>Sink</a:t>
            </a:r>
            <a:r>
              <a:rPr lang="zh-CN" altLang="en-US" sz="2200" dirty="0"/>
              <a:t>读取的速度，可视为</a:t>
            </a:r>
            <a:r>
              <a:rPr lang="en-US" altLang="zh-CN" sz="2200" dirty="0"/>
              <a:t>Flume</a:t>
            </a:r>
            <a:r>
              <a:rPr lang="zh-CN" altLang="en-US" sz="2200" dirty="0"/>
              <a:t>内部的消息</a:t>
            </a:r>
            <a:r>
              <a:rPr lang="zh-CN" altLang="en-US" sz="2200" dirty="0" smtClean="0"/>
              <a:t>队列</a:t>
            </a:r>
            <a:endParaRPr lang="en-US" altLang="zh-CN" sz="2200" dirty="0" smtClean="0"/>
          </a:p>
          <a:p>
            <a:pPr lvl="1"/>
            <a:r>
              <a:rPr lang="zh-CN" altLang="en-US" sz="2200" dirty="0"/>
              <a:t>线程安全并具有事务性，支持</a:t>
            </a:r>
            <a:r>
              <a:rPr lang="en-US" altLang="zh-CN" sz="2200" dirty="0"/>
              <a:t>Source</a:t>
            </a:r>
            <a:r>
              <a:rPr lang="zh-CN" altLang="en-US" sz="2200" dirty="0"/>
              <a:t>写失败重写和</a:t>
            </a:r>
            <a:r>
              <a:rPr lang="en-US" altLang="zh-CN" sz="2200" dirty="0"/>
              <a:t>Sink</a:t>
            </a:r>
            <a:r>
              <a:rPr lang="zh-CN" altLang="en-US" sz="2200" dirty="0"/>
              <a:t>读失败</a:t>
            </a:r>
            <a:r>
              <a:rPr lang="zh-CN" altLang="en-US" sz="2200" dirty="0" smtClean="0"/>
              <a:t>重读</a:t>
            </a:r>
            <a:endParaRPr lang="en-US" altLang="zh-CN" sz="2200" dirty="0" smtClean="0"/>
          </a:p>
        </p:txBody>
      </p:sp>
    </p:spTree>
    <p:extLst>
      <p:ext uri="{BB962C8B-B14F-4D97-AF65-F5344CB8AC3E}">
        <p14:creationId xmlns:p14="http://schemas.microsoft.com/office/powerpoint/2010/main" val="282475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原理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基本概念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196752"/>
            <a:ext cx="6931496" cy="541020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>
                <a:latin typeface="+mn-ea"/>
              </a:rPr>
              <a:t>Sink</a:t>
            </a:r>
            <a:endParaRPr lang="en-US" altLang="zh-CN" sz="2800" b="1" dirty="0">
              <a:latin typeface="+mn-ea"/>
            </a:endParaRPr>
          </a:p>
          <a:p>
            <a:pPr lvl="1"/>
            <a:r>
              <a:rPr lang="zh-CN" altLang="en-US" sz="2200" dirty="0"/>
              <a:t>负责从</a:t>
            </a:r>
            <a:r>
              <a:rPr lang="en-US" altLang="zh-CN" sz="2200" dirty="0"/>
              <a:t>Channel</a:t>
            </a:r>
            <a:r>
              <a:rPr lang="zh-CN" altLang="en-US" sz="2200" dirty="0"/>
              <a:t>读取</a:t>
            </a:r>
            <a:r>
              <a:rPr lang="en-US" altLang="zh-CN" sz="2200" dirty="0"/>
              <a:t>Event</a:t>
            </a:r>
            <a:r>
              <a:rPr lang="zh-CN" altLang="en-US" sz="2200" dirty="0"/>
              <a:t>，然后将其</a:t>
            </a:r>
            <a:r>
              <a:rPr lang="zh-CN" altLang="en-US" sz="2200" dirty="0" smtClean="0"/>
              <a:t>写入目的地，目的地既可以是外部</a:t>
            </a:r>
            <a:r>
              <a:rPr lang="zh-CN" altLang="en-US" sz="2200" dirty="0"/>
              <a:t>存储</a:t>
            </a:r>
            <a:r>
              <a:rPr lang="zh-CN" altLang="en-US" sz="2200" dirty="0" smtClean="0"/>
              <a:t>，也可以是下</a:t>
            </a:r>
            <a:r>
              <a:rPr lang="zh-CN" altLang="en-US" sz="2200" dirty="0"/>
              <a:t>一阶段的</a:t>
            </a:r>
            <a:r>
              <a:rPr lang="en-US" altLang="zh-CN" sz="2200" dirty="0" smtClean="0"/>
              <a:t>Agent</a:t>
            </a:r>
            <a:r>
              <a:rPr lang="zh-CN" altLang="en-US" sz="2200" dirty="0" smtClean="0"/>
              <a:t>。包括</a:t>
            </a:r>
            <a:r>
              <a:rPr lang="en-US" altLang="zh-CN" sz="2400" dirty="0" err="1"/>
              <a:t>hdfs</a:t>
            </a:r>
            <a:r>
              <a:rPr lang="zh-CN" altLang="en-US" sz="2400" dirty="0"/>
              <a:t>、</a:t>
            </a:r>
            <a:r>
              <a:rPr lang="en-US" altLang="zh-CN" sz="2400" dirty="0"/>
              <a:t>logger</a:t>
            </a:r>
            <a:r>
              <a:rPr lang="zh-CN" altLang="en-US" sz="2400" dirty="0"/>
              <a:t>、</a:t>
            </a:r>
            <a:r>
              <a:rPr lang="en-US" altLang="zh-CN" sz="2400" dirty="0" err="1" smtClean="0"/>
              <a:t>avro</a:t>
            </a:r>
            <a:r>
              <a:rPr lang="zh-CN" altLang="en-US" sz="2400" dirty="0" smtClean="0"/>
              <a:t>、</a:t>
            </a:r>
            <a:r>
              <a:rPr lang="en-US" altLang="zh-CN" sz="2400" dirty="0" err="1"/>
              <a:t>ipc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file</a:t>
            </a:r>
            <a:r>
              <a:rPr lang="zh-CN" altLang="en-US" sz="2400" dirty="0" smtClean="0"/>
              <a:t>、</a:t>
            </a:r>
            <a:r>
              <a:rPr lang="en-US" altLang="zh-CN" sz="2400" dirty="0"/>
              <a:t>null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hbase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Kafka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Sink</a:t>
            </a:r>
            <a:r>
              <a:rPr lang="zh-CN" altLang="en-US" sz="2400" dirty="0" smtClean="0"/>
              <a:t>自定义</a:t>
            </a:r>
            <a:r>
              <a:rPr lang="zh-CN" altLang="en-US" sz="2400" dirty="0"/>
              <a:t>。</a:t>
            </a:r>
            <a:endParaRPr lang="en-US" altLang="zh-CN" sz="2200" dirty="0" smtClean="0"/>
          </a:p>
          <a:p>
            <a:pPr lvl="1"/>
            <a:r>
              <a:rPr lang="zh-CN" altLang="en-US" sz="2200" dirty="0"/>
              <a:t>一个</a:t>
            </a:r>
            <a:r>
              <a:rPr lang="en-US" altLang="zh-CN" sz="2200" dirty="0"/>
              <a:t>Sink</a:t>
            </a:r>
            <a:r>
              <a:rPr lang="zh-CN" altLang="en-US" sz="2200" dirty="0"/>
              <a:t>只能从一个</a:t>
            </a:r>
            <a:r>
              <a:rPr lang="en-US" altLang="zh-CN" sz="2200" dirty="0"/>
              <a:t>Channel</a:t>
            </a:r>
            <a:r>
              <a:rPr lang="zh-CN" altLang="en-US" sz="2200" dirty="0"/>
              <a:t>中读取</a:t>
            </a:r>
            <a:r>
              <a:rPr lang="en-US" altLang="zh-CN" sz="2200" dirty="0"/>
              <a:t>Event </a:t>
            </a:r>
          </a:p>
          <a:p>
            <a:pPr lvl="1"/>
            <a:r>
              <a:rPr lang="en-US" altLang="zh-CN" sz="2200" dirty="0" smtClean="0"/>
              <a:t>Sink</a:t>
            </a:r>
            <a:r>
              <a:rPr lang="zh-CN" altLang="en-US" sz="2200" dirty="0"/>
              <a:t>成功读取</a:t>
            </a:r>
            <a:r>
              <a:rPr lang="en-US" altLang="zh-CN" sz="2200" dirty="0"/>
              <a:t>Event</a:t>
            </a:r>
            <a:r>
              <a:rPr lang="zh-CN" altLang="en-US" sz="2200" dirty="0"/>
              <a:t>后，向</a:t>
            </a:r>
            <a:r>
              <a:rPr lang="en-US" altLang="zh-CN" sz="2200" dirty="0"/>
              <a:t>Channel</a:t>
            </a:r>
            <a:r>
              <a:rPr lang="zh-CN" altLang="en-US" sz="2200" dirty="0"/>
              <a:t>提交事务，</a:t>
            </a:r>
            <a:r>
              <a:rPr lang="en-US" altLang="zh-CN" sz="2200" dirty="0"/>
              <a:t>Event</a:t>
            </a:r>
            <a:r>
              <a:rPr lang="zh-CN" altLang="en-US" sz="2200" dirty="0"/>
              <a:t>被删除，否则</a:t>
            </a:r>
            <a:r>
              <a:rPr lang="en-US" altLang="zh-CN" sz="2200" dirty="0"/>
              <a:t>Channel</a:t>
            </a:r>
            <a:r>
              <a:rPr lang="zh-CN" altLang="en-US" sz="2200" dirty="0"/>
              <a:t>会等待</a:t>
            </a:r>
            <a:r>
              <a:rPr lang="en-US" altLang="zh-CN" sz="2200" dirty="0"/>
              <a:t>Sink</a:t>
            </a:r>
            <a:r>
              <a:rPr lang="zh-CN" altLang="en-US" sz="2200" dirty="0"/>
              <a:t>重新读取</a:t>
            </a:r>
            <a:endParaRPr lang="en-US" altLang="zh-CN" sz="2200" dirty="0" smtClean="0"/>
          </a:p>
        </p:txBody>
      </p:sp>
    </p:spTree>
    <p:extLst>
      <p:ext uri="{BB962C8B-B14F-4D97-AF65-F5344CB8AC3E}">
        <p14:creationId xmlns:p14="http://schemas.microsoft.com/office/powerpoint/2010/main" val="143242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原理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基本概念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54102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/>
              <a:t>映射关系：</a:t>
            </a:r>
            <a:endParaRPr lang="en-US" altLang="zh-CN" sz="2800" b="1" dirty="0" smtClean="0"/>
          </a:p>
          <a:p>
            <a:pPr lvl="1"/>
            <a:r>
              <a:rPr lang="en-US" altLang="zh-CN" sz="2400" dirty="0" smtClean="0"/>
              <a:t>1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Source  </a:t>
            </a:r>
            <a:r>
              <a:rPr lang="en-US" altLang="zh-CN" sz="2400" dirty="0" smtClean="0">
                <a:sym typeface="Wingdings" panose="05000000000000000000" pitchFamily="2" charset="2"/>
              </a:rPr>
              <a:t>--&gt; </a:t>
            </a:r>
            <a:r>
              <a:rPr lang="zh-CN" altLang="en-US" sz="2400" dirty="0" smtClean="0"/>
              <a:t>多个</a:t>
            </a:r>
            <a:r>
              <a:rPr lang="en-US" altLang="zh-CN" sz="2400" dirty="0" smtClean="0"/>
              <a:t>Channel</a:t>
            </a:r>
          </a:p>
          <a:p>
            <a:pPr lvl="1"/>
            <a:r>
              <a:rPr lang="en-US" altLang="zh-CN" sz="2400" dirty="0" smtClean="0"/>
              <a:t>1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Channel  --&gt; </a:t>
            </a:r>
            <a:r>
              <a:rPr lang="zh-CN" altLang="en-US" sz="2400" dirty="0" smtClean="0"/>
              <a:t>多个</a:t>
            </a:r>
            <a:r>
              <a:rPr lang="en-US" altLang="zh-CN" sz="2400" dirty="0" smtClean="0"/>
              <a:t>Sink</a:t>
            </a:r>
          </a:p>
          <a:p>
            <a:pPr lvl="1"/>
            <a:r>
              <a:rPr lang="en-US" altLang="zh-CN" sz="2400" dirty="0" smtClean="0"/>
              <a:t>1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Sink  --&gt;  1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Channel</a:t>
            </a:r>
            <a:endParaRPr lang="zh-CN" altLang="en-US" sz="2200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859" y="3573016"/>
            <a:ext cx="6687185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9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原理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数据流</a:t>
            </a:r>
            <a:endParaRPr lang="zh-CN" altLang="en-US" sz="32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011" y="1844824"/>
            <a:ext cx="6057143" cy="21047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167" y="4221088"/>
            <a:ext cx="7318833" cy="161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原理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数据流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5410200"/>
          </a:xfrm>
        </p:spPr>
        <p:txBody>
          <a:bodyPr>
            <a:normAutofit/>
          </a:bodyPr>
          <a:lstStyle/>
          <a:p>
            <a:r>
              <a:rPr lang="zh-CN" altLang="en-US" sz="2200" dirty="0" smtClean="0">
                <a:latin typeface="+mn-ea"/>
              </a:rPr>
              <a:t>扇入流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261" y="2048138"/>
            <a:ext cx="6152381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2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原理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数据流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5410200"/>
          </a:xfrm>
        </p:spPr>
        <p:txBody>
          <a:bodyPr>
            <a:normAutofit/>
          </a:bodyPr>
          <a:lstStyle/>
          <a:p>
            <a:r>
              <a:rPr lang="zh-CN" altLang="en-US" sz="2200" dirty="0">
                <a:latin typeface="+mn-ea"/>
              </a:rPr>
              <a:t>扇出</a:t>
            </a:r>
            <a:r>
              <a:rPr lang="zh-CN" altLang="en-US" sz="2200" dirty="0" smtClean="0">
                <a:latin typeface="+mn-ea"/>
              </a:rPr>
              <a:t>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627" y="2132856"/>
            <a:ext cx="6553649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1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49530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安装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运行环境：</a:t>
            </a:r>
            <a:r>
              <a:rPr lang="en-US" altLang="zh-CN" sz="2400" dirty="0" smtClean="0">
                <a:latin typeface="+mn-ea"/>
              </a:rPr>
              <a:t>JDK1.7</a:t>
            </a:r>
            <a:r>
              <a:rPr lang="zh-CN" altLang="en-US" sz="2400" dirty="0" smtClean="0">
                <a:latin typeface="+mn-ea"/>
              </a:rPr>
              <a:t>及以上版本</a:t>
            </a:r>
            <a:endParaRPr lang="en-US" altLang="zh-CN" sz="2400" dirty="0" smtClean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下载安装</a:t>
            </a:r>
            <a:r>
              <a:rPr lang="en-US" altLang="zh-CN" sz="2400" dirty="0" smtClean="0">
                <a:latin typeface="+mn-ea"/>
              </a:rPr>
              <a:t>Flume</a:t>
            </a:r>
            <a:r>
              <a:rPr lang="zh-CN" altLang="en-US" sz="2400" dirty="0" smtClean="0">
                <a:latin typeface="+mn-ea"/>
              </a:rPr>
              <a:t>，</a:t>
            </a:r>
            <a:r>
              <a:rPr lang="zh-CN" altLang="en-US" sz="2400" dirty="0">
                <a:latin typeface="+mn-ea"/>
              </a:rPr>
              <a:t>修改配置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 smtClean="0">
                <a:latin typeface="+mn-ea"/>
              </a:rPr>
              <a:t>验证</a:t>
            </a:r>
            <a:r>
              <a:rPr lang="en-US" altLang="zh-CN" sz="2400" dirty="0" smtClean="0">
                <a:latin typeface="+mn-ea"/>
              </a:rPr>
              <a:t>Flume</a:t>
            </a:r>
            <a:endParaRPr lang="en-US" altLang="zh-CN" sz="2400" dirty="0">
              <a:latin typeface="+mn-ea"/>
            </a:endParaRPr>
          </a:p>
          <a:p>
            <a:pPr lvl="2"/>
            <a:r>
              <a:rPr lang="zh-CN" altLang="en-US" sz="2000" dirty="0" smtClean="0">
                <a:latin typeface="+mn-ea"/>
              </a:rPr>
              <a:t>在</a:t>
            </a:r>
            <a:r>
              <a:rPr lang="en-US" altLang="zh-CN" sz="2000" dirty="0">
                <a:latin typeface="+mn-ea"/>
              </a:rPr>
              <a:t>Flume</a:t>
            </a:r>
            <a:r>
              <a:rPr lang="zh-CN" altLang="en-US" sz="2000" dirty="0">
                <a:latin typeface="+mn-ea"/>
              </a:rPr>
              <a:t>安装目录下，运行命令</a:t>
            </a:r>
            <a:r>
              <a:rPr lang="en-US" altLang="zh-CN" sz="2000" dirty="0">
                <a:latin typeface="+mn-ea"/>
              </a:rPr>
              <a:t>./bin/flume-ng version</a:t>
            </a:r>
            <a:r>
              <a:rPr lang="zh-CN" altLang="en-US" sz="2000" dirty="0">
                <a:latin typeface="+mn-ea"/>
              </a:rPr>
              <a:t>，查看</a:t>
            </a:r>
            <a:r>
              <a:rPr lang="en-US" altLang="zh-CN" sz="2000" dirty="0">
                <a:latin typeface="+mn-ea"/>
              </a:rPr>
              <a:t>Flume</a:t>
            </a:r>
            <a:r>
              <a:rPr lang="zh-CN" altLang="en-US" sz="2000" dirty="0">
                <a:latin typeface="+mn-ea"/>
              </a:rPr>
              <a:t>版本信息</a:t>
            </a:r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 smtClean="0"/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967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791200"/>
          </a:xfrm>
        </p:spPr>
        <p:txBody>
          <a:bodyPr>
            <a:normAutofit lnSpcReduction="10000"/>
          </a:bodyPr>
          <a:lstStyle/>
          <a:p>
            <a:r>
              <a:rPr lang="en-US" altLang="zh-CN" sz="2800" b="1" dirty="0" smtClean="0">
                <a:latin typeface="+mn-ea"/>
              </a:rPr>
              <a:t>Agent</a:t>
            </a:r>
            <a:r>
              <a:rPr lang="zh-CN" altLang="en-US" sz="2800" b="1" dirty="0" smtClean="0">
                <a:latin typeface="+mn-ea"/>
              </a:rPr>
              <a:t>配置示例</a:t>
            </a:r>
            <a:endParaRPr lang="en-US" altLang="zh-CN" sz="2800" b="1" dirty="0" smtClean="0">
              <a:latin typeface="+mn-ea"/>
            </a:endParaRPr>
          </a:p>
          <a:p>
            <a:endParaRPr lang="en-US" altLang="zh-CN" sz="2800" b="1" dirty="0">
              <a:latin typeface="+mn-ea"/>
            </a:endParaRPr>
          </a:p>
          <a:p>
            <a:endParaRPr lang="en-US" altLang="zh-CN" sz="2800" b="1" dirty="0" smtClean="0">
              <a:latin typeface="+mn-ea"/>
            </a:endParaRPr>
          </a:p>
          <a:p>
            <a:endParaRPr lang="en-US" altLang="zh-CN" sz="2800" b="1" dirty="0">
              <a:latin typeface="+mn-ea"/>
            </a:endParaRPr>
          </a:p>
          <a:p>
            <a:endParaRPr lang="en-US" altLang="zh-CN" sz="2800" b="1" dirty="0" smtClean="0">
              <a:latin typeface="+mn-ea"/>
            </a:endParaRPr>
          </a:p>
          <a:p>
            <a:endParaRPr lang="en-US" altLang="zh-CN" sz="2800" b="1" dirty="0">
              <a:latin typeface="+mn-ea"/>
            </a:endParaRPr>
          </a:p>
          <a:p>
            <a:endParaRPr lang="en-US" altLang="zh-CN" sz="2800" b="1" dirty="0" smtClean="0">
              <a:latin typeface="+mn-ea"/>
            </a:endParaRPr>
          </a:p>
          <a:p>
            <a:endParaRPr lang="en-US" altLang="zh-CN" sz="2800" b="1" dirty="0">
              <a:latin typeface="+mn-ea"/>
            </a:endParaRPr>
          </a:p>
          <a:p>
            <a:endParaRPr lang="en-US" altLang="zh-CN" sz="2800" b="1" dirty="0" smtClean="0">
              <a:latin typeface="+mn-ea"/>
            </a:endParaRPr>
          </a:p>
          <a:p>
            <a:endParaRPr lang="en-US" altLang="zh-CN" sz="2800" b="1" dirty="0" smtClean="0">
              <a:latin typeface="+mn-ea"/>
            </a:endParaRPr>
          </a:p>
          <a:p>
            <a:r>
              <a:rPr lang="zh-CN" altLang="en-US" sz="2400" b="1" dirty="0" smtClean="0">
                <a:latin typeface="+mn-ea"/>
              </a:rPr>
              <a:t>针对不同</a:t>
            </a:r>
            <a:r>
              <a:rPr lang="en-US" altLang="zh-CN" sz="2400" b="1" dirty="0" smtClean="0">
                <a:latin typeface="+mn-ea"/>
              </a:rPr>
              <a:t>source</a:t>
            </a:r>
            <a:r>
              <a:rPr lang="zh-CN" altLang="en-US" sz="2400" b="1" dirty="0" smtClean="0">
                <a:latin typeface="+mn-ea"/>
              </a:rPr>
              <a:t>、</a:t>
            </a:r>
            <a:r>
              <a:rPr lang="en-US" altLang="zh-CN" sz="2400" b="1" dirty="0" smtClean="0">
                <a:latin typeface="+mn-ea"/>
              </a:rPr>
              <a:t>channel</a:t>
            </a:r>
            <a:r>
              <a:rPr lang="zh-CN" altLang="en-US" sz="2400" b="1" dirty="0" smtClean="0">
                <a:latin typeface="+mn-ea"/>
              </a:rPr>
              <a:t>、</a:t>
            </a:r>
            <a:r>
              <a:rPr lang="en-US" altLang="zh-CN" sz="2400" b="1" dirty="0" smtClean="0">
                <a:latin typeface="+mn-ea"/>
              </a:rPr>
              <a:t>sink</a:t>
            </a:r>
            <a:r>
              <a:rPr lang="zh-CN" altLang="en-US" sz="2400" b="1" dirty="0" smtClean="0">
                <a:latin typeface="+mn-ea"/>
              </a:rPr>
              <a:t>类型的配置自行搜索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b="1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sz="2000" dirty="0" smtClean="0"/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1628800"/>
            <a:ext cx="6234636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Flume</a:t>
            </a:r>
            <a:r>
              <a:rPr lang="zh-CN" altLang="en-US" sz="3200" b="1" dirty="0">
                <a:latin typeface="宋体" panose="02010600030101010101" pitchFamily="2" charset="-122"/>
              </a:rPr>
              <a:t>使用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79120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>
                <a:latin typeface="+mn-ea"/>
              </a:rPr>
              <a:t>Flume</a:t>
            </a:r>
            <a:r>
              <a:rPr lang="zh-CN" altLang="en-US" sz="2800" b="1" dirty="0" smtClean="0">
                <a:latin typeface="+mn-ea"/>
              </a:rPr>
              <a:t>运行步骤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dirty="0" smtClean="0"/>
              <a:t>编写</a:t>
            </a:r>
            <a:r>
              <a:rPr lang="en-US" altLang="zh-CN" sz="2400" dirty="0"/>
              <a:t>Agent</a:t>
            </a:r>
            <a:r>
              <a:rPr lang="zh-CN" altLang="en-US" sz="2400" dirty="0"/>
              <a:t>配置文件（*</a:t>
            </a:r>
            <a:r>
              <a:rPr lang="en-US" altLang="zh-CN" sz="2400" dirty="0"/>
              <a:t>.</a:t>
            </a:r>
            <a:r>
              <a:rPr lang="en-US" altLang="zh-CN" sz="2400" dirty="0" err="1"/>
              <a:t>conf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运行</a:t>
            </a:r>
            <a:r>
              <a:rPr lang="en-US" altLang="zh-CN" sz="2400" dirty="0" smtClean="0"/>
              <a:t>Agent</a:t>
            </a:r>
            <a:r>
              <a:rPr lang="zh-CN" altLang="en-US" sz="2400" dirty="0" smtClean="0"/>
              <a:t>，命令如下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lvl="1"/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# bin/flume-ng agent --</a:t>
            </a:r>
            <a:r>
              <a:rPr lang="en-US" altLang="zh-CN" sz="2000" dirty="0" err="1"/>
              <a:t>conf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conf</a:t>
            </a:r>
            <a:r>
              <a:rPr lang="en-US" altLang="zh-CN" sz="2000" dirty="0"/>
              <a:t> --</a:t>
            </a:r>
            <a:r>
              <a:rPr lang="en-US" altLang="zh-CN" sz="2000" dirty="0" err="1"/>
              <a:t>conf</a:t>
            </a:r>
            <a:r>
              <a:rPr lang="en-US" altLang="zh-CN" sz="2000" dirty="0"/>
              <a:t>-file </a:t>
            </a:r>
            <a:r>
              <a:rPr lang="en-US" altLang="zh-CN" sz="2000" dirty="0" err="1"/>
              <a:t>example.conf</a:t>
            </a:r>
            <a:r>
              <a:rPr lang="en-US" altLang="zh-CN" sz="2000" dirty="0"/>
              <a:t> --name a1 -D </a:t>
            </a:r>
            <a:r>
              <a:rPr lang="en-US" altLang="zh-CN" sz="2000" dirty="0" err="1"/>
              <a:t>flume.root.logger</a:t>
            </a:r>
            <a:r>
              <a:rPr lang="en-US" altLang="zh-CN" sz="2000" dirty="0"/>
              <a:t> = INFO, </a:t>
            </a:r>
            <a:r>
              <a:rPr lang="en-US" altLang="zh-CN" sz="2000" dirty="0" smtClean="0"/>
              <a:t>console</a:t>
            </a:r>
          </a:p>
          <a:p>
            <a:pPr marL="457200" lvl="1" indent="0">
              <a:buNone/>
            </a:pPr>
            <a:endParaRPr lang="en-US" altLang="zh-CN" sz="1200" b="1" dirty="0" smtClean="0">
              <a:latin typeface="+mn-ea"/>
            </a:endParaRPr>
          </a:p>
          <a:p>
            <a:pPr lvl="2"/>
            <a:r>
              <a:rPr lang="en-US" altLang="zh-CN" sz="2000" dirty="0" smtClean="0"/>
              <a:t>--</a:t>
            </a:r>
            <a:r>
              <a:rPr lang="en-US" altLang="zh-CN" sz="2000" dirty="0" err="1" smtClean="0"/>
              <a:t>conf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Agent</a:t>
            </a:r>
            <a:r>
              <a:rPr lang="zh-CN" altLang="en-US" sz="2000" dirty="0" smtClean="0"/>
              <a:t>配置文件目录 </a:t>
            </a:r>
            <a:endParaRPr lang="en-US" altLang="zh-CN" sz="2000" dirty="0" smtClean="0"/>
          </a:p>
          <a:p>
            <a:pPr lvl="2"/>
            <a:r>
              <a:rPr lang="en-US" altLang="zh-CN" sz="2000" dirty="0" smtClean="0"/>
              <a:t>--</a:t>
            </a:r>
            <a:r>
              <a:rPr lang="en-US" altLang="zh-CN" sz="2000" dirty="0" err="1"/>
              <a:t>conf</a:t>
            </a:r>
            <a:r>
              <a:rPr lang="en-US" altLang="zh-CN" sz="2000" dirty="0"/>
              <a:t>-file </a:t>
            </a:r>
            <a:r>
              <a:rPr lang="zh-CN" altLang="en-US" sz="2000" dirty="0" smtClean="0"/>
              <a:t>：</a:t>
            </a:r>
            <a:r>
              <a:rPr lang="en-US" altLang="zh-CN" sz="2000" dirty="0"/>
              <a:t>Agent</a:t>
            </a:r>
            <a:r>
              <a:rPr lang="zh-CN" altLang="en-US" sz="2000" dirty="0"/>
              <a:t>配置文件名（*</a:t>
            </a:r>
            <a:r>
              <a:rPr lang="en-US" altLang="zh-CN" sz="2000" dirty="0"/>
              <a:t>.</a:t>
            </a:r>
            <a:r>
              <a:rPr lang="en-US" altLang="zh-CN" sz="2000" dirty="0" err="1"/>
              <a:t>conf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2"/>
            <a:r>
              <a:rPr lang="en-US" altLang="zh-CN" sz="2000" dirty="0"/>
              <a:t>--</a:t>
            </a:r>
            <a:r>
              <a:rPr lang="en-US" altLang="zh-CN" sz="2000" dirty="0" smtClean="0"/>
              <a:t>name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Agent</a:t>
            </a:r>
            <a:r>
              <a:rPr lang="zh-CN" altLang="en-US" sz="2000" dirty="0"/>
              <a:t>名称 </a:t>
            </a:r>
            <a:endParaRPr lang="en-US" altLang="zh-CN" sz="2000" dirty="0" smtClean="0"/>
          </a:p>
          <a:p>
            <a:pPr lvl="2"/>
            <a:r>
              <a:rPr lang="en-US" altLang="zh-CN" sz="2000" dirty="0"/>
              <a:t>-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JVM</a:t>
            </a:r>
            <a:r>
              <a:rPr lang="zh-CN" altLang="en-US" sz="2000" dirty="0"/>
              <a:t>参数</a:t>
            </a:r>
            <a:endParaRPr lang="en-US" altLang="zh-CN" sz="2000" dirty="0" smtClean="0"/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537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r>
              <a:rPr lang="zh-CN" altLang="en-US" sz="3200" b="1" dirty="0" smtClean="0">
                <a:latin typeface="宋体" charset="-122"/>
              </a:rPr>
              <a:t>批数据集成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批数据集成简介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采集、迁移工具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ETL</a:t>
            </a:r>
            <a:r>
              <a:rPr lang="zh-CN" altLang="en-US" sz="2800" b="1" dirty="0">
                <a:solidFill>
                  <a:srgbClr val="FF0000"/>
                </a:solidFill>
              </a:rPr>
              <a:t>工具及应用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数据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存储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447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2"/>
          <p:cNvSpPr txBox="1">
            <a:spLocks noGrp="1"/>
          </p:cNvSpPr>
          <p:nvPr>
            <p:ph type="title"/>
          </p:nvPr>
        </p:nvSpPr>
        <p:spPr>
          <a:xfrm>
            <a:off x="1785938" y="274638"/>
            <a:ext cx="7188447" cy="114300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 b="0">
                <a:latin typeface="SimSun"/>
                <a:ea typeface="SimSun"/>
                <a:cs typeface="SimSun"/>
                <a:sym typeface="SimSun"/>
              </a:defRPr>
            </a:pPr>
            <a:r>
              <a:rPr lang="en-US" altLang="zh-CN" dirty="0" smtClean="0">
                <a:sym typeface="Helvetica"/>
              </a:rPr>
              <a:t>ETL</a:t>
            </a:r>
            <a:endParaRPr dirty="0">
              <a:sym typeface="Helvetica"/>
            </a:endParaRPr>
          </a:p>
        </p:txBody>
      </p:sp>
      <p:sp>
        <p:nvSpPr>
          <p:cNvPr id="97" name="Rectangle 3"/>
          <p:cNvSpPr txBox="1">
            <a:spLocks noGrp="1"/>
          </p:cNvSpPr>
          <p:nvPr>
            <p:ph type="body" idx="1"/>
          </p:nvPr>
        </p:nvSpPr>
        <p:spPr>
          <a:xfrm>
            <a:off x="1785938" y="1600200"/>
            <a:ext cx="7188447" cy="468630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b="1" dirty="0"/>
              <a:t>ETL </a:t>
            </a:r>
            <a:r>
              <a:rPr b="1" dirty="0" err="1"/>
              <a:t>简介</a:t>
            </a:r>
            <a:endParaRPr b="1" dirty="0"/>
          </a:p>
          <a:p>
            <a:pPr>
              <a:spcBef>
                <a:spcPts val="600"/>
              </a:spcBef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b="1" dirty="0"/>
              <a:t>ETL </a:t>
            </a:r>
            <a:r>
              <a:rPr b="1" dirty="0" err="1"/>
              <a:t>应用</a:t>
            </a:r>
            <a:endParaRPr b="1" dirty="0"/>
          </a:p>
          <a:p>
            <a:pPr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b="1" dirty="0"/>
              <a:t>ETL </a:t>
            </a:r>
            <a:r>
              <a:rPr b="1" dirty="0" err="1"/>
              <a:t>过程</a:t>
            </a:r>
            <a:endParaRPr b="1" dirty="0"/>
          </a:p>
          <a:p>
            <a:pPr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b="1" dirty="0"/>
              <a:t>ETL </a:t>
            </a:r>
            <a:r>
              <a:rPr b="1" dirty="0" err="1"/>
              <a:t>工具</a:t>
            </a:r>
            <a:endParaRPr b="1" dirty="0"/>
          </a:p>
          <a:p>
            <a:pPr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b="1" dirty="0"/>
              <a:t>ETL </a:t>
            </a:r>
            <a:r>
              <a:rPr b="1" dirty="0" err="1"/>
              <a:t>注意事项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5373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2"/>
          <p:cNvSpPr txBox="1">
            <a:spLocks noGrp="1"/>
          </p:cNvSpPr>
          <p:nvPr>
            <p:ph type="title"/>
          </p:nvPr>
        </p:nvSpPr>
        <p:spPr>
          <a:xfrm>
            <a:off x="1785938" y="274638"/>
            <a:ext cx="7188447" cy="114300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dirty="0"/>
              <a:t>ETL </a:t>
            </a:r>
            <a:r>
              <a:rPr dirty="0" err="1"/>
              <a:t>简介</a:t>
            </a:r>
            <a:endParaRPr dirty="0"/>
          </a:p>
        </p:txBody>
      </p:sp>
      <p:sp>
        <p:nvSpPr>
          <p:cNvPr id="100" name="Rectangle 3"/>
          <p:cNvSpPr txBox="1">
            <a:spLocks noGrp="1"/>
          </p:cNvSpPr>
          <p:nvPr>
            <p:ph type="body" idx="1"/>
          </p:nvPr>
        </p:nvSpPr>
        <p:spPr>
          <a:xfrm>
            <a:off x="1785938" y="1196752"/>
            <a:ext cx="7188447" cy="5089748"/>
          </a:xfrm>
          <a:prstGeom prst="rect">
            <a:avLst/>
          </a:prstGeom>
        </p:spPr>
        <p:txBody>
          <a:bodyPr/>
          <a:lstStyle/>
          <a:p>
            <a:pPr marL="236600" indent="-236600" defTabSz="630936">
              <a:spcBef>
                <a:spcPts val="400"/>
              </a:spcBef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sz="2800" b="1" dirty="0" err="1"/>
              <a:t>全称</a:t>
            </a:r>
            <a:endParaRPr sz="2800" b="1" dirty="0">
              <a:solidFill>
                <a:srgbClr val="FF2600"/>
              </a:solidFill>
            </a:endParaRPr>
          </a:p>
          <a:p>
            <a:pPr marL="552069" lvl="1" indent="-236600" defTabSz="630936">
              <a:spcBef>
                <a:spcPts val="400"/>
              </a:spcBef>
              <a:buChar char="•"/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smtClean="0">
                <a:solidFill>
                  <a:srgbClr val="FF2600"/>
                </a:solidFill>
              </a:rPr>
              <a:t>E</a:t>
            </a:r>
            <a:r>
              <a:rPr dirty="0" smtClean="0"/>
              <a:t>xtract-</a:t>
            </a:r>
            <a:r>
              <a:rPr dirty="0" smtClean="0">
                <a:solidFill>
                  <a:srgbClr val="FF2600"/>
                </a:solidFill>
              </a:rPr>
              <a:t>T</a:t>
            </a:r>
            <a:r>
              <a:rPr dirty="0" smtClean="0"/>
              <a:t>ransform-</a:t>
            </a:r>
            <a:r>
              <a:rPr dirty="0" smtClean="0">
                <a:solidFill>
                  <a:srgbClr val="FF2600"/>
                </a:solidFill>
              </a:rPr>
              <a:t>L</a:t>
            </a:r>
            <a:r>
              <a:rPr dirty="0" smtClean="0"/>
              <a:t>oad</a:t>
            </a:r>
            <a:endParaRPr lang="en-US" dirty="0" smtClean="0"/>
          </a:p>
          <a:p>
            <a:pPr marL="552069" lvl="1" indent="-236600" defTabSz="630936">
              <a:spcBef>
                <a:spcPts val="400"/>
              </a:spcBef>
              <a:buChar char="•"/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dirty="0"/>
          </a:p>
          <a:p>
            <a:pPr marL="236600" indent="-236600" defTabSz="630936">
              <a:spcBef>
                <a:spcPts val="400"/>
              </a:spcBef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sz="2800" b="1" dirty="0" err="1" smtClean="0"/>
              <a:t>定义</a:t>
            </a:r>
            <a:endParaRPr sz="2800" b="1" dirty="0"/>
          </a:p>
          <a:p>
            <a:pPr marL="552069" lvl="1" indent="-236600" defTabSz="630936">
              <a:spcBef>
                <a:spcPts val="400"/>
              </a:spcBef>
              <a:buChar char="•"/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用来描述数据从</a:t>
            </a:r>
            <a:r>
              <a:rPr dirty="0" err="1">
                <a:solidFill>
                  <a:srgbClr val="FF2600"/>
                </a:solidFill>
              </a:rPr>
              <a:t>来源端</a:t>
            </a:r>
            <a:r>
              <a:rPr dirty="0" err="1"/>
              <a:t>，经过</a:t>
            </a:r>
            <a:r>
              <a:rPr dirty="0" err="1">
                <a:solidFill>
                  <a:srgbClr val="FF2600"/>
                </a:solidFill>
              </a:rPr>
              <a:t>萃取</a:t>
            </a:r>
            <a:r>
              <a:rPr dirty="0" err="1"/>
              <a:t>、</a:t>
            </a:r>
            <a:r>
              <a:rPr dirty="0" err="1">
                <a:solidFill>
                  <a:srgbClr val="FF2600"/>
                </a:solidFill>
              </a:rPr>
              <a:t>转换</a:t>
            </a:r>
            <a:r>
              <a:rPr dirty="0" err="1"/>
              <a:t>、</a:t>
            </a:r>
            <a:r>
              <a:rPr dirty="0" err="1">
                <a:solidFill>
                  <a:srgbClr val="FF2600"/>
                </a:solidFill>
              </a:rPr>
              <a:t>加载</a:t>
            </a:r>
            <a:r>
              <a:rPr dirty="0" err="1"/>
              <a:t>，至</a:t>
            </a:r>
            <a:r>
              <a:rPr dirty="0" err="1">
                <a:solidFill>
                  <a:srgbClr val="FF2600"/>
                </a:solidFill>
              </a:rPr>
              <a:t>目的端</a:t>
            </a:r>
            <a:r>
              <a:rPr dirty="0" err="1"/>
              <a:t>的过程</a:t>
            </a:r>
            <a:r>
              <a:rPr dirty="0"/>
              <a:t>。</a:t>
            </a:r>
          </a:p>
          <a:p>
            <a:pPr marL="552069" lvl="1" indent="-236600" defTabSz="630936">
              <a:spcBef>
                <a:spcPts val="400"/>
              </a:spcBef>
              <a:buChar char="•"/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 smtClean="0"/>
              <a:t>将数据从</a:t>
            </a:r>
            <a:r>
              <a:rPr dirty="0" err="1" smtClean="0">
                <a:solidFill>
                  <a:srgbClr val="FF2600"/>
                </a:solidFill>
              </a:rPr>
              <a:t>孤立的数据源</a:t>
            </a:r>
            <a:r>
              <a:rPr dirty="0" err="1" smtClean="0"/>
              <a:t>中</a:t>
            </a:r>
            <a:r>
              <a:rPr dirty="0" err="1" smtClean="0">
                <a:solidFill>
                  <a:srgbClr val="FF2600"/>
                </a:solidFill>
              </a:rPr>
              <a:t>采集</a:t>
            </a:r>
            <a:r>
              <a:rPr dirty="0" err="1" smtClean="0"/>
              <a:t>出来</a:t>
            </a:r>
            <a:r>
              <a:rPr dirty="0" err="1"/>
              <a:t>，</a:t>
            </a:r>
            <a:r>
              <a:rPr dirty="0" err="1">
                <a:solidFill>
                  <a:srgbClr val="FF2600"/>
                </a:solidFill>
              </a:rPr>
              <a:t>汇集</a:t>
            </a:r>
            <a:r>
              <a:rPr dirty="0" err="1"/>
              <a:t>到可被计算平台</a:t>
            </a:r>
            <a:r>
              <a:rPr dirty="0" err="1">
                <a:solidFill>
                  <a:srgbClr val="FF2600"/>
                </a:solidFill>
              </a:rPr>
              <a:t>高效访问的目的地</a:t>
            </a:r>
            <a:r>
              <a:rPr dirty="0" smtClean="0"/>
              <a:t>。</a:t>
            </a:r>
            <a:endParaRPr lang="en-US" dirty="0" smtClean="0"/>
          </a:p>
          <a:p>
            <a:pPr marL="552069" lvl="1" indent="-236600" defTabSz="630936">
              <a:spcBef>
                <a:spcPts val="400"/>
              </a:spcBef>
              <a:buChar char="•"/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dirty="0"/>
          </a:p>
          <a:p>
            <a:pPr marL="236600" indent="-236600" defTabSz="630936">
              <a:spcBef>
                <a:spcPts val="400"/>
              </a:spcBef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sz="2800" b="1" dirty="0" err="1"/>
              <a:t>其他</a:t>
            </a:r>
            <a:endParaRPr sz="2800" b="1" dirty="0"/>
          </a:p>
          <a:p>
            <a:pPr marL="552069" lvl="1" indent="-236600" defTabSz="630936">
              <a:spcBef>
                <a:spcPts val="400"/>
              </a:spcBef>
              <a:buChar char="•"/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常用在</a:t>
            </a:r>
            <a:r>
              <a:rPr dirty="0" err="1">
                <a:solidFill>
                  <a:srgbClr val="FF2600"/>
                </a:solidFill>
              </a:rPr>
              <a:t>数据仓库</a:t>
            </a:r>
            <a:r>
              <a:rPr dirty="0" err="1"/>
              <a:t>，但不限于数仓</a:t>
            </a:r>
            <a:r>
              <a:rPr dirty="0"/>
              <a:t>。</a:t>
            </a:r>
          </a:p>
          <a:p>
            <a:pPr marL="552069" lvl="1" indent="-236600" defTabSz="630936">
              <a:spcBef>
                <a:spcPts val="500"/>
              </a:spcBef>
              <a:buChar char="•"/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整个流程可用</a:t>
            </a:r>
            <a:r>
              <a:rPr dirty="0" err="1">
                <a:solidFill>
                  <a:srgbClr val="FF2600"/>
                </a:solidFill>
              </a:rPr>
              <a:t>任何语言</a:t>
            </a:r>
            <a:r>
              <a:rPr dirty="0" err="1"/>
              <a:t>开发完成</a:t>
            </a:r>
            <a:r>
              <a:rPr dirty="0"/>
              <a:t>。</a:t>
            </a:r>
          </a:p>
          <a:p>
            <a:pPr marL="552069" lvl="1" indent="-236600" defTabSz="630936">
              <a:spcBef>
                <a:spcPts val="500"/>
              </a:spcBef>
              <a:buChar char="•"/>
              <a:defRPr sz="1656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常与</a:t>
            </a:r>
            <a:r>
              <a:rPr dirty="0"/>
              <a:t> </a:t>
            </a:r>
            <a:r>
              <a:rPr dirty="0">
                <a:solidFill>
                  <a:srgbClr val="FF2600"/>
                </a:solidFill>
              </a:rPr>
              <a:t>ELT</a:t>
            </a:r>
            <a:r>
              <a:rPr dirty="0"/>
              <a:t>（Extract-Load-Transform）混用，通常数据量越大、转换逻辑越复杂、目的端数据库运算能力越强，越倾向使用ELT，以便运用目的端数据库的并行处理能力。</a:t>
            </a:r>
          </a:p>
        </p:txBody>
      </p:sp>
    </p:spTree>
    <p:extLst>
      <p:ext uri="{BB962C8B-B14F-4D97-AF65-F5344CB8AC3E}">
        <p14:creationId xmlns:p14="http://schemas.microsoft.com/office/powerpoint/2010/main" val="300178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2"/>
          <p:cNvSpPr txBox="1">
            <a:spLocks noGrp="1"/>
          </p:cNvSpPr>
          <p:nvPr>
            <p:ph type="title"/>
          </p:nvPr>
        </p:nvSpPr>
        <p:spPr>
          <a:xfrm>
            <a:off x="1785938" y="274638"/>
            <a:ext cx="7188447" cy="114300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ETL 应用</a:t>
            </a:r>
          </a:p>
        </p:txBody>
      </p:sp>
      <p:sp>
        <p:nvSpPr>
          <p:cNvPr id="103" name="Rectangle 3"/>
          <p:cNvSpPr txBox="1">
            <a:spLocks noGrp="1"/>
          </p:cNvSpPr>
          <p:nvPr>
            <p:ph type="body" idx="1"/>
          </p:nvPr>
        </p:nvSpPr>
        <p:spPr>
          <a:xfrm>
            <a:off x="1785938" y="1600200"/>
            <a:ext cx="7188447" cy="4686300"/>
          </a:xfrm>
          <a:prstGeom prst="rect">
            <a:avLst/>
          </a:prstGeom>
        </p:spPr>
        <p:txBody>
          <a:bodyPr/>
          <a:lstStyle/>
          <a:p>
            <a:pPr marL="260604" indent="-260604" defTabSz="694944">
              <a:spcBef>
                <a:spcPts val="500"/>
              </a:spcBef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业务场景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汇总</a:t>
            </a:r>
            <a:r>
              <a:rPr>
                <a:solidFill>
                  <a:srgbClr val="FF2600"/>
                </a:solidFill>
              </a:rPr>
              <a:t>业务交易</a:t>
            </a:r>
            <a:r>
              <a:t>数据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将应用数据从旧系统</a:t>
            </a:r>
            <a:r>
              <a:rPr>
                <a:solidFill>
                  <a:srgbClr val="942192"/>
                </a:solidFill>
              </a:rPr>
              <a:t>迁移</a:t>
            </a:r>
            <a:r>
              <a:rPr>
                <a:solidFill>
                  <a:srgbClr val="FF2600"/>
                </a:solidFill>
              </a:rPr>
              <a:t>到新系统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整合</a:t>
            </a:r>
            <a:r>
              <a:t>近期公司</a:t>
            </a:r>
            <a:r>
              <a:rPr>
                <a:solidFill>
                  <a:srgbClr val="FF2600"/>
                </a:solidFill>
              </a:rPr>
              <a:t>收购</a:t>
            </a:r>
            <a:r>
              <a:t>或</a:t>
            </a:r>
            <a:r>
              <a:rPr>
                <a:solidFill>
                  <a:srgbClr val="FF2600"/>
                </a:solidFill>
              </a:rPr>
              <a:t>合并</a:t>
            </a:r>
            <a:r>
              <a:t>的数据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整合</a:t>
            </a:r>
            <a:r>
              <a:t>来自</a:t>
            </a:r>
            <a:r>
              <a:rPr>
                <a:solidFill>
                  <a:srgbClr val="FF2600"/>
                </a:solidFill>
              </a:rPr>
              <a:t>外部供应商</a:t>
            </a:r>
            <a:r>
              <a:t>、</a:t>
            </a:r>
            <a:r>
              <a:rPr>
                <a:solidFill>
                  <a:srgbClr val="FF2600"/>
                </a:solidFill>
              </a:rPr>
              <a:t>合作伙伴</a:t>
            </a:r>
            <a:r>
              <a:t>的数据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……</a:t>
            </a:r>
          </a:p>
          <a:p>
            <a:pPr marL="260604" indent="-260604" defTabSz="694944">
              <a:spcBef>
                <a:spcPts val="500"/>
              </a:spcBef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技术领域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FF2600"/>
                </a:solidFill>
              </a:rPr>
              <a:t>数据仓库</a:t>
            </a:r>
            <a:r>
              <a:t>（Data Warehouse）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决策支持系统（Decision Support System）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联机分析处理</a:t>
            </a:r>
            <a:r>
              <a:t>（Online Analytical Processing）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数据挖掘</a:t>
            </a:r>
            <a:r>
              <a:t>（Data Mining）</a:t>
            </a:r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商务智能</a:t>
            </a:r>
            <a:r>
              <a:t>（Business Intelligence）</a:t>
            </a:r>
          </a:p>
        </p:txBody>
      </p:sp>
    </p:spTree>
    <p:extLst>
      <p:ext uri="{BB962C8B-B14F-4D97-AF65-F5344CB8AC3E}">
        <p14:creationId xmlns:p14="http://schemas.microsoft.com/office/powerpoint/2010/main" val="341699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2"/>
          <p:cNvSpPr txBox="1">
            <a:spLocks noGrp="1"/>
          </p:cNvSpPr>
          <p:nvPr>
            <p:ph type="title"/>
          </p:nvPr>
        </p:nvSpPr>
        <p:spPr>
          <a:xfrm>
            <a:off x="1785938" y="274638"/>
            <a:ext cx="7188447" cy="114300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ETL 过程</a:t>
            </a:r>
          </a:p>
        </p:txBody>
      </p:sp>
      <p:sp>
        <p:nvSpPr>
          <p:cNvPr id="106" name="Rectangle 3"/>
          <p:cNvSpPr txBox="1">
            <a:spLocks noGrp="1"/>
          </p:cNvSpPr>
          <p:nvPr>
            <p:ph type="body" idx="1"/>
          </p:nvPr>
        </p:nvSpPr>
        <p:spPr>
          <a:xfrm>
            <a:off x="1785938" y="1600200"/>
            <a:ext cx="7188447" cy="4686300"/>
          </a:xfrm>
          <a:prstGeom prst="rect">
            <a:avLst/>
          </a:prstGeom>
        </p:spPr>
        <p:txBody>
          <a:bodyPr/>
          <a:lstStyle/>
          <a:p>
            <a:pPr marL="205740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Extract（不同的数据源 —&gt; </a:t>
            </a:r>
            <a:r>
              <a:rPr>
                <a:solidFill>
                  <a:srgbClr val="942192"/>
                </a:solidFill>
              </a:rPr>
              <a:t>O</a:t>
            </a:r>
            <a:r>
              <a:t>perational</a:t>
            </a:r>
            <a:r>
              <a:rPr>
                <a:solidFill>
                  <a:srgbClr val="942192"/>
                </a:solidFill>
              </a:rPr>
              <a:t> D</a:t>
            </a:r>
            <a:r>
              <a:t>ata</a:t>
            </a:r>
            <a:r>
              <a:rPr>
                <a:solidFill>
                  <a:srgbClr val="942192"/>
                </a:solidFill>
              </a:rPr>
              <a:t> S</a:t>
            </a:r>
            <a:r>
              <a:t>tore）</a:t>
            </a:r>
          </a:p>
          <a:p>
            <a:pPr marL="480060" lvl="1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FF2600"/>
                </a:solidFill>
              </a:rPr>
              <a:t>大量调研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数据来自几个业务系统？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系统各自数据库服务器运行什么 DBMS？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存在多少手工数据？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存在多少非结构化数据？</a:t>
            </a:r>
          </a:p>
          <a:p>
            <a:pPr marL="480060" lvl="1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FF2600"/>
                </a:solidFill>
              </a:rPr>
              <a:t>抽取方案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与 DW 的数据库系统</a:t>
            </a:r>
            <a:r>
              <a:rPr>
                <a:solidFill>
                  <a:srgbClr val="942192"/>
                </a:solidFill>
              </a:rPr>
              <a:t>相同</a:t>
            </a:r>
            <a:r>
              <a:t>的数据源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直接连接，select 语句直接访问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与 DW 的数据库系统</a:t>
            </a:r>
            <a:r>
              <a:rPr>
                <a:solidFill>
                  <a:srgbClr val="942192"/>
                </a:solidFill>
              </a:rPr>
              <a:t>不同</a:t>
            </a:r>
            <a:r>
              <a:t>的数据源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直接连接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将源数据导出 .txt / .xls 后，再将这些文件导入 ODS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通过程序接口完成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增量更新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对于数据量大的系统，利用时间戳，增量抽取</a:t>
            </a:r>
          </a:p>
        </p:txBody>
      </p:sp>
    </p:spTree>
    <p:extLst>
      <p:ext uri="{BB962C8B-B14F-4D97-AF65-F5344CB8AC3E}">
        <p14:creationId xmlns:p14="http://schemas.microsoft.com/office/powerpoint/2010/main" val="409482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2"/>
          <p:cNvSpPr txBox="1">
            <a:spLocks noGrp="1"/>
          </p:cNvSpPr>
          <p:nvPr>
            <p:ph type="title"/>
          </p:nvPr>
        </p:nvSpPr>
        <p:spPr>
          <a:xfrm>
            <a:off x="1785938" y="274638"/>
            <a:ext cx="7188447" cy="114300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ETL 过程</a:t>
            </a:r>
          </a:p>
        </p:txBody>
      </p:sp>
      <p:sp>
        <p:nvSpPr>
          <p:cNvPr id="109" name="Rectangle 3"/>
          <p:cNvSpPr txBox="1">
            <a:spLocks noGrp="1"/>
          </p:cNvSpPr>
          <p:nvPr>
            <p:ph type="body" idx="1"/>
          </p:nvPr>
        </p:nvSpPr>
        <p:spPr>
          <a:xfrm>
            <a:off x="1785938" y="1600200"/>
            <a:ext cx="7188447" cy="4686300"/>
          </a:xfrm>
          <a:prstGeom prst="rect">
            <a:avLst/>
          </a:prstGeom>
        </p:spPr>
        <p:txBody>
          <a:bodyPr/>
          <a:lstStyle/>
          <a:p>
            <a:pPr marL="205740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Transform（Cleaning、Transform）</a:t>
            </a:r>
          </a:p>
          <a:p>
            <a:pPr marL="480060" lvl="1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FF2600"/>
                </a:solidFill>
              </a:rPr>
              <a:t>数据清洗</a:t>
            </a:r>
            <a:r>
              <a:t>（是一个反复的过程，需要不断修正）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不完整的数据</a:t>
            </a:r>
            <a:r>
              <a:t>（名称、区域信息等）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补全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错误的数据</a:t>
            </a:r>
            <a:r>
              <a:t>（数值输成全角字符、日期越界等）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用 SQL语句找出后，在业务系统修正后抽取</a:t>
            </a:r>
          </a:p>
          <a:p>
            <a:pPr marL="754380" lvl="2" indent="-205740" defTabSz="548640">
              <a:spcBef>
                <a:spcPts val="400"/>
              </a:spcBef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942192"/>
                </a:solidFill>
              </a:rPr>
              <a:t>重复的数据</a:t>
            </a:r>
            <a:r>
              <a:t>：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将重复字段导出，交由客户确认</a:t>
            </a:r>
          </a:p>
          <a:p>
            <a:pPr marL="480060" lvl="1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>
                <a:solidFill>
                  <a:srgbClr val="FF2600"/>
                </a:solidFill>
              </a:rPr>
              <a:t>数据转换</a:t>
            </a:r>
          </a:p>
          <a:p>
            <a:pPr marL="754380" lvl="2" indent="-205740" defTabSz="548640">
              <a:spcBef>
                <a:spcPts val="400"/>
              </a:spcBef>
              <a:defRPr sz="1440">
                <a:solidFill>
                  <a:srgbClr val="942192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转换不一致数据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不同业务系统相同类型的数据要统一</a:t>
            </a:r>
          </a:p>
          <a:p>
            <a:pPr marL="754380" lvl="2" indent="-205740" defTabSz="548640">
              <a:spcBef>
                <a:spcPts val="400"/>
              </a:spcBef>
              <a:defRPr sz="1440">
                <a:solidFill>
                  <a:srgbClr val="942192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转换数据粒度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将业务系统数据按照数据仓库粒度进行聚合</a:t>
            </a:r>
          </a:p>
          <a:p>
            <a:pPr marL="754380" lvl="2" indent="-205740" defTabSz="548640">
              <a:spcBef>
                <a:spcPts val="400"/>
              </a:spcBef>
              <a:defRPr sz="1440">
                <a:solidFill>
                  <a:srgbClr val="942192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商务规则计算</a:t>
            </a:r>
          </a:p>
          <a:p>
            <a:pPr marL="1028700" lvl="3" indent="-205740" defTabSz="548640">
              <a:spcBef>
                <a:spcPts val="400"/>
              </a:spcBef>
              <a:buChar char="•"/>
              <a:defRPr sz="144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数据指标</a:t>
            </a:r>
          </a:p>
        </p:txBody>
      </p:sp>
    </p:spTree>
    <p:extLst>
      <p:ext uri="{BB962C8B-B14F-4D97-AF65-F5344CB8AC3E}">
        <p14:creationId xmlns:p14="http://schemas.microsoft.com/office/powerpoint/2010/main" val="361945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2"/>
          <p:cNvSpPr txBox="1">
            <a:spLocks noGrp="1"/>
          </p:cNvSpPr>
          <p:nvPr>
            <p:ph type="title"/>
          </p:nvPr>
        </p:nvSpPr>
        <p:spPr>
          <a:xfrm>
            <a:off x="1785938" y="274638"/>
            <a:ext cx="7188447" cy="114300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ETL 过程</a:t>
            </a:r>
          </a:p>
        </p:txBody>
      </p:sp>
      <p:sp>
        <p:nvSpPr>
          <p:cNvPr id="112" name="Rectangle 3"/>
          <p:cNvSpPr txBox="1">
            <a:spLocks noGrp="1"/>
          </p:cNvSpPr>
          <p:nvPr>
            <p:ph type="body" idx="1"/>
          </p:nvPr>
        </p:nvSpPr>
        <p:spPr>
          <a:xfrm>
            <a:off x="1785938" y="1600200"/>
            <a:ext cx="7188447" cy="468630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/>
              <a:t>Load</a:t>
            </a:r>
          </a:p>
          <a:p>
            <a:pPr marL="800100" lvl="1" indent="-342900">
              <a:spcBef>
                <a:spcPts val="600"/>
              </a:spcBef>
              <a:buChar char="•"/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/>
              <a:t>Transform </a:t>
            </a:r>
            <a:r>
              <a:rPr dirty="0" err="1"/>
              <a:t>的工作量约占</a:t>
            </a:r>
            <a:r>
              <a:rPr dirty="0"/>
              <a:t> 2/3</a:t>
            </a:r>
          </a:p>
          <a:p>
            <a:pPr marL="800100" lvl="1" indent="-342900">
              <a:spcBef>
                <a:spcPts val="600"/>
              </a:spcBef>
              <a:buChar char="•"/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数据的加载一般是数据清洗了之后，直接写入数据仓库中去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03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"/>
          <p:cNvSpPr txBox="1">
            <a:spLocks noGrp="1"/>
          </p:cNvSpPr>
          <p:nvPr>
            <p:ph type="title"/>
          </p:nvPr>
        </p:nvSpPr>
        <p:spPr>
          <a:xfrm>
            <a:off x="1785938" y="274638"/>
            <a:ext cx="7188447" cy="114300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ETL 工具</a:t>
            </a:r>
          </a:p>
        </p:txBody>
      </p:sp>
      <p:sp>
        <p:nvSpPr>
          <p:cNvPr id="115" name="Rectangle 3"/>
          <p:cNvSpPr txBox="1">
            <a:spLocks noGrp="1"/>
          </p:cNvSpPr>
          <p:nvPr>
            <p:ph type="body" idx="1"/>
          </p:nvPr>
        </p:nvSpPr>
        <p:spPr>
          <a:xfrm>
            <a:off x="1785938" y="1600200"/>
            <a:ext cx="7188447" cy="4686300"/>
          </a:xfrm>
          <a:prstGeom prst="rect">
            <a:avLst/>
          </a:prstGeom>
        </p:spPr>
        <p:txBody>
          <a:bodyPr/>
          <a:lstStyle/>
          <a:p>
            <a:pPr marL="212597" indent="-212597" defTabSz="566927">
              <a:spcBef>
                <a:spcPts val="400"/>
              </a:spcBef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Datastage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IBM 公司的商业软件，最专业的 ETL 工具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价格不菲，适合大规模的 ETL 应用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使用难度：★★★★</a:t>
            </a:r>
          </a:p>
          <a:p>
            <a:pPr marL="212597" indent="-212597" defTabSz="566927">
              <a:spcBef>
                <a:spcPts val="400"/>
              </a:spcBef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Informatica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商业软件，相当专业的 ETL 工具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价格比 Datastage 便宜一点，也适合大规模的 ETL 应用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使用难度：★★</a:t>
            </a:r>
          </a:p>
          <a:p>
            <a:pPr marL="212597" indent="-212597" defTabSz="566927">
              <a:spcBef>
                <a:spcPts val="400"/>
              </a:spcBef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Kettle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免费，开源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纯 Java 编写，只需 JVM 即可部署，可跨平台、扩展性好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使用难度：★★</a:t>
            </a:r>
          </a:p>
          <a:p>
            <a:pPr marL="212597" indent="-212597" defTabSz="566927">
              <a:spcBef>
                <a:spcPts val="400"/>
              </a:spcBef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其他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DatePipeline、Talend、Datax、Oracle Goldengate……</a:t>
            </a:r>
          </a:p>
          <a:p>
            <a:pPr marL="496062" lvl="1" indent="-212597" defTabSz="566927">
              <a:spcBef>
                <a:spcPts val="400"/>
              </a:spcBef>
              <a:buChar char="•"/>
              <a:defRPr sz="1488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t>自己探索</a:t>
            </a:r>
          </a:p>
        </p:txBody>
      </p:sp>
    </p:spTree>
    <p:extLst>
      <p:ext uri="{BB962C8B-B14F-4D97-AF65-F5344CB8AC3E}">
        <p14:creationId xmlns:p14="http://schemas.microsoft.com/office/powerpoint/2010/main" val="120625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2"/>
          <p:cNvSpPr txBox="1">
            <a:spLocks noGrp="1"/>
          </p:cNvSpPr>
          <p:nvPr>
            <p:ph type="title"/>
          </p:nvPr>
        </p:nvSpPr>
        <p:spPr>
          <a:xfrm>
            <a:off x="1785938" y="274638"/>
            <a:ext cx="7188447" cy="1143001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ETL 注意事项</a:t>
            </a:r>
          </a:p>
        </p:txBody>
      </p:sp>
      <p:sp>
        <p:nvSpPr>
          <p:cNvPr id="118" name="Rectangle 3"/>
          <p:cNvSpPr txBox="1">
            <a:spLocks noGrp="1"/>
          </p:cNvSpPr>
          <p:nvPr>
            <p:ph type="body" idx="1"/>
          </p:nvPr>
        </p:nvSpPr>
        <p:spPr>
          <a:xfrm>
            <a:off x="1785938" y="1600200"/>
            <a:ext cx="7188447" cy="4686300"/>
          </a:xfrm>
          <a:prstGeom prst="rect">
            <a:avLst/>
          </a:prstGeom>
        </p:spPr>
        <p:txBody>
          <a:bodyPr/>
          <a:lstStyle/>
          <a:p>
            <a:pPr marL="260604" indent="-260604" defTabSz="694944">
              <a:spcBef>
                <a:spcPts val="500"/>
              </a:spcBef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数据连接</a:t>
            </a:r>
            <a:endParaRPr dirty="0"/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数据源的数据库技术不一致</a:t>
            </a:r>
            <a:endParaRPr dirty="0"/>
          </a:p>
          <a:p>
            <a:pPr marL="260604" indent="-260604" defTabSz="694944">
              <a:spcBef>
                <a:spcPts val="500"/>
              </a:spcBef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性能</a:t>
            </a:r>
            <a:endParaRPr dirty="0"/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集中式架构扩展性差</a:t>
            </a:r>
            <a:endParaRPr dirty="0"/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分布式架构扩展性强</a:t>
            </a:r>
            <a:endParaRPr dirty="0"/>
          </a:p>
          <a:p>
            <a:pPr marL="260604" indent="-260604" defTabSz="694944">
              <a:spcBef>
                <a:spcPts val="500"/>
              </a:spcBef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转换灵活</a:t>
            </a:r>
            <a:endParaRPr dirty="0"/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匹配、合并、更改数据非常重要</a:t>
            </a:r>
            <a:endParaRPr dirty="0"/>
          </a:p>
          <a:p>
            <a:pPr marL="260604" indent="-260604" defTabSz="694944">
              <a:spcBef>
                <a:spcPts val="500"/>
              </a:spcBef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数据质量</a:t>
            </a:r>
            <a:endParaRPr dirty="0"/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数据质量决定产品质量上界</a:t>
            </a:r>
            <a:endParaRPr dirty="0"/>
          </a:p>
          <a:p>
            <a:pPr marL="260604" indent="-260604" defTabSz="694944">
              <a:spcBef>
                <a:spcPts val="500"/>
              </a:spcBef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批、</a:t>
            </a:r>
            <a:r>
              <a:rPr dirty="0" err="1" smtClean="0"/>
              <a:t>流一体的数据融合</a:t>
            </a:r>
            <a:endParaRPr dirty="0"/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数据是按触发器获取，还是按时间间隔获取</a:t>
            </a:r>
            <a:endParaRPr dirty="0"/>
          </a:p>
          <a:p>
            <a:pPr marL="608076" lvl="1" indent="-260604" defTabSz="694944">
              <a:spcBef>
                <a:spcPts val="500"/>
              </a:spcBef>
              <a:buChar char="•"/>
              <a:defRPr sz="1824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dirty="0" err="1"/>
              <a:t>若企业对数据的实时性要求高，则需考虑流处理能力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605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r>
              <a:rPr lang="zh-CN" altLang="en-US" sz="3200" b="1" dirty="0" smtClean="0">
                <a:latin typeface="宋体" charset="-122"/>
              </a:rPr>
              <a:t>批数据集成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批数据集成简介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采集、迁移工具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panose="02010600030101010101" pitchFamily="2" charset="-122"/>
              </a:rPr>
              <a:t>ETL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工具及应用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存储</a:t>
            </a:r>
            <a:endParaRPr lang="en-US" altLang="zh-CN" sz="2800" b="1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608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200" b="1" dirty="0" smtClean="0">
                <a:latin typeface="宋体" panose="02010600030101010101" pitchFamily="2" charset="-122"/>
              </a:rPr>
              <a:t>数据存储</a:t>
            </a:r>
            <a:endParaRPr lang="en-US" altLang="zh-CN" sz="3200" b="1" dirty="0">
              <a:latin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文件存储系统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HDFS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存储方式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数据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仓库及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Hive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1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200" b="1" dirty="0">
                <a:latin typeface="宋体" panose="02010600030101010101" pitchFamily="2" charset="-122"/>
              </a:rPr>
              <a:t>文件存储系统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HDFS</a:t>
            </a:r>
            <a:endParaRPr lang="en-US" altLang="zh-CN" sz="3200" b="1" dirty="0">
              <a:latin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简介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文件管理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751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5410200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sz="4000" b="1" dirty="0" smtClean="0">
                <a:latin typeface="+mn-ea"/>
              </a:rPr>
              <a:t>什么是</a:t>
            </a:r>
            <a:r>
              <a:rPr lang="en-US" altLang="zh-CN" sz="4000" b="1" dirty="0" smtClean="0">
                <a:latin typeface="+mn-ea"/>
              </a:rPr>
              <a:t>HDFS</a:t>
            </a:r>
          </a:p>
          <a:p>
            <a:pPr lvl="1"/>
            <a:r>
              <a:rPr lang="en-US" altLang="zh-CN" sz="2900" dirty="0"/>
              <a:t>Hadoop</a:t>
            </a:r>
            <a:r>
              <a:rPr lang="zh-CN" altLang="en-US" sz="2900" dirty="0"/>
              <a:t>分布式文件系统（</a:t>
            </a:r>
            <a:r>
              <a:rPr lang="en-US" altLang="zh-CN" sz="2900" dirty="0"/>
              <a:t>Hadoop Distributed File System</a:t>
            </a:r>
            <a:r>
              <a:rPr lang="zh-CN" altLang="en-US" sz="2900" dirty="0"/>
              <a:t>） </a:t>
            </a:r>
            <a:endParaRPr lang="en-US" altLang="zh-CN" sz="2900" dirty="0"/>
          </a:p>
          <a:p>
            <a:pPr lvl="1"/>
            <a:r>
              <a:rPr lang="en-US" altLang="zh-CN" sz="2900" dirty="0"/>
              <a:t>HDFS</a:t>
            </a:r>
            <a:r>
              <a:rPr lang="zh-CN" altLang="en-US" sz="2900" dirty="0"/>
              <a:t>是</a:t>
            </a:r>
            <a:r>
              <a:rPr lang="en-US" altLang="zh-CN" sz="2900" dirty="0"/>
              <a:t>Apache Hadoop</a:t>
            </a:r>
            <a:r>
              <a:rPr lang="zh-CN" altLang="en-US" sz="2900" dirty="0"/>
              <a:t>的核心子项目</a:t>
            </a:r>
            <a:endParaRPr lang="en-US" altLang="zh-CN" sz="2900" dirty="0"/>
          </a:p>
          <a:p>
            <a:pPr lvl="1"/>
            <a:r>
              <a:rPr lang="en-US" altLang="zh-CN" sz="2900" dirty="0"/>
              <a:t>HDFS</a:t>
            </a:r>
            <a:r>
              <a:rPr lang="zh-CN" altLang="en-US" sz="2900" dirty="0"/>
              <a:t>是</a:t>
            </a:r>
            <a:r>
              <a:rPr lang="en-US" altLang="zh-CN" sz="2900" dirty="0"/>
              <a:t>GFS</a:t>
            </a:r>
            <a:r>
              <a:rPr lang="zh-CN" altLang="en-US" sz="2900" dirty="0"/>
              <a:t>的开源实现 </a:t>
            </a:r>
            <a:endParaRPr lang="en-US" altLang="zh-CN" sz="2900" dirty="0"/>
          </a:p>
          <a:p>
            <a:pPr lvl="1"/>
            <a:r>
              <a:rPr lang="en-US" altLang="zh-CN" sz="2900" dirty="0" smtClean="0"/>
              <a:t>Master/slave</a:t>
            </a:r>
            <a:r>
              <a:rPr lang="zh-CN" altLang="en-US" sz="2900" dirty="0" smtClean="0"/>
              <a:t>架构</a:t>
            </a:r>
            <a:endParaRPr lang="en-US" altLang="zh-CN" sz="2900" dirty="0"/>
          </a:p>
          <a:p>
            <a:pPr lvl="1"/>
            <a:endParaRPr lang="en-US" altLang="zh-CN" sz="2000" dirty="0" smtClean="0"/>
          </a:p>
          <a:p>
            <a:r>
              <a:rPr lang="zh-CN" altLang="en-US" sz="4000" b="1" dirty="0" smtClean="0"/>
              <a:t>设计目标</a:t>
            </a:r>
            <a:endParaRPr lang="en-US" altLang="zh-CN" sz="4000" b="1" dirty="0" smtClean="0"/>
          </a:p>
          <a:p>
            <a:pPr lvl="1"/>
            <a:r>
              <a:rPr lang="zh-CN" altLang="en-US" sz="2900" dirty="0"/>
              <a:t>运行在大量廉价商用机器</a:t>
            </a:r>
            <a:r>
              <a:rPr lang="zh-CN" altLang="en-US" sz="2900" dirty="0" smtClean="0"/>
              <a:t>上，提供</a:t>
            </a:r>
            <a:r>
              <a:rPr lang="zh-CN" altLang="en-US" sz="2900" dirty="0"/>
              <a:t>容错</a:t>
            </a:r>
            <a:r>
              <a:rPr lang="zh-CN" altLang="en-US" sz="2900" dirty="0" smtClean="0"/>
              <a:t>机制：故障检测、快速自动恢复机制</a:t>
            </a:r>
            <a:endParaRPr lang="en-US" altLang="zh-CN" sz="2900" dirty="0" smtClean="0"/>
          </a:p>
          <a:p>
            <a:pPr lvl="1"/>
            <a:r>
              <a:rPr lang="zh-CN" altLang="en-US" sz="2900" dirty="0" smtClean="0"/>
              <a:t>简单可靠的聚合模型</a:t>
            </a:r>
            <a:r>
              <a:rPr lang="zh-CN" altLang="en-US" sz="2900" dirty="0"/>
              <a:t>：一次写入多次读取，支持追加，不允许修改，保证数据一致性 </a:t>
            </a:r>
            <a:endParaRPr lang="en-US" altLang="zh-CN" sz="2900" dirty="0" smtClean="0"/>
          </a:p>
          <a:p>
            <a:pPr lvl="1"/>
            <a:r>
              <a:rPr lang="zh-CN" altLang="en-US" sz="2900" dirty="0" smtClean="0"/>
              <a:t>流式</a:t>
            </a:r>
            <a:r>
              <a:rPr lang="zh-CN" altLang="en-US" sz="2900" dirty="0"/>
              <a:t>数据访问：批量读而非随机读，关注吞吐量而非时间 </a:t>
            </a:r>
            <a:endParaRPr lang="en-US" altLang="zh-CN" sz="2900" dirty="0"/>
          </a:p>
          <a:p>
            <a:pPr lvl="1"/>
            <a:r>
              <a:rPr lang="zh-CN" altLang="en-US" sz="2900" dirty="0"/>
              <a:t>可靠存储和处理大量数据的可</a:t>
            </a:r>
            <a:r>
              <a:rPr lang="zh-CN" altLang="en-US" sz="2900" dirty="0" smtClean="0"/>
              <a:t>伸缩性</a:t>
            </a:r>
            <a:endParaRPr lang="en-US" altLang="zh-CN" sz="2900" dirty="0" smtClean="0"/>
          </a:p>
          <a:p>
            <a:pPr lvl="1"/>
            <a:r>
              <a:rPr lang="zh-CN" altLang="en-US" sz="2900" dirty="0"/>
              <a:t>通过分布数据和逻辑到数据所在的多个节点上进行平行处理来提高</a:t>
            </a:r>
            <a:r>
              <a:rPr lang="zh-CN" altLang="en-US" sz="2900" dirty="0" smtClean="0"/>
              <a:t>效率</a:t>
            </a:r>
            <a:endParaRPr lang="en-US" altLang="zh-CN" sz="2900" dirty="0"/>
          </a:p>
        </p:txBody>
      </p:sp>
    </p:spTree>
    <p:extLst>
      <p:ext uri="{BB962C8B-B14F-4D97-AF65-F5344CB8AC3E}">
        <p14:creationId xmlns:p14="http://schemas.microsoft.com/office/powerpoint/2010/main" val="315919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541020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3000" b="1" dirty="0" smtClean="0">
                <a:latin typeface="+mn-ea"/>
              </a:rPr>
              <a:t>优点</a:t>
            </a:r>
            <a:endParaRPr lang="en-US" altLang="zh-CN" sz="3000" b="1" dirty="0" smtClean="0">
              <a:latin typeface="+mn-ea"/>
            </a:endParaRPr>
          </a:p>
          <a:p>
            <a:pPr lvl="1"/>
            <a:r>
              <a:rPr lang="zh-CN" altLang="en-US" sz="2600" dirty="0"/>
              <a:t>高容错、高可用、高扩展 </a:t>
            </a:r>
            <a:endParaRPr lang="en-US" altLang="zh-CN" sz="2600" dirty="0" smtClean="0"/>
          </a:p>
          <a:p>
            <a:pPr lvl="2"/>
            <a:r>
              <a:rPr lang="zh-CN" altLang="en-US" dirty="0" smtClean="0"/>
              <a:t>数据冗余</a:t>
            </a:r>
            <a:r>
              <a:rPr lang="zh-CN" altLang="en-US" dirty="0"/>
              <a:t>，多</a:t>
            </a:r>
            <a:r>
              <a:rPr lang="en-US" altLang="zh-CN" dirty="0"/>
              <a:t>Block</a:t>
            </a:r>
            <a:r>
              <a:rPr lang="zh-CN" altLang="en-US" dirty="0"/>
              <a:t>多副本，副本丢失后自动恢复 </a:t>
            </a:r>
            <a:r>
              <a:rPr lang="zh-CN" altLang="en-US" dirty="0" smtClean="0"/>
              <a:t>（一般三副本）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NameNode</a:t>
            </a:r>
            <a:r>
              <a:rPr lang="en-US" altLang="zh-CN" dirty="0" smtClean="0"/>
              <a:t> </a:t>
            </a:r>
            <a:r>
              <a:rPr lang="en-US" altLang="zh-CN" dirty="0"/>
              <a:t>HA</a:t>
            </a:r>
            <a:r>
              <a:rPr lang="zh-CN" altLang="en-US" dirty="0"/>
              <a:t>、安全模式 </a:t>
            </a:r>
            <a:endParaRPr lang="en-US" altLang="zh-CN" dirty="0" smtClean="0"/>
          </a:p>
          <a:p>
            <a:pPr lvl="1"/>
            <a:r>
              <a:rPr lang="zh-CN" altLang="en-US" sz="2600" dirty="0" smtClean="0"/>
              <a:t>海量</a:t>
            </a:r>
            <a:r>
              <a:rPr lang="zh-CN" altLang="en-US" sz="2600" dirty="0"/>
              <a:t>数据存储 </a:t>
            </a:r>
            <a:endParaRPr lang="en-US" altLang="zh-CN" sz="2600" dirty="0" smtClean="0"/>
          </a:p>
          <a:p>
            <a:pPr lvl="2"/>
            <a:r>
              <a:rPr lang="zh-CN" altLang="en-US" dirty="0" smtClean="0"/>
              <a:t>典型</a:t>
            </a:r>
            <a:r>
              <a:rPr lang="zh-CN" altLang="en-US" dirty="0"/>
              <a:t>文件大小</a:t>
            </a:r>
            <a:r>
              <a:rPr lang="en-US" altLang="zh-CN" dirty="0"/>
              <a:t>GB~TB</a:t>
            </a:r>
            <a:r>
              <a:rPr lang="zh-CN" altLang="en-US" dirty="0"/>
              <a:t>，百万以上文件数量， </a:t>
            </a:r>
            <a:r>
              <a:rPr lang="en-US" altLang="zh-CN" dirty="0"/>
              <a:t>PB</a:t>
            </a:r>
            <a:r>
              <a:rPr lang="zh-CN" altLang="en-US" dirty="0"/>
              <a:t>以上数据规模 </a:t>
            </a:r>
            <a:endParaRPr lang="en-US" altLang="zh-CN" dirty="0"/>
          </a:p>
          <a:p>
            <a:pPr lvl="1"/>
            <a:r>
              <a:rPr lang="zh-CN" altLang="en-US" sz="2600" dirty="0" smtClean="0"/>
              <a:t>构建</a:t>
            </a:r>
            <a:r>
              <a:rPr lang="zh-CN" altLang="en-US" sz="2600" dirty="0"/>
              <a:t>成本低、安全可靠 </a:t>
            </a:r>
            <a:endParaRPr lang="en-US" altLang="zh-CN" sz="2600" dirty="0" smtClean="0"/>
          </a:p>
          <a:p>
            <a:pPr lvl="2"/>
            <a:r>
              <a:rPr lang="zh-CN" altLang="en-US" dirty="0" smtClean="0"/>
              <a:t>构建</a:t>
            </a:r>
            <a:r>
              <a:rPr lang="zh-CN" altLang="en-US" dirty="0"/>
              <a:t>在廉价的商用服务器上 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提供</a:t>
            </a:r>
            <a:r>
              <a:rPr lang="zh-CN" altLang="en-US" dirty="0"/>
              <a:t>了容错和恢复</a:t>
            </a:r>
            <a:r>
              <a:rPr lang="zh-CN" altLang="en-US" dirty="0" smtClean="0"/>
              <a:t>机制</a:t>
            </a:r>
            <a:r>
              <a:rPr lang="en-US" altLang="zh-CN" dirty="0" smtClean="0"/>
              <a:t> </a:t>
            </a:r>
          </a:p>
          <a:p>
            <a:pPr lvl="1"/>
            <a:r>
              <a:rPr lang="zh-CN" altLang="en-US" sz="2600" dirty="0" smtClean="0"/>
              <a:t>适合</a:t>
            </a:r>
            <a:r>
              <a:rPr lang="zh-CN" altLang="en-US" sz="2600" dirty="0"/>
              <a:t>大规模离线批处理 </a:t>
            </a:r>
            <a:endParaRPr lang="en-US" altLang="zh-CN" sz="2600" dirty="0" smtClean="0"/>
          </a:p>
          <a:p>
            <a:pPr lvl="2"/>
            <a:r>
              <a:rPr lang="zh-CN" altLang="en-US" dirty="0" smtClean="0"/>
              <a:t>流式</a:t>
            </a:r>
            <a:r>
              <a:rPr lang="zh-CN" altLang="en-US" dirty="0"/>
              <a:t>数据访问 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数据</a:t>
            </a:r>
            <a:r>
              <a:rPr lang="zh-CN" altLang="en-US" dirty="0"/>
              <a:t>位置暴露给计算框架 </a:t>
            </a:r>
            <a:endParaRPr lang="en-US" altLang="zh-CN" dirty="0" smtClean="0"/>
          </a:p>
          <a:p>
            <a:pPr lvl="2"/>
            <a:r>
              <a:rPr lang="zh-CN" altLang="en-US" dirty="0"/>
              <a:t>处理逻辑接近数据，而不是数据接近处理逻辑</a:t>
            </a:r>
            <a:endParaRPr lang="en-US" altLang="zh-CN" dirty="0" smtClean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017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5149552"/>
          </a:xfrm>
        </p:spPr>
        <p:txBody>
          <a:bodyPr>
            <a:normAutofit lnSpcReduction="10000"/>
          </a:bodyPr>
          <a:lstStyle/>
          <a:p>
            <a:r>
              <a:rPr lang="zh-CN" altLang="en-US" sz="2800" b="1" dirty="0">
                <a:latin typeface="+mn-ea"/>
              </a:rPr>
              <a:t>缺点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dirty="0" smtClean="0"/>
              <a:t>实时性差，不</a:t>
            </a:r>
            <a:r>
              <a:rPr lang="zh-CN" altLang="en-US" sz="2400" dirty="0"/>
              <a:t>适合低延迟数据访问 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小文件问题，不</a:t>
            </a:r>
            <a:r>
              <a:rPr lang="zh-CN" altLang="en-US" sz="2400" dirty="0"/>
              <a:t>适合大量小文件存储 </a:t>
            </a:r>
            <a:endParaRPr lang="en-US" altLang="zh-CN" sz="2400" dirty="0" smtClean="0"/>
          </a:p>
          <a:p>
            <a:pPr lvl="2"/>
            <a:r>
              <a:rPr lang="zh-CN" altLang="en-US" sz="2200" dirty="0" smtClean="0"/>
              <a:t>元数据</a:t>
            </a:r>
            <a:r>
              <a:rPr lang="zh-CN" altLang="en-US" sz="2200" dirty="0"/>
              <a:t>占用</a:t>
            </a:r>
            <a:r>
              <a:rPr lang="en-US" altLang="zh-CN" sz="2200" dirty="0" err="1"/>
              <a:t>NameNode</a:t>
            </a:r>
            <a:r>
              <a:rPr lang="zh-CN" altLang="en-US" sz="2200" dirty="0"/>
              <a:t>大量内存空间 </a:t>
            </a:r>
            <a:endParaRPr lang="en-US" altLang="zh-CN" sz="2200" dirty="0"/>
          </a:p>
          <a:p>
            <a:pPr lvl="3"/>
            <a:r>
              <a:rPr lang="zh-CN" altLang="en-US" dirty="0" smtClean="0"/>
              <a:t>每个</a:t>
            </a:r>
            <a:r>
              <a:rPr lang="zh-CN" altLang="en-US" dirty="0"/>
              <a:t>文件、目录和</a:t>
            </a:r>
            <a:r>
              <a:rPr lang="en-US" altLang="zh-CN" dirty="0"/>
              <a:t>Block</a:t>
            </a:r>
            <a:r>
              <a:rPr lang="zh-CN" altLang="en-US" dirty="0"/>
              <a:t>的元数据都要</a:t>
            </a:r>
            <a:r>
              <a:rPr lang="zh-CN" altLang="en-US" dirty="0" smtClean="0"/>
              <a:t>占</a:t>
            </a:r>
            <a:r>
              <a:rPr lang="en-US" altLang="zh-CN" dirty="0" smtClean="0"/>
              <a:t>150Byte</a:t>
            </a:r>
          </a:p>
          <a:p>
            <a:pPr lvl="3"/>
            <a:r>
              <a:rPr lang="zh-CN" altLang="en-US" dirty="0" smtClean="0"/>
              <a:t>存储</a:t>
            </a:r>
            <a:r>
              <a:rPr lang="en-US" altLang="zh-CN" dirty="0"/>
              <a:t>1</a:t>
            </a:r>
            <a:r>
              <a:rPr lang="zh-CN" altLang="en-US" dirty="0"/>
              <a:t>亿个元素，大约需要</a:t>
            </a:r>
            <a:r>
              <a:rPr lang="en-US" altLang="zh-CN" dirty="0"/>
              <a:t>20GB</a:t>
            </a:r>
            <a:r>
              <a:rPr lang="zh-CN" altLang="en-US" dirty="0" smtClean="0"/>
              <a:t>内存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如果</a:t>
            </a:r>
            <a:r>
              <a:rPr lang="zh-CN" altLang="en-US" dirty="0"/>
              <a:t>一个文件为</a:t>
            </a:r>
            <a:r>
              <a:rPr lang="en-US" altLang="zh-CN" dirty="0"/>
              <a:t>10KB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亿个文件大小仅 有</a:t>
            </a:r>
            <a:r>
              <a:rPr lang="en-US" altLang="zh-CN" dirty="0"/>
              <a:t>1TB</a:t>
            </a:r>
            <a:r>
              <a:rPr lang="zh-CN" altLang="en-US" dirty="0"/>
              <a:t>，却要消耗掉</a:t>
            </a:r>
            <a:r>
              <a:rPr lang="en-US" altLang="zh-CN" dirty="0"/>
              <a:t>20GB</a:t>
            </a:r>
            <a:r>
              <a:rPr lang="zh-CN" altLang="en-US" dirty="0"/>
              <a:t>内存 </a:t>
            </a:r>
            <a:endParaRPr lang="en-US" altLang="zh-CN" dirty="0" smtClean="0"/>
          </a:p>
          <a:p>
            <a:pPr lvl="2"/>
            <a:r>
              <a:rPr lang="zh-CN" altLang="en-US" sz="2200" dirty="0" smtClean="0"/>
              <a:t>磁盘</a:t>
            </a:r>
            <a:r>
              <a:rPr lang="zh-CN" altLang="en-US" sz="2200" dirty="0"/>
              <a:t>寻道时间超过读取时间 </a:t>
            </a:r>
            <a:endParaRPr lang="en-US" altLang="zh-CN" sz="2200" dirty="0"/>
          </a:p>
          <a:p>
            <a:pPr lvl="1"/>
            <a:r>
              <a:rPr lang="zh-CN" altLang="en-US" sz="2400" dirty="0" smtClean="0"/>
              <a:t>不</a:t>
            </a:r>
            <a:r>
              <a:rPr lang="zh-CN" altLang="en-US" sz="2400" dirty="0"/>
              <a:t>支持并发写入 </a:t>
            </a:r>
            <a:endParaRPr lang="en-US" altLang="zh-CN" sz="2400" dirty="0" smtClean="0"/>
          </a:p>
          <a:p>
            <a:pPr lvl="2"/>
            <a:r>
              <a:rPr lang="zh-CN" altLang="en-US" sz="2200" dirty="0" smtClean="0"/>
              <a:t>一</a:t>
            </a:r>
            <a:r>
              <a:rPr lang="zh-CN" altLang="en-US" sz="2200" dirty="0"/>
              <a:t>个文件同时只能有一个写入者 </a:t>
            </a:r>
            <a:endParaRPr lang="en-US" altLang="zh-CN" sz="2200" dirty="0"/>
          </a:p>
          <a:p>
            <a:pPr lvl="1"/>
            <a:r>
              <a:rPr lang="zh-CN" altLang="en-US" sz="2400" dirty="0" smtClean="0"/>
              <a:t>文件修改问题，不</a:t>
            </a:r>
            <a:r>
              <a:rPr lang="zh-CN" altLang="en-US" sz="2400" dirty="0"/>
              <a:t>支持文件随机修改 </a:t>
            </a:r>
            <a:endParaRPr lang="en-US" altLang="zh-CN" sz="2400" dirty="0" smtClean="0"/>
          </a:p>
          <a:p>
            <a:pPr lvl="2"/>
            <a:r>
              <a:rPr lang="zh-CN" altLang="en-US" sz="2200" dirty="0" smtClean="0"/>
              <a:t>仅</a:t>
            </a:r>
            <a:r>
              <a:rPr lang="zh-CN" altLang="en-US" sz="2200" dirty="0"/>
              <a:t>支持追加写入</a:t>
            </a:r>
            <a:endParaRPr lang="en-US" altLang="zh-CN" sz="2200" b="1" dirty="0" smtClean="0">
              <a:latin typeface="+mn-ea"/>
            </a:endParaRPr>
          </a:p>
          <a:p>
            <a:pPr lvl="1"/>
            <a:endParaRPr lang="zh-CN" altLang="en-US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185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3200" b="1" dirty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447800"/>
            <a:ext cx="6931496" cy="5149552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系统架构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976" y="2276872"/>
            <a:ext cx="7180952" cy="4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3200" b="1" dirty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712" y="1096271"/>
            <a:ext cx="6931496" cy="5149552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写操作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491" y="1700808"/>
            <a:ext cx="5869937" cy="491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3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3200" b="1" dirty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712" y="1096271"/>
            <a:ext cx="6931496" cy="5149552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n-ea"/>
              </a:rPr>
              <a:t>读</a:t>
            </a:r>
            <a:r>
              <a:rPr lang="zh-CN" altLang="en-US" sz="2800" b="1" dirty="0" smtClean="0">
                <a:latin typeface="+mn-ea"/>
              </a:rPr>
              <a:t>操作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1628800"/>
            <a:ext cx="5776362" cy="48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HDFS</a:t>
            </a:r>
            <a:r>
              <a:rPr lang="zh-CN" altLang="en-US" sz="3200" b="1" dirty="0">
                <a:latin typeface="宋体" panose="02010600030101010101" pitchFamily="2" charset="-122"/>
              </a:rPr>
              <a:t>文件管理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712" y="1096270"/>
            <a:ext cx="6931496" cy="5645097"/>
          </a:xfrm>
        </p:spPr>
        <p:txBody>
          <a:bodyPr>
            <a:normAutofit/>
          </a:bodyPr>
          <a:lstStyle/>
          <a:p>
            <a:r>
              <a:rPr lang="en-US" altLang="zh-CN" sz="2800" b="1" dirty="0" smtClean="0">
                <a:latin typeface="+mn-ea"/>
              </a:rPr>
              <a:t>Shell</a:t>
            </a:r>
            <a:r>
              <a:rPr lang="zh-CN" altLang="en-US" sz="2800" b="1" dirty="0" smtClean="0">
                <a:latin typeface="+mn-ea"/>
              </a:rPr>
              <a:t>命令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en-US" altLang="zh-CN" sz="2200" dirty="0" smtClean="0">
                <a:latin typeface="+mn-ea"/>
              </a:rPr>
              <a:t>Hadoop </a:t>
            </a:r>
            <a:r>
              <a:rPr lang="en-US" altLang="zh-CN" sz="2200" dirty="0"/>
              <a:t>fs </a:t>
            </a:r>
            <a:r>
              <a:rPr lang="en-US" altLang="zh-CN" sz="2200" dirty="0" smtClean="0"/>
              <a:t> &lt;</a:t>
            </a:r>
            <a:r>
              <a:rPr lang="en-US" altLang="zh-CN" sz="2200" dirty="0" err="1" smtClean="0"/>
              <a:t>args</a:t>
            </a:r>
            <a:r>
              <a:rPr lang="en-US" altLang="zh-CN" sz="2200" dirty="0" smtClean="0"/>
              <a:t>&gt;</a:t>
            </a:r>
            <a:r>
              <a:rPr lang="zh-CN" altLang="en-US" sz="2200" dirty="0" smtClean="0"/>
              <a:t>（</a:t>
            </a:r>
            <a:r>
              <a:rPr lang="zh-CN" altLang="en-US" sz="2200" dirty="0"/>
              <a:t>使用面最广，可以操作任何文件系统</a:t>
            </a:r>
            <a:r>
              <a:rPr lang="zh-CN" altLang="en-US" sz="2200" dirty="0" smtClean="0"/>
              <a:t>）</a:t>
            </a:r>
            <a:endParaRPr lang="en-US" altLang="zh-CN" sz="2200" dirty="0" smtClean="0"/>
          </a:p>
          <a:p>
            <a:pPr lvl="1"/>
            <a:r>
              <a:rPr lang="en-US" altLang="zh-CN" sz="2200" dirty="0" err="1"/>
              <a:t>hdfs</a:t>
            </a:r>
            <a:r>
              <a:rPr lang="en-US" altLang="zh-CN" sz="2200" dirty="0"/>
              <a:t> </a:t>
            </a:r>
            <a:r>
              <a:rPr lang="en-US" altLang="zh-CN" sz="2200" dirty="0" err="1"/>
              <a:t>dfs</a:t>
            </a:r>
            <a:r>
              <a:rPr lang="en-US" altLang="zh-CN" sz="2200" dirty="0"/>
              <a:t> &lt;</a:t>
            </a:r>
            <a:r>
              <a:rPr lang="en-US" altLang="zh-CN" sz="2200" dirty="0" err="1"/>
              <a:t>args</a:t>
            </a:r>
            <a:r>
              <a:rPr lang="en-US" altLang="zh-CN" sz="2200" dirty="0"/>
              <a:t>&gt; </a:t>
            </a:r>
            <a:r>
              <a:rPr lang="zh-CN" altLang="en-US" sz="2200" dirty="0" smtClean="0"/>
              <a:t>（</a:t>
            </a:r>
            <a:r>
              <a:rPr lang="zh-CN" altLang="en-US" sz="2200" dirty="0"/>
              <a:t>只能操作</a:t>
            </a:r>
            <a:r>
              <a:rPr lang="en-US" altLang="zh-CN" sz="2200" dirty="0"/>
              <a:t>HDFS</a:t>
            </a:r>
            <a:r>
              <a:rPr lang="zh-CN" altLang="en-US" sz="2200" dirty="0"/>
              <a:t>文件系统</a:t>
            </a:r>
            <a:r>
              <a:rPr lang="zh-CN" altLang="en-US" sz="2200" dirty="0" smtClean="0"/>
              <a:t>）</a:t>
            </a:r>
            <a:endParaRPr lang="en-US" altLang="zh-CN" sz="2200" dirty="0" smtClean="0"/>
          </a:p>
          <a:p>
            <a:pPr lvl="1"/>
            <a:endParaRPr lang="en-US" altLang="zh-CN" sz="2200" dirty="0" smtClean="0"/>
          </a:p>
          <a:p>
            <a:r>
              <a:rPr lang="zh-CN" altLang="en-US" sz="2800" b="1" dirty="0" smtClean="0"/>
              <a:t>简单示例 </a:t>
            </a:r>
            <a:endParaRPr lang="en-US" altLang="zh-CN" sz="2800" b="1" dirty="0" smtClean="0"/>
          </a:p>
          <a:p>
            <a:pPr lvl="1"/>
            <a:r>
              <a:rPr lang="en-US" altLang="zh-CN" sz="2400" dirty="0" err="1"/>
              <a:t>hadoop</a:t>
            </a:r>
            <a:r>
              <a:rPr lang="en-US" altLang="zh-CN" sz="2400" dirty="0"/>
              <a:t> fs –help</a:t>
            </a:r>
          </a:p>
          <a:p>
            <a:pPr lvl="1"/>
            <a:r>
              <a:rPr lang="en-US" altLang="zh-CN" sz="2400" dirty="0" err="1"/>
              <a:t>hadoop</a:t>
            </a:r>
            <a:r>
              <a:rPr lang="en-US" altLang="zh-CN" sz="2400" dirty="0"/>
              <a:t> fs –</a:t>
            </a:r>
            <a:r>
              <a:rPr lang="en-US" altLang="zh-CN" sz="2400" dirty="0" err="1"/>
              <a:t>ls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tmp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h</a:t>
            </a:r>
            <a:r>
              <a:rPr lang="en-US" altLang="zh-CN" sz="2400" dirty="0" err="1" smtClean="0"/>
              <a:t>adoop</a:t>
            </a:r>
            <a:r>
              <a:rPr lang="en-US" altLang="zh-CN" sz="2400" dirty="0" smtClean="0"/>
              <a:t> fs –text /</a:t>
            </a:r>
            <a:r>
              <a:rPr lang="en-US" altLang="zh-CN" sz="2400" dirty="0" err="1" smtClean="0"/>
              <a:t>tmp</a:t>
            </a:r>
            <a:r>
              <a:rPr lang="en-US" altLang="zh-CN" sz="2400" dirty="0" smtClean="0"/>
              <a:t>/*|less</a:t>
            </a:r>
          </a:p>
          <a:p>
            <a:pPr lvl="1"/>
            <a:r>
              <a:rPr lang="en-US" altLang="zh-CN" sz="2400" dirty="0" err="1"/>
              <a:t>h</a:t>
            </a:r>
            <a:r>
              <a:rPr lang="en-US" altLang="zh-CN" sz="2400" dirty="0" err="1" smtClean="0"/>
              <a:t>adoop</a:t>
            </a:r>
            <a:r>
              <a:rPr lang="en-US" altLang="zh-CN" sz="2400" dirty="0" smtClean="0"/>
              <a:t> fs –get /</a:t>
            </a:r>
            <a:r>
              <a:rPr lang="en-US" altLang="zh-CN" sz="2400" dirty="0" err="1" smtClean="0"/>
              <a:t>tmp</a:t>
            </a:r>
            <a:r>
              <a:rPr lang="en-US" altLang="zh-CN" sz="2400" dirty="0" smtClean="0"/>
              <a:t>/file  </a:t>
            </a:r>
            <a:r>
              <a:rPr lang="en-US" altLang="zh-CN" sz="2400" dirty="0" err="1" smtClean="0"/>
              <a:t>localfile</a:t>
            </a:r>
            <a:endParaRPr lang="en-US" altLang="zh-CN" sz="2400" dirty="0" smtClean="0"/>
          </a:p>
          <a:p>
            <a:pPr lvl="1"/>
            <a:r>
              <a:rPr lang="en-US" altLang="zh-CN" sz="2400" dirty="0" err="1"/>
              <a:t>h</a:t>
            </a:r>
            <a:r>
              <a:rPr lang="en-US" altLang="zh-CN" sz="2400" dirty="0" err="1" smtClean="0"/>
              <a:t>adoop</a:t>
            </a:r>
            <a:r>
              <a:rPr lang="en-US" altLang="zh-CN" sz="2400" dirty="0" smtClean="0"/>
              <a:t> fs –put </a:t>
            </a:r>
            <a:r>
              <a:rPr lang="en-US" altLang="zh-CN" sz="2400" dirty="0" err="1" smtClean="0"/>
              <a:t>localfile</a:t>
            </a:r>
            <a:r>
              <a:rPr lang="en-US" altLang="zh-CN" sz="2400" dirty="0" smtClean="0"/>
              <a:t> /</a:t>
            </a:r>
            <a:r>
              <a:rPr lang="en-US" altLang="zh-CN" sz="2400" dirty="0" err="1" smtClean="0"/>
              <a:t>tmp</a:t>
            </a:r>
            <a:r>
              <a:rPr lang="en-US" altLang="zh-CN" sz="2400" dirty="0" smtClean="0"/>
              <a:t>/</a:t>
            </a:r>
          </a:p>
          <a:p>
            <a:pPr lvl="1"/>
            <a:r>
              <a:rPr lang="zh-CN" altLang="en-US" sz="2400" dirty="0"/>
              <a:t>等</a:t>
            </a:r>
            <a:endParaRPr lang="en-US" altLang="zh-CN" sz="2400" dirty="0" smtClean="0"/>
          </a:p>
          <a:p>
            <a:pPr lvl="1"/>
            <a:endParaRPr lang="en-US" altLang="zh-CN" sz="24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385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200" b="1" dirty="0" smtClean="0">
                <a:latin typeface="宋体" panose="02010600030101010101" pitchFamily="2" charset="-122"/>
              </a:rPr>
              <a:t>存储方式</a:t>
            </a:r>
            <a:endParaRPr lang="en-US" altLang="zh-CN" sz="3200" b="1" dirty="0">
              <a:latin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概述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行存储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列存储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对比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351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 smtClean="0"/>
              <a:t>存储方式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概述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712" y="1096270"/>
            <a:ext cx="6931496" cy="5645097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大数据文件存储格式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200" dirty="0" smtClean="0">
                <a:latin typeface="+mn-ea"/>
              </a:rPr>
              <a:t>面向行</a:t>
            </a:r>
            <a:r>
              <a:rPr lang="zh-CN" altLang="en-US" sz="2200" dirty="0"/>
              <a:t>（</a:t>
            </a:r>
            <a:r>
              <a:rPr lang="en-US" altLang="zh-CN" sz="2200" dirty="0"/>
              <a:t>Row-Based</a:t>
            </a:r>
            <a:r>
              <a:rPr lang="zh-CN" altLang="en-US" sz="2200" dirty="0"/>
              <a:t>）</a:t>
            </a:r>
            <a:r>
              <a:rPr lang="zh-CN" altLang="en-US" sz="2200" dirty="0" smtClean="0">
                <a:latin typeface="+mn-ea"/>
              </a:rPr>
              <a:t>存储</a:t>
            </a:r>
            <a:endParaRPr lang="en-US" altLang="zh-CN" sz="2200" dirty="0" smtClean="0">
              <a:latin typeface="+mn-ea"/>
            </a:endParaRPr>
          </a:p>
          <a:p>
            <a:pPr lvl="1"/>
            <a:r>
              <a:rPr lang="zh-CN" altLang="en-US" sz="2200" dirty="0" smtClean="0">
                <a:latin typeface="+mn-ea"/>
              </a:rPr>
              <a:t>面向列</a:t>
            </a:r>
            <a:r>
              <a:rPr lang="zh-CN" altLang="en-US" sz="2200" dirty="0"/>
              <a:t>（</a:t>
            </a:r>
            <a:r>
              <a:rPr lang="en-US" altLang="zh-CN" sz="2200" dirty="0"/>
              <a:t>Column-Based</a:t>
            </a:r>
            <a:r>
              <a:rPr lang="zh-CN" altLang="en-US" sz="2200" dirty="0"/>
              <a:t>）</a:t>
            </a:r>
            <a:r>
              <a:rPr lang="zh-CN" altLang="en-US" sz="2200" dirty="0" smtClean="0">
                <a:latin typeface="+mn-ea"/>
              </a:rPr>
              <a:t>存储</a:t>
            </a:r>
            <a:endParaRPr lang="en-US" altLang="zh-CN" sz="2200" dirty="0" smtClean="0">
              <a:latin typeface="+mn-ea"/>
            </a:endParaRPr>
          </a:p>
          <a:p>
            <a:pPr lvl="1"/>
            <a:r>
              <a:rPr lang="zh-CN" altLang="en-US" sz="2200" dirty="0" smtClean="0">
                <a:latin typeface="+mn-ea"/>
              </a:rPr>
              <a:t>混合存储</a:t>
            </a:r>
            <a:endParaRPr lang="en-US" altLang="zh-CN" sz="2200" dirty="0" smtClean="0">
              <a:latin typeface="+mn-ea"/>
            </a:endParaRPr>
          </a:p>
          <a:p>
            <a:pPr lvl="1"/>
            <a:endParaRPr lang="en-US" altLang="zh-CN" sz="2400" b="1" dirty="0" smtClean="0">
              <a:latin typeface="+mn-ea"/>
            </a:endParaRPr>
          </a:p>
          <a:p>
            <a:r>
              <a:rPr lang="zh-CN" altLang="en-US" sz="2800" b="1" dirty="0" smtClean="0">
                <a:latin typeface="+mn-ea"/>
              </a:rPr>
              <a:t>选择焦点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400" b="1" dirty="0">
                <a:latin typeface="+mn-ea"/>
              </a:rPr>
              <a:t>更</a:t>
            </a:r>
            <a:r>
              <a:rPr lang="zh-CN" altLang="en-US" sz="2400" b="1" dirty="0" smtClean="0">
                <a:latin typeface="+mn-ea"/>
              </a:rPr>
              <a:t>有效处理海量数据，存储量要求</a:t>
            </a:r>
            <a:endParaRPr lang="en-US" altLang="zh-CN" sz="2400" b="1" dirty="0" smtClean="0">
              <a:latin typeface="+mn-ea"/>
            </a:endParaRPr>
          </a:p>
          <a:p>
            <a:pPr lvl="1"/>
            <a:r>
              <a:rPr lang="zh-CN" altLang="en-US" sz="2400" b="1" dirty="0" smtClean="0">
                <a:latin typeface="+mn-ea"/>
              </a:rPr>
              <a:t>安全、可靠、完整性</a:t>
            </a:r>
            <a:endParaRPr lang="en-US" altLang="zh-CN" sz="2400" b="1" dirty="0" smtClean="0">
              <a:latin typeface="+mn-ea"/>
            </a:endParaRPr>
          </a:p>
          <a:p>
            <a:pPr lvl="1"/>
            <a:r>
              <a:rPr lang="zh-CN" altLang="en-US" sz="2400" b="1" dirty="0">
                <a:latin typeface="+mn-ea"/>
              </a:rPr>
              <a:t>更适合</a:t>
            </a:r>
            <a:r>
              <a:rPr lang="zh-CN" altLang="en-US" sz="2400" b="1" dirty="0" smtClean="0">
                <a:latin typeface="+mn-ea"/>
              </a:rPr>
              <a:t>存储</a:t>
            </a:r>
            <a:r>
              <a:rPr lang="zh-CN" altLang="en-US" sz="2400" b="1" dirty="0">
                <a:latin typeface="+mn-ea"/>
              </a:rPr>
              <a:t>、压缩、读取、</a:t>
            </a:r>
            <a:r>
              <a:rPr lang="zh-CN" altLang="en-US" sz="2400" b="1" dirty="0" smtClean="0">
                <a:latin typeface="+mn-ea"/>
              </a:rPr>
              <a:t>查询，节约存储，保证效率</a:t>
            </a:r>
            <a:r>
              <a:rPr lang="zh-CN" altLang="en-US" sz="2400" b="1" dirty="0">
                <a:latin typeface="+mn-ea"/>
              </a:rPr>
              <a:t>等</a:t>
            </a:r>
            <a:endParaRPr lang="en-US" altLang="zh-CN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001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 smtClean="0"/>
              <a:t>存储方式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 smtClean="0"/>
              <a:t>行存储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712" y="1096270"/>
            <a:ext cx="6931496" cy="5645097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行存储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200" dirty="0"/>
              <a:t>同一行的数据存储在一起，即连续</a:t>
            </a:r>
            <a:r>
              <a:rPr lang="zh-CN" altLang="en-US" sz="2200" dirty="0" smtClean="0"/>
              <a:t>存储</a:t>
            </a:r>
            <a:endParaRPr lang="en-US" altLang="zh-CN" sz="2200" dirty="0" smtClean="0"/>
          </a:p>
          <a:p>
            <a:pPr lvl="1"/>
            <a:r>
              <a:rPr lang="zh-CN" altLang="en-US" sz="2200" dirty="0"/>
              <a:t>如果只需要访问行的一小部分数据，亦需要将整行读入</a:t>
            </a:r>
            <a:r>
              <a:rPr lang="zh-CN" altLang="en-US" sz="2200" dirty="0" smtClean="0"/>
              <a:t>内存</a:t>
            </a:r>
            <a:endParaRPr lang="en-US" altLang="zh-CN" sz="2200" dirty="0" smtClean="0"/>
          </a:p>
          <a:p>
            <a:pPr lvl="1"/>
            <a:r>
              <a:rPr lang="zh-CN" altLang="en-US" sz="2200" dirty="0"/>
              <a:t>面向行的存储适合于整行数据需要同时处理的情况。</a:t>
            </a:r>
            <a:endParaRPr lang="en-US" altLang="zh-CN" sz="2200" b="1" dirty="0" smtClean="0">
              <a:latin typeface="+mn-ea"/>
            </a:endParaRPr>
          </a:p>
          <a:p>
            <a:pPr marL="0" indent="0">
              <a:buNone/>
            </a:pPr>
            <a:endParaRPr lang="en-US" altLang="zh-CN" sz="2800" b="1" dirty="0" smtClean="0">
              <a:latin typeface="+mn-ea"/>
            </a:endParaRPr>
          </a:p>
          <a:p>
            <a:r>
              <a:rPr lang="zh-CN" altLang="en-US" sz="2800" b="1" dirty="0" smtClean="0">
                <a:latin typeface="+mn-ea"/>
              </a:rPr>
              <a:t>举例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en-US" altLang="zh-CN" sz="2000" dirty="0" err="1" smtClean="0"/>
              <a:t>SequenceFile</a:t>
            </a:r>
            <a:r>
              <a:rPr lang="zh-CN" altLang="en-US" sz="2000" dirty="0" smtClean="0"/>
              <a:t>文件</a:t>
            </a:r>
            <a:endParaRPr lang="en-US" altLang="zh-CN" sz="2000" dirty="0" smtClean="0"/>
          </a:p>
          <a:p>
            <a:pPr marL="857250" lvl="2" indent="0">
              <a:buNone/>
            </a:pPr>
            <a:r>
              <a:rPr lang="en-US" altLang="zh-CN" sz="1600" dirty="0" smtClean="0">
                <a:hlinkClick r:id="rId3"/>
              </a:rPr>
              <a:t>https</a:t>
            </a:r>
            <a:r>
              <a:rPr lang="en-US" altLang="zh-CN" sz="1600" dirty="0">
                <a:hlinkClick r:id="rId3"/>
              </a:rPr>
              <a:t>://blog.csdn.net/en_joker/article/details/79648861</a:t>
            </a:r>
            <a:endParaRPr lang="en-US" altLang="zh-CN" sz="1600" dirty="0" smtClean="0"/>
          </a:p>
          <a:p>
            <a:pPr lvl="1"/>
            <a:r>
              <a:rPr lang="en-US" altLang="zh-CN" sz="2000" dirty="0" err="1" smtClean="0"/>
              <a:t>MapFile</a:t>
            </a:r>
            <a:r>
              <a:rPr lang="zh-CN" altLang="en-US" sz="2000" dirty="0" smtClean="0"/>
              <a:t>文件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Avro </a:t>
            </a:r>
            <a:r>
              <a:rPr lang="en-US" altLang="zh-CN" sz="2000" dirty="0" err="1" smtClean="0"/>
              <a:t>Datafile</a:t>
            </a:r>
            <a:endParaRPr lang="en-US" altLang="zh-CN" sz="2000" dirty="0" smtClean="0"/>
          </a:p>
          <a:p>
            <a:pPr marL="857250" lvl="2" indent="0">
              <a:buNone/>
            </a:pPr>
            <a:r>
              <a:rPr lang="en-US" altLang="zh-CN" sz="1600" dirty="0" smtClean="0">
                <a:hlinkClick r:id="rId4"/>
              </a:rPr>
              <a:t>https://stackoverflow.com/questions/24236803/difference-between-avrodata-file-and-sequence-file-with-respect-to-apache-sqoop</a:t>
            </a:r>
            <a:endParaRPr lang="en-US" altLang="zh-CN" sz="16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913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 smtClean="0"/>
              <a:t>存储方式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/>
              <a:t>列</a:t>
            </a:r>
            <a:r>
              <a:rPr lang="zh-CN" altLang="en-US" sz="3200" b="1" dirty="0" smtClean="0"/>
              <a:t>存储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712" y="1051775"/>
            <a:ext cx="6931496" cy="5645097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n-ea"/>
              </a:rPr>
              <a:t>列</a:t>
            </a:r>
            <a:r>
              <a:rPr lang="zh-CN" altLang="en-US" sz="2800" b="1" dirty="0" smtClean="0">
                <a:latin typeface="+mn-ea"/>
              </a:rPr>
              <a:t>存储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/>
              <a:t>整个文件被切割为若干列数据，每一列数据一起</a:t>
            </a:r>
            <a:r>
              <a:rPr lang="zh-CN" altLang="en-US" sz="2000" dirty="0" smtClean="0"/>
              <a:t>存储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面向列的格式使得读取数据时，可以跳过不需要的列，适合于只处于行的一小部分字段的</a:t>
            </a:r>
            <a:r>
              <a:rPr lang="zh-CN" altLang="en-US" sz="2000" dirty="0" smtClean="0"/>
              <a:t>情况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读写需要更多的内存空间，因为需要缓存行在内存中（为了获取多行中的某一列</a:t>
            </a:r>
            <a:r>
              <a:rPr lang="zh-CN" altLang="en-US" sz="2000" dirty="0" smtClean="0"/>
              <a:t>）</a:t>
            </a:r>
            <a:endParaRPr lang="en-US" altLang="zh-CN" sz="2000" b="1" dirty="0">
              <a:latin typeface="+mn-ea"/>
            </a:endParaRPr>
          </a:p>
          <a:p>
            <a:pPr lvl="1"/>
            <a:r>
              <a:rPr lang="zh-CN" altLang="en-US" sz="2000" dirty="0"/>
              <a:t>不适合流式写入，因为一旦写入失败，当前文件无法恢复，而面向行的数据在写入失败时可以重新同步到最后一个同步点，所以</a:t>
            </a:r>
            <a:r>
              <a:rPr lang="en-US" altLang="zh-CN" sz="2000" dirty="0"/>
              <a:t>Flume</a:t>
            </a:r>
            <a:r>
              <a:rPr lang="zh-CN" altLang="en-US" sz="2000" dirty="0"/>
              <a:t>采用的是面向行的存储格式</a:t>
            </a:r>
            <a:r>
              <a:rPr lang="zh-CN" altLang="en-US" sz="2000" dirty="0" smtClean="0"/>
              <a:t>。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800" b="1" dirty="0" smtClean="0">
                <a:latin typeface="+mn-ea"/>
              </a:rPr>
              <a:t>举例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en-US" altLang="zh-CN" sz="2000" dirty="0" err="1" smtClean="0"/>
              <a:t>ORCFile</a:t>
            </a:r>
            <a:endParaRPr lang="en-US" altLang="zh-CN" sz="2000" dirty="0" smtClean="0"/>
          </a:p>
          <a:p>
            <a:pPr marL="914400" lvl="2" indent="0">
              <a:buNone/>
            </a:pPr>
            <a:r>
              <a:rPr lang="en-US" altLang="zh-CN" sz="1600" dirty="0">
                <a:hlinkClick r:id="rId3"/>
              </a:rPr>
              <a:t>https://www.cnblogs.com/ITtangtang/p/7677912.html</a:t>
            </a:r>
            <a:endParaRPr lang="en-US" altLang="zh-CN" sz="1600" dirty="0" smtClean="0"/>
          </a:p>
          <a:p>
            <a:pPr lvl="1"/>
            <a:r>
              <a:rPr lang="en-US" altLang="zh-CN" sz="2000" dirty="0" smtClean="0"/>
              <a:t>Parquet</a:t>
            </a:r>
          </a:p>
          <a:p>
            <a:pPr marL="914400" lvl="2" indent="0">
              <a:buNone/>
            </a:pPr>
            <a:r>
              <a:rPr lang="en-US" altLang="zh-CN" sz="1600" dirty="0">
                <a:hlinkClick r:id="rId4"/>
              </a:rPr>
              <a:t>https://</a:t>
            </a:r>
            <a:r>
              <a:rPr lang="en-US" altLang="zh-CN" sz="1600" dirty="0" smtClean="0">
                <a:hlinkClick r:id="rId4"/>
              </a:rPr>
              <a:t>www.cnblogs.com/ITtangtang/p/7681019.html</a:t>
            </a:r>
            <a:endParaRPr lang="en-US" altLang="zh-CN" sz="1600" dirty="0" smtClean="0"/>
          </a:p>
          <a:p>
            <a:pPr marL="914400" lvl="2" indent="0">
              <a:buNone/>
            </a:pPr>
            <a:r>
              <a:rPr lang="en-US" altLang="zh-CN" sz="1600" dirty="0">
                <a:hlinkClick r:id="rId5"/>
              </a:rPr>
              <a:t>https://blog.csdn.net/colorant/article/details/53699822</a:t>
            </a:r>
            <a:endParaRPr lang="en-US" altLang="zh-CN" sz="1600" dirty="0"/>
          </a:p>
          <a:p>
            <a:pPr marL="457200" lvl="1" indent="0">
              <a:buNone/>
            </a:pPr>
            <a:endParaRPr lang="en-US" altLang="zh-CN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662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 smtClean="0"/>
              <a:t>存储方式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/>
              <a:t>对比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b="37836"/>
          <a:stretch/>
        </p:blipFill>
        <p:spPr>
          <a:xfrm>
            <a:off x="2627784" y="908720"/>
            <a:ext cx="5797022" cy="26642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r="2133"/>
          <a:stretch/>
        </p:blipFill>
        <p:spPr>
          <a:xfrm>
            <a:off x="2638612" y="4736056"/>
            <a:ext cx="5779371" cy="70614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t="77345" b="-866"/>
          <a:stretch/>
        </p:blipFill>
        <p:spPr>
          <a:xfrm>
            <a:off x="2627784" y="3698745"/>
            <a:ext cx="5797022" cy="100811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l="4015" t="6487" r="1161"/>
          <a:stretch/>
        </p:blipFill>
        <p:spPr>
          <a:xfrm>
            <a:off x="2627784" y="5301208"/>
            <a:ext cx="5761248" cy="103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4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 smtClean="0"/>
              <a:t>存储方式</a:t>
            </a:r>
            <a:r>
              <a:rPr lang="en-US" altLang="zh-CN" sz="3200" b="1" dirty="0" smtClean="0"/>
              <a:t>——</a:t>
            </a:r>
            <a:r>
              <a:rPr lang="zh-CN" altLang="en-US" sz="3200" b="1" dirty="0"/>
              <a:t>对比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9712" y="1096270"/>
            <a:ext cx="6931496" cy="5645097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行存储的优点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 smtClean="0">
                <a:latin typeface="+mn-ea"/>
              </a:rPr>
              <a:t>一次性完成，</a:t>
            </a:r>
            <a:r>
              <a:rPr lang="zh-CN" altLang="en-US" sz="2000" dirty="0"/>
              <a:t>消耗的时间比列存储</a:t>
            </a:r>
            <a:r>
              <a:rPr lang="zh-CN" altLang="en-US" sz="2000" dirty="0" smtClean="0"/>
              <a:t>少</a:t>
            </a:r>
            <a:endParaRPr lang="en-US" altLang="zh-CN" sz="2000" dirty="0"/>
          </a:p>
          <a:p>
            <a:pPr lvl="1"/>
            <a:r>
              <a:rPr lang="zh-CN" altLang="en-US" sz="2000" dirty="0" smtClean="0"/>
              <a:t>能够</a:t>
            </a:r>
            <a:r>
              <a:rPr lang="zh-CN" altLang="en-US" sz="2000" dirty="0"/>
              <a:t>保证数据的</a:t>
            </a:r>
            <a:r>
              <a:rPr lang="zh-CN" altLang="en-US" sz="2000" dirty="0" smtClean="0"/>
              <a:t>完整性</a:t>
            </a:r>
            <a:endParaRPr lang="en-US" altLang="zh-CN" sz="2000" dirty="0" smtClean="0"/>
          </a:p>
          <a:p>
            <a:pPr lvl="1"/>
            <a:endParaRPr lang="en-US" altLang="zh-CN" sz="2000" dirty="0" smtClean="0">
              <a:latin typeface="+mn-ea"/>
            </a:endParaRPr>
          </a:p>
          <a:p>
            <a:r>
              <a:rPr lang="zh-CN" altLang="en-US" sz="2800" b="1" dirty="0" smtClean="0">
                <a:latin typeface="+mn-ea"/>
              </a:rPr>
              <a:t>列存储的优点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/>
              <a:t>可以跳过不符合条件的数据，只读取需要的数据，降低</a:t>
            </a:r>
            <a:r>
              <a:rPr lang="en-US" altLang="zh-CN" sz="2000" dirty="0"/>
              <a:t>IO</a:t>
            </a:r>
            <a:r>
              <a:rPr lang="zh-CN" altLang="en-US" sz="2000" dirty="0"/>
              <a:t>数据</a:t>
            </a:r>
            <a:r>
              <a:rPr lang="zh-CN" altLang="en-US" sz="2000" dirty="0" smtClean="0"/>
              <a:t>量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压缩</a:t>
            </a:r>
            <a:r>
              <a:rPr lang="zh-CN" altLang="en-US" sz="2000" dirty="0"/>
              <a:t>编码可以降低磁盘存储空间。由于同一列的数据类型是一样的</a:t>
            </a:r>
            <a:r>
              <a:rPr lang="zh-CN" altLang="en-US" sz="2000" dirty="0" smtClean="0"/>
              <a:t>，因此可以</a:t>
            </a:r>
            <a:r>
              <a:rPr lang="zh-CN" altLang="en-US" sz="2000" dirty="0"/>
              <a:t>使用更高效的</a:t>
            </a:r>
            <a:r>
              <a:rPr lang="zh-CN" altLang="en-US" sz="2000" dirty="0" smtClean="0"/>
              <a:t>压缩算法，进一步</a:t>
            </a:r>
            <a:r>
              <a:rPr lang="zh-CN" altLang="en-US" sz="2000" dirty="0"/>
              <a:t>节约</a:t>
            </a:r>
            <a:r>
              <a:rPr lang="zh-CN" altLang="en-US" sz="2000" dirty="0" smtClean="0"/>
              <a:t>存储空间。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只</a:t>
            </a:r>
            <a:r>
              <a:rPr lang="zh-CN" altLang="en-US" sz="2000" dirty="0"/>
              <a:t>读取需要的列</a:t>
            </a:r>
            <a:r>
              <a:rPr lang="zh-CN" altLang="en-US" sz="2000" dirty="0" smtClean="0"/>
              <a:t>，不用全表扫描，不会产生冗余数据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支持</a:t>
            </a:r>
            <a:r>
              <a:rPr lang="zh-CN" altLang="en-US" sz="2000" dirty="0"/>
              <a:t>向量运算，能够获取更好的扫描</a:t>
            </a:r>
            <a:r>
              <a:rPr lang="zh-CN" altLang="en-US" sz="2000" dirty="0" smtClean="0"/>
              <a:t>性能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384051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188640"/>
            <a:ext cx="6900862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200" b="1" dirty="0" smtClean="0">
                <a:latin typeface="宋体" panose="02010600030101010101" pitchFamily="2" charset="-122"/>
              </a:rPr>
              <a:t>数据仓库及</a:t>
            </a:r>
            <a:r>
              <a:rPr lang="en-US" altLang="zh-CN" sz="3200" b="1" dirty="0">
                <a:latin typeface="宋体" panose="02010600030101010101" pitchFamily="2" charset="-122"/>
              </a:rPr>
              <a:t>H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ive</a:t>
            </a:r>
            <a:endParaRPr lang="en-US" altLang="zh-CN" sz="3200" b="1" dirty="0">
              <a:latin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785938" y="1412776"/>
            <a:ext cx="6900862" cy="468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数据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仓库简介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数据仓库基本架构</a:t>
            </a:r>
            <a:endParaRPr lang="en-US" altLang="zh-CN" sz="2800" b="1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宋体" panose="02010600030101010101" pitchFamily="2" charset="-122"/>
              </a:rPr>
              <a:t>Hive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971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数据仓库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530552"/>
          </a:xfrm>
        </p:spPr>
        <p:txBody>
          <a:bodyPr>
            <a:normAutofit lnSpcReduction="10000"/>
          </a:bodyPr>
          <a:lstStyle/>
          <a:p>
            <a:r>
              <a:rPr lang="zh-CN" altLang="en-US" sz="2400" b="1" dirty="0" smtClean="0">
                <a:latin typeface="+mn-ea"/>
              </a:rPr>
              <a:t>什么是数据仓库</a:t>
            </a:r>
            <a:endParaRPr lang="en-US" altLang="zh-CN" sz="2400" b="1" dirty="0" smtClean="0">
              <a:latin typeface="+mn-ea"/>
            </a:endParaRPr>
          </a:p>
          <a:p>
            <a:pPr lvl="1"/>
            <a:r>
              <a:rPr lang="zh-CN" altLang="en-US" sz="2000" dirty="0"/>
              <a:t>数据仓库是一个面向主题的、集成的、随时间变化的、非易失的数据集合，用于支 持管理者的决策过程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/>
            <a:endParaRPr lang="en-US" altLang="zh-CN" sz="2000" dirty="0" smtClean="0"/>
          </a:p>
          <a:p>
            <a:r>
              <a:rPr lang="zh-CN" altLang="en-US" sz="2400" b="1" dirty="0">
                <a:latin typeface="+mn-ea"/>
              </a:rPr>
              <a:t>特点</a:t>
            </a:r>
            <a:endParaRPr lang="en-US" altLang="zh-CN" sz="2400" b="1" dirty="0">
              <a:latin typeface="+mn-ea"/>
            </a:endParaRPr>
          </a:p>
          <a:p>
            <a:pPr lvl="1"/>
            <a:r>
              <a:rPr lang="zh-CN" altLang="en-US" sz="2000" b="1" dirty="0" smtClean="0">
                <a:latin typeface="+mn-ea"/>
              </a:rPr>
              <a:t>面向主题</a:t>
            </a:r>
            <a:endParaRPr lang="en-US" altLang="zh-CN" sz="2000" b="1" dirty="0" smtClean="0">
              <a:latin typeface="+mn-ea"/>
            </a:endParaRPr>
          </a:p>
          <a:p>
            <a:pPr lvl="2"/>
            <a:r>
              <a:rPr lang="zh-CN" altLang="en-US" sz="1600" dirty="0" smtClean="0">
                <a:latin typeface="+mn-ea"/>
              </a:rPr>
              <a:t>系统业务级别主题</a:t>
            </a:r>
            <a:endParaRPr lang="en-US" altLang="zh-CN" sz="1600" dirty="0" smtClean="0">
              <a:latin typeface="+mn-ea"/>
            </a:endParaRPr>
          </a:p>
          <a:p>
            <a:pPr lvl="2"/>
            <a:r>
              <a:rPr lang="zh-CN" altLang="en-US" sz="1600" dirty="0">
                <a:latin typeface="+mn-ea"/>
              </a:rPr>
              <a:t>决策</a:t>
            </a:r>
            <a:r>
              <a:rPr lang="zh-CN" altLang="en-US" sz="1600" dirty="0" smtClean="0">
                <a:latin typeface="+mn-ea"/>
              </a:rPr>
              <a:t>时关心的重点方面</a:t>
            </a:r>
            <a:endParaRPr lang="en-US" altLang="zh-CN" sz="1600" dirty="0" smtClean="0">
              <a:latin typeface="+mn-ea"/>
            </a:endParaRPr>
          </a:p>
          <a:p>
            <a:pPr lvl="1"/>
            <a:r>
              <a:rPr lang="zh-CN" altLang="en-US" sz="2000" b="1" dirty="0">
                <a:latin typeface="+mn-ea"/>
              </a:rPr>
              <a:t>集成</a:t>
            </a:r>
            <a:endParaRPr lang="en-US" altLang="zh-CN" sz="2000" b="1" dirty="0">
              <a:latin typeface="+mn-ea"/>
            </a:endParaRPr>
          </a:p>
          <a:p>
            <a:pPr lvl="2"/>
            <a:r>
              <a:rPr lang="zh-CN" altLang="en-US" sz="1600" dirty="0">
                <a:latin typeface="+mn-ea"/>
              </a:rPr>
              <a:t>多</a:t>
            </a:r>
            <a:r>
              <a:rPr lang="zh-CN" altLang="en-US" sz="1600" dirty="0" smtClean="0">
                <a:latin typeface="+mn-ea"/>
              </a:rPr>
              <a:t>个异构数据源</a:t>
            </a:r>
            <a:endParaRPr lang="en-US" altLang="zh-CN" sz="1600" dirty="0" smtClean="0">
              <a:latin typeface="+mn-ea"/>
            </a:endParaRPr>
          </a:p>
          <a:p>
            <a:pPr lvl="2"/>
            <a:r>
              <a:rPr lang="zh-CN" altLang="en-US" sz="1600" dirty="0" smtClean="0">
                <a:latin typeface="+mn-ea"/>
              </a:rPr>
              <a:t>经过</a:t>
            </a:r>
            <a:r>
              <a:rPr lang="en-US" altLang="zh-CN" sz="1600" dirty="0" smtClean="0">
                <a:latin typeface="+mn-ea"/>
              </a:rPr>
              <a:t>ETL</a:t>
            </a:r>
            <a:r>
              <a:rPr lang="zh-CN" altLang="en-US" sz="1600" dirty="0" smtClean="0">
                <a:latin typeface="+mn-ea"/>
              </a:rPr>
              <a:t>处理</a:t>
            </a:r>
            <a:endParaRPr lang="en-US" altLang="zh-CN" sz="1600" dirty="0" smtClean="0">
              <a:latin typeface="+mn-ea"/>
            </a:endParaRPr>
          </a:p>
          <a:p>
            <a:pPr lvl="1"/>
            <a:r>
              <a:rPr lang="zh-CN" altLang="en-US" sz="2000" b="1" dirty="0">
                <a:latin typeface="+mn-ea"/>
              </a:rPr>
              <a:t>随时间变化</a:t>
            </a:r>
            <a:endParaRPr lang="en-US" altLang="zh-CN" sz="2000" b="1" dirty="0">
              <a:latin typeface="+mn-ea"/>
            </a:endParaRPr>
          </a:p>
          <a:p>
            <a:pPr lvl="2"/>
            <a:r>
              <a:rPr lang="zh-CN" altLang="en-US" sz="1600" dirty="0"/>
              <a:t>历史操作数据周期性迁移至数仓 </a:t>
            </a:r>
            <a:endParaRPr lang="en-US" altLang="zh-CN" sz="1600" dirty="0" smtClean="0"/>
          </a:p>
          <a:p>
            <a:pPr lvl="2"/>
            <a:r>
              <a:rPr lang="zh-CN" altLang="en-US" sz="1600" dirty="0" smtClean="0"/>
              <a:t>反映</a:t>
            </a:r>
            <a:r>
              <a:rPr lang="zh-CN" altLang="en-US" sz="1600" dirty="0"/>
              <a:t>了某一历史时间点的数据快照</a:t>
            </a:r>
            <a:endParaRPr lang="en-US" altLang="zh-CN" sz="1600" dirty="0" smtClean="0">
              <a:latin typeface="+mn-ea"/>
            </a:endParaRPr>
          </a:p>
          <a:p>
            <a:pPr lvl="1"/>
            <a:r>
              <a:rPr lang="zh-CN" altLang="en-US" sz="2000" b="1" dirty="0">
                <a:latin typeface="+mn-ea"/>
              </a:rPr>
              <a:t>非易失</a:t>
            </a:r>
            <a:endParaRPr lang="en-US" altLang="zh-CN" sz="2000" b="1" dirty="0">
              <a:latin typeface="+mn-ea"/>
            </a:endParaRPr>
          </a:p>
          <a:p>
            <a:pPr lvl="2"/>
            <a:r>
              <a:rPr lang="zh-CN" altLang="en-US" sz="1600" dirty="0"/>
              <a:t>一旦进入数仓，数据就不应再有改变 </a:t>
            </a:r>
            <a:endParaRPr lang="en-US" altLang="zh-CN" sz="1600" dirty="0"/>
          </a:p>
          <a:p>
            <a:pPr lvl="2"/>
            <a:r>
              <a:rPr lang="zh-CN" altLang="en-US" sz="1600" dirty="0" smtClean="0"/>
              <a:t>保留</a:t>
            </a:r>
            <a:r>
              <a:rPr lang="zh-CN" altLang="en-US" sz="1600" dirty="0"/>
              <a:t>数据变化的历史轨迹</a:t>
            </a:r>
            <a:endParaRPr lang="en-US" altLang="zh-CN" sz="1600" dirty="0" smtClean="0">
              <a:latin typeface="+mn-ea"/>
            </a:endParaRPr>
          </a:p>
          <a:p>
            <a:pPr lvl="1"/>
            <a:endParaRPr lang="en-US" altLang="zh-CN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840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数据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仓库基本架构</a:t>
            </a:r>
            <a:endParaRPr lang="zh-CN" altLang="en-US" sz="32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2204864"/>
            <a:ext cx="7175527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4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数据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仓库基本架构</a:t>
            </a:r>
            <a:endParaRPr lang="zh-CN" altLang="en-US" sz="3200" b="1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907704" y="1124744"/>
            <a:ext cx="6931496" cy="5472608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缓冲层（数据接入层） </a:t>
            </a:r>
            <a:endParaRPr lang="en-US" altLang="zh-CN" sz="2800" b="1" dirty="0" smtClean="0"/>
          </a:p>
          <a:p>
            <a:pPr lvl="1"/>
            <a:r>
              <a:rPr lang="en-US" altLang="zh-CN" sz="2400" dirty="0" smtClean="0"/>
              <a:t> </a:t>
            </a:r>
            <a:r>
              <a:rPr lang="zh-CN" altLang="en-US" sz="2400" dirty="0"/>
              <a:t>概念 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业务</a:t>
            </a:r>
            <a:r>
              <a:rPr lang="zh-CN" altLang="en-US" sz="2000" dirty="0"/>
              <a:t>系统与</a:t>
            </a:r>
            <a:r>
              <a:rPr lang="en-US" altLang="zh-CN" sz="2000" dirty="0"/>
              <a:t>ODS</a:t>
            </a:r>
            <a:r>
              <a:rPr lang="zh-CN" altLang="en-US" sz="2000" dirty="0"/>
              <a:t>层之间的临时缓冲区，用于临时接入业务系统的原始细节数据 </a:t>
            </a:r>
            <a:endParaRPr lang="en-US" altLang="zh-CN" sz="2000" dirty="0"/>
          </a:p>
          <a:p>
            <a:pPr lvl="2"/>
            <a:r>
              <a:rPr lang="zh-CN" altLang="en-US" sz="2000" dirty="0" smtClean="0"/>
              <a:t>是否</a:t>
            </a:r>
            <a:r>
              <a:rPr lang="zh-CN" altLang="en-US" sz="2000" dirty="0"/>
              <a:t>设立缓冲层，视情况而定 </a:t>
            </a:r>
            <a:endParaRPr lang="en-US" altLang="zh-CN" sz="2000" dirty="0" smtClean="0"/>
          </a:p>
          <a:p>
            <a:pPr lvl="1"/>
            <a:r>
              <a:rPr lang="zh-CN" altLang="en-US" sz="2400" dirty="0" smtClean="0"/>
              <a:t>数据 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细粒度</a:t>
            </a:r>
            <a:r>
              <a:rPr lang="zh-CN" altLang="en-US" sz="2000" dirty="0"/>
              <a:t>：与业务系统保持一致的原始细节数据，不做任何处理 </a:t>
            </a:r>
            <a:endParaRPr lang="en-US" altLang="zh-CN" sz="2000" dirty="0"/>
          </a:p>
          <a:p>
            <a:pPr lvl="2"/>
            <a:r>
              <a:rPr lang="zh-CN" altLang="en-US" sz="2000" dirty="0" smtClean="0"/>
              <a:t>有效期</a:t>
            </a:r>
            <a:r>
              <a:rPr lang="zh-CN" altLang="en-US" sz="2000" dirty="0"/>
              <a:t>：临时（</a:t>
            </a:r>
            <a:r>
              <a:rPr lang="en-US" altLang="zh-CN" sz="2000" dirty="0"/>
              <a:t>1~2</a:t>
            </a:r>
            <a:r>
              <a:rPr lang="zh-CN" altLang="en-US" sz="2000" dirty="0"/>
              <a:t>天），并定期清除 </a:t>
            </a:r>
            <a:endParaRPr lang="en-US" altLang="zh-CN" sz="2000" dirty="0" smtClean="0"/>
          </a:p>
          <a:p>
            <a:pPr lvl="1"/>
            <a:r>
              <a:rPr lang="zh-CN" altLang="en-US" sz="2400" dirty="0" smtClean="0"/>
              <a:t>作用 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当</a:t>
            </a:r>
            <a:r>
              <a:rPr lang="en-US" altLang="zh-CN" sz="2000" dirty="0"/>
              <a:t>ODS</a:t>
            </a:r>
            <a:r>
              <a:rPr lang="zh-CN" altLang="en-US" sz="2000" dirty="0"/>
              <a:t>层需做简单清洗，且数据导入速度较快时，缓冲层用于临时性地快速接收业务数据</a:t>
            </a:r>
            <a:endParaRPr lang="en-US" altLang="zh-CN" sz="2000" b="1" dirty="0" smtClean="0">
              <a:latin typeface="+mn-ea"/>
            </a:endParaRPr>
          </a:p>
          <a:p>
            <a:pPr lvl="1"/>
            <a:endParaRPr lang="en-US" altLang="zh-CN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012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数据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仓库基本架构</a:t>
            </a:r>
            <a:endParaRPr lang="zh-CN" altLang="en-US" sz="3200" b="1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674568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sz="2800" b="1" dirty="0" smtClean="0"/>
              <a:t>ODS</a:t>
            </a:r>
            <a:r>
              <a:rPr lang="zh-CN" altLang="en-US" sz="2800" b="1" dirty="0"/>
              <a:t>层（贴源层） </a:t>
            </a:r>
            <a:endParaRPr lang="en-US" altLang="zh-CN" sz="2800" b="1" dirty="0" smtClean="0"/>
          </a:p>
          <a:p>
            <a:pPr lvl="1"/>
            <a:r>
              <a:rPr lang="en-US" altLang="zh-CN" sz="2400" dirty="0" smtClean="0"/>
              <a:t> </a:t>
            </a:r>
            <a:r>
              <a:rPr lang="zh-CN" altLang="en-US" sz="2400" dirty="0" smtClean="0"/>
              <a:t>概念 </a:t>
            </a:r>
            <a:endParaRPr lang="en-US" altLang="zh-CN" sz="2400" dirty="0" smtClean="0"/>
          </a:p>
          <a:p>
            <a:pPr lvl="2"/>
            <a:r>
              <a:rPr lang="en-US" altLang="zh-CN" sz="2000" dirty="0" smtClean="0"/>
              <a:t>ODS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Operational Data Store</a:t>
            </a:r>
            <a:r>
              <a:rPr lang="zh-CN" altLang="en-US" sz="2000" dirty="0" smtClean="0"/>
              <a:t>，操作数据存储，一个面向主题的、集成的、可变的、当前的细节数据 集合，用于支持即时性、操作型、集成性的信息需求</a:t>
            </a:r>
            <a:endParaRPr lang="en-US" altLang="zh-CN" sz="2000" dirty="0" smtClean="0"/>
          </a:p>
          <a:p>
            <a:pPr lvl="2"/>
            <a:r>
              <a:rPr lang="zh-CN" altLang="en-US" sz="2000" dirty="0"/>
              <a:t>业务系统和基础明细层之间的过度区，用于存储业务系统的当前原始细节数据</a:t>
            </a:r>
            <a:endParaRPr lang="en-US" altLang="zh-CN" sz="2000" dirty="0" smtClean="0"/>
          </a:p>
          <a:p>
            <a:pPr lvl="1"/>
            <a:r>
              <a:rPr lang="zh-CN" altLang="en-US" sz="2400" dirty="0" smtClean="0"/>
              <a:t>数据 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来源</a:t>
            </a:r>
            <a:r>
              <a:rPr lang="zh-CN" altLang="en-US" sz="2000" dirty="0"/>
              <a:t>：业务系统或缓冲层 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细粒度</a:t>
            </a:r>
            <a:r>
              <a:rPr lang="zh-CN" altLang="en-US" sz="2000" dirty="0"/>
              <a:t>：数据结构、数据间逻辑关系、数据粒度均与业务系统保持一致的原始细节数据 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高</a:t>
            </a:r>
            <a:r>
              <a:rPr lang="zh-CN" altLang="en-US" sz="2000" dirty="0"/>
              <a:t>集成：按主题进行全面集成，拥有业务数据的完整视图 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低质量</a:t>
            </a:r>
            <a:r>
              <a:rPr lang="zh-CN" altLang="en-US" sz="2000" dirty="0"/>
              <a:t>：不做处理或仅做简单清洗，并加时间戳（一般不做数据清洗、聚合和汇总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 有效期</a:t>
            </a:r>
            <a:r>
              <a:rPr lang="zh-CN" altLang="en-US" sz="2000" dirty="0"/>
              <a:t>：短期（</a:t>
            </a:r>
            <a:r>
              <a:rPr lang="en-US" altLang="zh-CN" sz="2000" dirty="0"/>
              <a:t>1~2</a:t>
            </a:r>
            <a:r>
              <a:rPr lang="zh-CN" altLang="en-US" sz="2000" dirty="0"/>
              <a:t>个月），并定期</a:t>
            </a:r>
            <a:r>
              <a:rPr lang="zh-CN" altLang="en-US" sz="2000" dirty="0" smtClean="0"/>
              <a:t>清除</a:t>
            </a:r>
            <a:endParaRPr lang="en-US" altLang="zh-CN" sz="2000" dirty="0" smtClean="0"/>
          </a:p>
          <a:p>
            <a:pPr lvl="1"/>
            <a:r>
              <a:rPr lang="zh-CN" altLang="en-US" sz="2400" dirty="0" smtClean="0"/>
              <a:t>作用 </a:t>
            </a:r>
            <a:endParaRPr lang="en-US" altLang="zh-CN" sz="2400" dirty="0" smtClean="0"/>
          </a:p>
          <a:p>
            <a:pPr lvl="2"/>
            <a:r>
              <a:rPr lang="zh-CN" altLang="en-US" sz="2000" dirty="0"/>
              <a:t>当作为业务系统与数仓之间的隔离区，避免数仓直接从业务系统抽取数据，最小化对业务系统的</a:t>
            </a:r>
            <a:r>
              <a:rPr lang="zh-CN" altLang="en-US" sz="2000" dirty="0" smtClean="0"/>
              <a:t>干扰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承接</a:t>
            </a:r>
            <a:r>
              <a:rPr lang="zh-CN" altLang="en-US" sz="2000" dirty="0"/>
              <a:t>部分业务系统的原始细节数据（低粒度）的查询和报表功能，降低业务系统的查询和分析压力</a:t>
            </a:r>
            <a:endParaRPr lang="en-US" altLang="zh-CN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336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数据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仓库基本架构</a:t>
            </a:r>
            <a:endParaRPr lang="zh-CN" altLang="en-US" sz="3200" b="1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674568"/>
          </a:xfrm>
        </p:spPr>
        <p:txBody>
          <a:bodyPr>
            <a:normAutofit fontScale="92500"/>
          </a:bodyPr>
          <a:lstStyle/>
          <a:p>
            <a:r>
              <a:rPr lang="zh-CN" altLang="en-US" sz="2800" b="1" dirty="0" smtClean="0"/>
              <a:t>基础</a:t>
            </a:r>
            <a:r>
              <a:rPr lang="zh-CN" altLang="en-US" sz="2800" b="1" dirty="0"/>
              <a:t>明细层（</a:t>
            </a:r>
            <a:r>
              <a:rPr lang="en-US" altLang="zh-CN" sz="2800" b="1" dirty="0"/>
              <a:t>DWD</a:t>
            </a:r>
            <a:r>
              <a:rPr lang="zh-CN" altLang="en-US" sz="2800" b="1" dirty="0"/>
              <a:t>层） </a:t>
            </a:r>
            <a:endParaRPr lang="en-US" altLang="zh-CN" sz="2800" b="1" dirty="0"/>
          </a:p>
          <a:p>
            <a:pPr lvl="1"/>
            <a:r>
              <a:rPr lang="en-US" altLang="zh-CN" sz="2400" dirty="0" smtClean="0"/>
              <a:t> </a:t>
            </a:r>
            <a:r>
              <a:rPr lang="zh-CN" altLang="en-US" sz="2400" dirty="0" smtClean="0"/>
              <a:t>概念 </a:t>
            </a:r>
            <a:endParaRPr lang="en-US" altLang="zh-CN" sz="2400" dirty="0" smtClean="0"/>
          </a:p>
          <a:p>
            <a:pPr lvl="2"/>
            <a:r>
              <a:rPr lang="en-US" altLang="zh-CN" sz="2000" dirty="0" smtClean="0"/>
              <a:t>DWD</a:t>
            </a:r>
            <a:r>
              <a:rPr lang="zh-CN" altLang="en-US" sz="2000" dirty="0"/>
              <a:t>：</a:t>
            </a:r>
            <a:r>
              <a:rPr lang="en-US" altLang="zh-CN" sz="2000" dirty="0"/>
              <a:t>Data Warehouse Detail 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数据</a:t>
            </a:r>
            <a:r>
              <a:rPr lang="zh-CN" altLang="en-US" sz="2000" dirty="0"/>
              <a:t>仓库的中间层，从</a:t>
            </a:r>
            <a:r>
              <a:rPr lang="en-US" altLang="zh-CN" sz="2000" dirty="0"/>
              <a:t>ODS</a:t>
            </a:r>
            <a:r>
              <a:rPr lang="zh-CN" altLang="en-US" sz="2000" dirty="0"/>
              <a:t>层获取数据，按主题进行组织，经过清洗、校验、转换、合并等规范化处理， 形成业务数据的完整视图 </a:t>
            </a:r>
            <a:endParaRPr lang="en-US" altLang="zh-CN" sz="2000" dirty="0" smtClean="0"/>
          </a:p>
          <a:p>
            <a:pPr lvl="1"/>
            <a:r>
              <a:rPr lang="zh-CN" altLang="en-US" sz="2400" dirty="0" smtClean="0"/>
              <a:t>数据 </a:t>
            </a:r>
            <a:endParaRPr lang="en-US" altLang="zh-CN" sz="2400" dirty="0" smtClean="0"/>
          </a:p>
          <a:p>
            <a:pPr lvl="2"/>
            <a:r>
              <a:rPr lang="zh-CN" altLang="en-US" sz="2000" dirty="0"/>
              <a:t>来源：</a:t>
            </a:r>
            <a:r>
              <a:rPr lang="en-US" altLang="zh-CN" sz="2000" dirty="0"/>
              <a:t>ODS</a:t>
            </a:r>
            <a:r>
              <a:rPr lang="zh-CN" altLang="en-US" sz="2000" dirty="0"/>
              <a:t>层 </a:t>
            </a:r>
            <a:endParaRPr lang="en-US" altLang="zh-CN" sz="2000" dirty="0"/>
          </a:p>
          <a:p>
            <a:pPr lvl="2"/>
            <a:r>
              <a:rPr lang="zh-CN" altLang="en-US" sz="2000" dirty="0" smtClean="0"/>
              <a:t>细粒度</a:t>
            </a:r>
            <a:r>
              <a:rPr lang="zh-CN" altLang="en-US" sz="2000" dirty="0"/>
              <a:t>：与</a:t>
            </a:r>
            <a:r>
              <a:rPr lang="en-US" altLang="zh-CN" sz="2000" dirty="0"/>
              <a:t>ODS</a:t>
            </a:r>
            <a:r>
              <a:rPr lang="zh-CN" altLang="en-US" sz="2000" dirty="0"/>
              <a:t>基本一致，不做聚合和</a:t>
            </a:r>
            <a:r>
              <a:rPr lang="zh-CN" altLang="en-US" sz="2000" dirty="0" smtClean="0"/>
              <a:t>汇总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高质量</a:t>
            </a:r>
            <a:r>
              <a:rPr lang="zh-CN" altLang="en-US" sz="2000" dirty="0"/>
              <a:t>：经过清洗、校验、转换、合并（根据业务进行数据关联形成宽表）等规范化处理 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高</a:t>
            </a:r>
            <a:r>
              <a:rPr lang="zh-CN" altLang="en-US" sz="2000" dirty="0"/>
              <a:t>集成：按主题进行组织， 拥有业务数据的完整视图 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有效期</a:t>
            </a:r>
            <a:r>
              <a:rPr lang="zh-CN" altLang="en-US" sz="2000" dirty="0"/>
              <a:t>：永久</a:t>
            </a:r>
            <a:endParaRPr lang="en-US" altLang="zh-CN" sz="2000" dirty="0" smtClean="0"/>
          </a:p>
          <a:p>
            <a:pPr lvl="1"/>
            <a:r>
              <a:rPr lang="zh-CN" altLang="en-US" sz="2400" dirty="0" smtClean="0"/>
              <a:t>作用 </a:t>
            </a:r>
            <a:endParaRPr lang="en-US" altLang="zh-CN" sz="2400" dirty="0" smtClean="0"/>
          </a:p>
          <a:p>
            <a:pPr lvl="2"/>
            <a:r>
              <a:rPr lang="zh-CN" altLang="en-US" sz="2100" dirty="0" smtClean="0"/>
              <a:t>为</a:t>
            </a:r>
            <a:r>
              <a:rPr lang="zh-CN" altLang="en-US" sz="2100" dirty="0"/>
              <a:t>数据分析（宏观趋势性分析、在线交互式分析）提供最完整的基础明细数据支撑</a:t>
            </a:r>
            <a:endParaRPr lang="en-US" altLang="zh-CN" sz="2100" dirty="0"/>
          </a:p>
        </p:txBody>
      </p:sp>
    </p:spTree>
    <p:extLst>
      <p:ext uri="{BB962C8B-B14F-4D97-AF65-F5344CB8AC3E}">
        <p14:creationId xmlns:p14="http://schemas.microsoft.com/office/powerpoint/2010/main" val="129302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数据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仓库基本架构</a:t>
            </a:r>
            <a:endParaRPr lang="zh-CN" altLang="en-US" sz="3200" b="1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674568"/>
          </a:xfrm>
        </p:spPr>
        <p:txBody>
          <a:bodyPr>
            <a:normAutofit/>
          </a:bodyPr>
          <a:lstStyle/>
          <a:p>
            <a:r>
              <a:rPr lang="zh-CN" altLang="en-US" sz="2800" b="1" dirty="0" smtClean="0"/>
              <a:t>轻度</a:t>
            </a:r>
            <a:r>
              <a:rPr lang="zh-CN" altLang="en-US" sz="2800" b="1" dirty="0"/>
              <a:t>汇总层 </a:t>
            </a:r>
            <a:endParaRPr lang="en-US" altLang="zh-CN" sz="2800" dirty="0"/>
          </a:p>
          <a:p>
            <a:pPr lvl="1"/>
            <a:r>
              <a:rPr lang="zh-CN" altLang="en-US" sz="2200" dirty="0" smtClean="0"/>
              <a:t>面向</a:t>
            </a:r>
            <a:r>
              <a:rPr lang="zh-CN" altLang="en-US" sz="2200" dirty="0"/>
              <a:t>业务分析需求，对基础明细层的细节数据进行细粒度（轻度）的聚合、汇总和统计 </a:t>
            </a:r>
            <a:endParaRPr lang="en-US" altLang="zh-CN" sz="2200" dirty="0"/>
          </a:p>
          <a:p>
            <a:pPr lvl="1"/>
            <a:r>
              <a:rPr lang="zh-CN" altLang="en-US" sz="2200" dirty="0" smtClean="0"/>
              <a:t>提前</a:t>
            </a:r>
            <a:r>
              <a:rPr lang="zh-CN" altLang="en-US" sz="2200" dirty="0"/>
              <a:t>计算出细粒度的基础汇总指标，减轻后期数据分析的压力 </a:t>
            </a:r>
            <a:endParaRPr lang="en-US" altLang="zh-CN" sz="2200" dirty="0" smtClean="0"/>
          </a:p>
          <a:p>
            <a:pPr lvl="1"/>
            <a:endParaRPr lang="en-US" altLang="zh-CN" sz="2200" dirty="0"/>
          </a:p>
          <a:p>
            <a:r>
              <a:rPr lang="zh-CN" altLang="en-US" sz="2800" b="1" dirty="0"/>
              <a:t>主题模型层 </a:t>
            </a:r>
            <a:endParaRPr lang="en-US" altLang="zh-CN" sz="2800" dirty="0"/>
          </a:p>
          <a:p>
            <a:pPr lvl="1"/>
            <a:r>
              <a:rPr lang="zh-CN" altLang="en-US" sz="2200" dirty="0" smtClean="0"/>
              <a:t>针对</a:t>
            </a:r>
            <a:r>
              <a:rPr lang="zh-CN" altLang="en-US" sz="2200" dirty="0"/>
              <a:t>企业级宏观主题，构建相关的多个主题域模型，从基础明细</a:t>
            </a:r>
            <a:r>
              <a:rPr lang="en-US" altLang="zh-CN" sz="2200" dirty="0"/>
              <a:t>/</a:t>
            </a:r>
            <a:r>
              <a:rPr lang="zh-CN" altLang="en-US" sz="2200" dirty="0"/>
              <a:t>轻度汇总层中获取数据，按</a:t>
            </a:r>
            <a:r>
              <a:rPr lang="zh-CN" altLang="en-US" sz="2200" dirty="0" smtClean="0"/>
              <a:t>主题</a:t>
            </a:r>
            <a:r>
              <a:rPr lang="zh-CN" altLang="en-US" sz="2200" dirty="0"/>
              <a:t>模型进行数据组织，为业务分析应用、数据集市构建提供直接的数据</a:t>
            </a:r>
            <a:r>
              <a:rPr lang="zh-CN" altLang="en-US" sz="2200" dirty="0" smtClean="0"/>
              <a:t>支撑</a:t>
            </a:r>
            <a:endParaRPr lang="en-US" altLang="zh-CN" sz="2200" dirty="0" smtClean="0"/>
          </a:p>
        </p:txBody>
      </p:sp>
    </p:spTree>
    <p:extLst>
      <p:ext uri="{BB962C8B-B14F-4D97-AF65-F5344CB8AC3E}">
        <p14:creationId xmlns:p14="http://schemas.microsoft.com/office/powerpoint/2010/main" val="41103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数据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仓库基本架构</a:t>
            </a:r>
            <a:endParaRPr lang="zh-CN" altLang="en-US" sz="3200" b="1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674568"/>
          </a:xfrm>
        </p:spPr>
        <p:txBody>
          <a:bodyPr>
            <a:normAutofit/>
          </a:bodyPr>
          <a:lstStyle/>
          <a:p>
            <a:r>
              <a:rPr lang="zh-CN" altLang="en-US" sz="2800" b="1" dirty="0" smtClean="0"/>
              <a:t>数据</a:t>
            </a:r>
            <a:r>
              <a:rPr lang="zh-CN" altLang="en-US" sz="2800" b="1" dirty="0"/>
              <a:t>集市 </a:t>
            </a:r>
            <a:endParaRPr lang="en-US" altLang="zh-CN" sz="2800" dirty="0"/>
          </a:p>
          <a:p>
            <a:pPr lvl="1"/>
            <a:r>
              <a:rPr lang="zh-CN" altLang="en-US" sz="2200" dirty="0" smtClean="0"/>
              <a:t>数据</a:t>
            </a:r>
            <a:r>
              <a:rPr lang="zh-CN" altLang="en-US" sz="2200" dirty="0"/>
              <a:t>集市是面向单一主题域（如销售、财务等）、为特定业务部门构建的小规模数据集合 </a:t>
            </a:r>
            <a:endParaRPr lang="en-US" altLang="zh-CN" sz="2200" dirty="0"/>
          </a:p>
          <a:p>
            <a:pPr lvl="1"/>
            <a:r>
              <a:rPr lang="zh-CN" altLang="en-US" sz="2200" dirty="0" smtClean="0"/>
              <a:t>数据源</a:t>
            </a:r>
            <a:r>
              <a:rPr lang="zh-CN" altLang="en-US" sz="2200" dirty="0"/>
              <a:t>可以是数据仓库（从属数据集市），也可以是业务系统（独立数据集市） </a:t>
            </a:r>
            <a:endParaRPr lang="en-US" altLang="zh-CN" sz="2200" dirty="0"/>
          </a:p>
          <a:p>
            <a:pPr lvl="1"/>
            <a:r>
              <a:rPr lang="zh-CN" altLang="en-US" sz="2200" dirty="0" smtClean="0"/>
              <a:t>数据</a:t>
            </a:r>
            <a:r>
              <a:rPr lang="zh-CN" altLang="en-US" sz="2200" dirty="0"/>
              <a:t>集市是数据仓库的子集 </a:t>
            </a:r>
            <a:endParaRPr lang="en-US" altLang="zh-CN" sz="2200" dirty="0"/>
          </a:p>
          <a:p>
            <a:pPr lvl="1"/>
            <a:r>
              <a:rPr lang="zh-CN" altLang="en-US" sz="2200" dirty="0" smtClean="0"/>
              <a:t>用于</a:t>
            </a:r>
            <a:r>
              <a:rPr lang="zh-CN" altLang="en-US" sz="2200" dirty="0"/>
              <a:t>在线交互式分析（秒级</a:t>
            </a:r>
            <a:r>
              <a:rPr lang="zh-CN" altLang="en-US" sz="2200" dirty="0" smtClean="0"/>
              <a:t>响应）</a:t>
            </a:r>
            <a:endParaRPr lang="en-US" altLang="zh-CN" sz="1700" dirty="0"/>
          </a:p>
        </p:txBody>
      </p:sp>
    </p:spTree>
    <p:extLst>
      <p:ext uri="{BB962C8B-B14F-4D97-AF65-F5344CB8AC3E}">
        <p14:creationId xmlns:p14="http://schemas.microsoft.com/office/powerpoint/2010/main" val="235049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Hive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066800"/>
            <a:ext cx="6931496" cy="553055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b="1" dirty="0" smtClean="0">
                <a:latin typeface="+mn-ea"/>
              </a:rPr>
              <a:t>什么是</a:t>
            </a:r>
            <a:r>
              <a:rPr lang="en-US" altLang="zh-CN" sz="2800" b="1" dirty="0" smtClean="0">
                <a:latin typeface="+mn-ea"/>
              </a:rPr>
              <a:t>Hive</a:t>
            </a:r>
          </a:p>
          <a:p>
            <a:pPr lvl="1"/>
            <a:r>
              <a:rPr lang="zh-CN" altLang="en-US" sz="2000" dirty="0"/>
              <a:t>基于</a:t>
            </a:r>
            <a:r>
              <a:rPr lang="en-US" altLang="zh-CN" sz="2000" dirty="0"/>
              <a:t>Hadoop</a:t>
            </a:r>
            <a:r>
              <a:rPr lang="zh-CN" altLang="en-US" sz="2000" dirty="0"/>
              <a:t>的一个数据仓库</a:t>
            </a:r>
            <a:r>
              <a:rPr lang="zh-CN" altLang="en-US" sz="2000" dirty="0" smtClean="0"/>
              <a:t>工具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将结构化的数据文件映射为一张数据库表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提供</a:t>
            </a:r>
            <a:r>
              <a:rPr lang="en-US" altLang="zh-CN" sz="2000" dirty="0"/>
              <a:t>SQL</a:t>
            </a:r>
            <a:r>
              <a:rPr lang="zh-CN" altLang="en-US" sz="2000" dirty="0"/>
              <a:t>查询</a:t>
            </a:r>
            <a:r>
              <a:rPr lang="zh-CN" altLang="en-US" sz="2000" dirty="0" smtClean="0"/>
              <a:t>功能，</a:t>
            </a:r>
            <a:r>
              <a:rPr lang="zh-CN" altLang="en-US" sz="2000" dirty="0"/>
              <a:t>将</a:t>
            </a:r>
            <a:r>
              <a:rPr lang="en-US" altLang="zh-CN" sz="2000" dirty="0"/>
              <a:t>SQL</a:t>
            </a:r>
            <a:r>
              <a:rPr lang="zh-CN" altLang="en-US" sz="2000" dirty="0"/>
              <a:t>语句转变成</a:t>
            </a:r>
            <a:r>
              <a:rPr lang="en-US" altLang="zh-CN" sz="2000" dirty="0"/>
              <a:t>MapReduce</a:t>
            </a:r>
            <a:r>
              <a:rPr lang="zh-CN" altLang="en-US" sz="2000" dirty="0"/>
              <a:t>任务来执行。</a:t>
            </a:r>
            <a:endParaRPr lang="en-US" altLang="zh-CN" sz="2000" b="1" dirty="0" smtClean="0">
              <a:latin typeface="+mn-ea"/>
            </a:endParaRPr>
          </a:p>
          <a:p>
            <a:r>
              <a:rPr lang="zh-CN" altLang="en-US" sz="2800" b="1" dirty="0" smtClean="0">
                <a:latin typeface="+mn-ea"/>
              </a:rPr>
              <a:t>特点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200" dirty="0" smtClean="0">
                <a:latin typeface="+mn-ea"/>
              </a:rPr>
              <a:t>通过</a:t>
            </a:r>
            <a:r>
              <a:rPr lang="zh-CN" altLang="en-US" sz="2200" dirty="0">
                <a:latin typeface="+mn-ea"/>
              </a:rPr>
              <a:t>类</a:t>
            </a:r>
            <a:r>
              <a:rPr lang="en-US" altLang="zh-CN" sz="2200" dirty="0">
                <a:latin typeface="+mn-ea"/>
              </a:rPr>
              <a:t>SQL</a:t>
            </a:r>
            <a:r>
              <a:rPr lang="zh-CN" altLang="en-US" sz="2200" dirty="0">
                <a:latin typeface="+mn-ea"/>
              </a:rPr>
              <a:t>来分析大数据，而避免了写</a:t>
            </a:r>
            <a:r>
              <a:rPr lang="en-US" altLang="zh-CN" sz="2200" dirty="0">
                <a:latin typeface="+mn-ea"/>
              </a:rPr>
              <a:t>MapReduce</a:t>
            </a:r>
            <a:r>
              <a:rPr lang="zh-CN" altLang="en-US" sz="2200" dirty="0">
                <a:latin typeface="+mn-ea"/>
              </a:rPr>
              <a:t>程序来分析数据，这样使得分析数据更容易</a:t>
            </a:r>
            <a:r>
              <a:rPr lang="zh-CN" altLang="en-US" sz="2200" dirty="0" smtClean="0">
                <a:latin typeface="+mn-ea"/>
              </a:rPr>
              <a:t>。</a:t>
            </a:r>
            <a:endParaRPr lang="zh-CN" altLang="en-US" sz="2200" dirty="0">
              <a:latin typeface="+mn-ea"/>
            </a:endParaRPr>
          </a:p>
          <a:p>
            <a:pPr lvl="1"/>
            <a:r>
              <a:rPr lang="zh-CN" altLang="en-US" sz="2200" dirty="0" smtClean="0">
                <a:latin typeface="+mn-ea"/>
              </a:rPr>
              <a:t>数据底层存储</a:t>
            </a:r>
            <a:r>
              <a:rPr lang="zh-CN" altLang="en-US" sz="2200" dirty="0">
                <a:latin typeface="+mn-ea"/>
              </a:rPr>
              <a:t>在</a:t>
            </a:r>
            <a:r>
              <a:rPr lang="en-US" altLang="zh-CN" sz="2200" dirty="0">
                <a:latin typeface="+mn-ea"/>
              </a:rPr>
              <a:t>HDFS</a:t>
            </a:r>
            <a:r>
              <a:rPr lang="zh-CN" altLang="en-US" sz="2200" dirty="0" smtClean="0">
                <a:latin typeface="+mn-ea"/>
              </a:rPr>
              <a:t>上，</a:t>
            </a:r>
            <a:r>
              <a:rPr lang="en-US" altLang="zh-CN" sz="2200" dirty="0">
                <a:latin typeface="+mn-ea"/>
              </a:rPr>
              <a:t>Hive</a:t>
            </a:r>
            <a:r>
              <a:rPr lang="zh-CN" altLang="en-US" sz="2200" dirty="0">
                <a:latin typeface="+mn-ea"/>
              </a:rPr>
              <a:t>本身并不提供数据的存储</a:t>
            </a:r>
            <a:r>
              <a:rPr lang="zh-CN" altLang="en-US" sz="2200" dirty="0" smtClean="0">
                <a:latin typeface="+mn-ea"/>
              </a:rPr>
              <a:t>功能</a:t>
            </a:r>
            <a:endParaRPr lang="zh-CN" altLang="en-US" sz="2200" dirty="0">
              <a:latin typeface="+mn-ea"/>
            </a:endParaRPr>
          </a:p>
          <a:p>
            <a:pPr lvl="1"/>
            <a:r>
              <a:rPr lang="en-US" altLang="zh-CN" sz="2200" dirty="0">
                <a:latin typeface="+mn-ea"/>
              </a:rPr>
              <a:t>Hive</a:t>
            </a:r>
            <a:r>
              <a:rPr lang="zh-CN" altLang="en-US" sz="2200" dirty="0">
                <a:latin typeface="+mn-ea"/>
              </a:rPr>
              <a:t>是将数据映射成数据库和一张张的表，库和表的元数据信息一般存在关系型数据库上（比如</a:t>
            </a:r>
            <a:r>
              <a:rPr lang="en-US" altLang="zh-CN" sz="2200" dirty="0">
                <a:latin typeface="+mn-ea"/>
              </a:rPr>
              <a:t>MySQL</a:t>
            </a:r>
            <a:r>
              <a:rPr lang="zh-CN" altLang="en-US" sz="2200" dirty="0">
                <a:latin typeface="+mn-ea"/>
              </a:rPr>
              <a:t>）</a:t>
            </a:r>
            <a:r>
              <a:rPr lang="zh-CN" altLang="en-US" sz="2200" dirty="0" smtClean="0">
                <a:latin typeface="+mn-ea"/>
              </a:rPr>
              <a:t>。</a:t>
            </a:r>
            <a:endParaRPr lang="zh-CN" altLang="en-US" sz="2200" dirty="0">
              <a:latin typeface="+mn-ea"/>
            </a:endParaRPr>
          </a:p>
          <a:p>
            <a:pPr lvl="1"/>
            <a:r>
              <a:rPr lang="zh-CN" altLang="en-US" sz="2200" dirty="0">
                <a:latin typeface="+mn-ea"/>
              </a:rPr>
              <a:t>数据存储方面：它能够存储很大的数据集，并且对数据完整性、格式要求并不严格</a:t>
            </a:r>
            <a:r>
              <a:rPr lang="zh-CN" altLang="en-US" sz="2200" dirty="0" smtClean="0">
                <a:latin typeface="+mn-ea"/>
              </a:rPr>
              <a:t>。</a:t>
            </a:r>
            <a:endParaRPr lang="zh-CN" altLang="en-US" sz="2200" dirty="0">
              <a:latin typeface="+mn-ea"/>
            </a:endParaRPr>
          </a:p>
          <a:p>
            <a:pPr lvl="1"/>
            <a:r>
              <a:rPr lang="zh-CN" altLang="en-US" sz="2200" dirty="0">
                <a:latin typeface="+mn-ea"/>
              </a:rPr>
              <a:t>数据处理方面：因为</a:t>
            </a:r>
            <a:r>
              <a:rPr lang="en-US" altLang="zh-CN" sz="2200" dirty="0">
                <a:latin typeface="+mn-ea"/>
              </a:rPr>
              <a:t>Hive</a:t>
            </a:r>
            <a:r>
              <a:rPr lang="zh-CN" altLang="en-US" sz="2200" dirty="0">
                <a:latin typeface="+mn-ea"/>
              </a:rPr>
              <a:t>语句最终会生成</a:t>
            </a:r>
            <a:r>
              <a:rPr lang="en-US" altLang="zh-CN" sz="2200" dirty="0">
                <a:latin typeface="+mn-ea"/>
              </a:rPr>
              <a:t>MapReduce</a:t>
            </a:r>
            <a:r>
              <a:rPr lang="zh-CN" altLang="en-US" sz="2200" dirty="0">
                <a:latin typeface="+mn-ea"/>
              </a:rPr>
              <a:t>任务去计算，所以不适用于实时计算的场景，它适用于离线分析</a:t>
            </a:r>
            <a:endParaRPr lang="en-US" altLang="zh-CN" sz="22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57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Hive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简介</a:t>
            </a:r>
            <a:endParaRPr lang="zh-CN" altLang="en-US" sz="3200" b="1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26233" y="1085850"/>
            <a:ext cx="6900862" cy="4686300"/>
          </a:xfrm>
        </p:spPr>
        <p:txBody>
          <a:bodyPr/>
          <a:lstStyle/>
          <a:p>
            <a:r>
              <a:rPr lang="en-US" altLang="zh-CN" sz="2800" dirty="0" smtClean="0"/>
              <a:t>Hive</a:t>
            </a:r>
            <a:r>
              <a:rPr lang="zh-CN" altLang="en-US" sz="2800" dirty="0" smtClean="0"/>
              <a:t>架构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1988840"/>
            <a:ext cx="6476190" cy="3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9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Hive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重要概念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340768"/>
            <a:ext cx="6931496" cy="525658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n-ea"/>
              </a:rPr>
              <a:t>内部</a:t>
            </a:r>
            <a:r>
              <a:rPr lang="zh-CN" altLang="en-US" sz="2800" b="1" dirty="0" smtClean="0">
                <a:latin typeface="+mn-ea"/>
              </a:rPr>
              <a:t>表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默认创建的是内部表（</a:t>
            </a:r>
            <a:r>
              <a:rPr lang="en-US" altLang="zh-CN" sz="2000" dirty="0">
                <a:latin typeface="+mn-ea"/>
              </a:rPr>
              <a:t>managed table</a:t>
            </a:r>
            <a:r>
              <a:rPr lang="zh-CN" altLang="en-US" sz="2000" dirty="0">
                <a:latin typeface="+mn-ea"/>
              </a:rPr>
              <a:t>），存储位置在</a:t>
            </a:r>
            <a:r>
              <a:rPr lang="en-US" altLang="zh-CN" sz="2000" dirty="0" err="1">
                <a:latin typeface="+mn-ea"/>
              </a:rPr>
              <a:t>hive.metastore.warehouse.dir</a:t>
            </a:r>
            <a:r>
              <a:rPr lang="zh-CN" altLang="en-US" sz="2000" dirty="0">
                <a:latin typeface="+mn-ea"/>
              </a:rPr>
              <a:t>设置，默认位置是</a:t>
            </a:r>
            <a:r>
              <a:rPr lang="en-US" altLang="zh-CN" sz="2000" dirty="0">
                <a:latin typeface="+mn-ea"/>
              </a:rPr>
              <a:t>/user/hive/warehouse</a:t>
            </a:r>
            <a:r>
              <a:rPr lang="zh-CN" altLang="en-US" sz="2000" dirty="0">
                <a:latin typeface="+mn-ea"/>
              </a:rPr>
              <a:t>。</a:t>
            </a:r>
          </a:p>
          <a:p>
            <a:pPr lvl="1"/>
            <a:r>
              <a:rPr lang="zh-CN" altLang="en-US" sz="2000" dirty="0">
                <a:latin typeface="+mn-ea"/>
              </a:rPr>
              <a:t>导入数据的时候是将文件剪切（移动）到指定位置，即原有路径下文件不再存在</a:t>
            </a:r>
          </a:p>
          <a:p>
            <a:pPr lvl="1"/>
            <a:r>
              <a:rPr lang="zh-CN" altLang="en-US" sz="2000" dirty="0">
                <a:latin typeface="+mn-ea"/>
              </a:rPr>
              <a:t>删除表的时候，数据和元数据都将被删除</a:t>
            </a:r>
          </a:p>
          <a:p>
            <a:pPr lvl="1"/>
            <a:r>
              <a:rPr lang="zh-CN" altLang="en-US" sz="2000" dirty="0">
                <a:latin typeface="+mn-ea"/>
              </a:rPr>
              <a:t>默认创建的就是内部表</a:t>
            </a:r>
            <a:r>
              <a:rPr lang="en-US" altLang="zh-CN" sz="2000" dirty="0">
                <a:latin typeface="+mn-ea"/>
              </a:rPr>
              <a:t>create table xxx (xx xxx)</a:t>
            </a:r>
          </a:p>
          <a:p>
            <a:pPr lvl="1"/>
            <a:endParaRPr lang="en-US" altLang="zh-CN" sz="2400" b="1" dirty="0" smtClean="0">
              <a:latin typeface="+mn-ea"/>
            </a:endParaRPr>
          </a:p>
          <a:p>
            <a:pPr lvl="1"/>
            <a:endParaRPr lang="en-US" altLang="zh-CN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510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Hive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重要概念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340768"/>
            <a:ext cx="6931496" cy="5256584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外部表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外部表文件可以在外部系统上，只要有访问权限就可以</a:t>
            </a:r>
          </a:p>
          <a:p>
            <a:pPr lvl="1"/>
            <a:r>
              <a:rPr lang="zh-CN" altLang="en-US" sz="2000" dirty="0">
                <a:latin typeface="+mn-ea"/>
              </a:rPr>
              <a:t>外部表导入文件时不移动文件，仅仅是添加一个</a:t>
            </a:r>
            <a:r>
              <a:rPr lang="en-US" altLang="zh-CN" sz="2000" dirty="0">
                <a:latin typeface="+mn-ea"/>
              </a:rPr>
              <a:t>metadata</a:t>
            </a:r>
          </a:p>
          <a:p>
            <a:pPr lvl="1"/>
            <a:r>
              <a:rPr lang="zh-CN" altLang="en-US" sz="2000" dirty="0">
                <a:latin typeface="+mn-ea"/>
              </a:rPr>
              <a:t>删除外部表时原数据不会被删除</a:t>
            </a:r>
          </a:p>
          <a:p>
            <a:pPr lvl="1"/>
            <a:r>
              <a:rPr lang="zh-CN" altLang="en-US" sz="2000" dirty="0">
                <a:latin typeface="+mn-ea"/>
              </a:rPr>
              <a:t>分辨外部表内部表可以使用</a:t>
            </a:r>
            <a:r>
              <a:rPr lang="en-US" altLang="zh-CN" sz="2000" dirty="0">
                <a:latin typeface="+mn-ea"/>
              </a:rPr>
              <a:t>DESCRIBE FORMATTED </a:t>
            </a:r>
            <a:r>
              <a:rPr lang="en-US" altLang="zh-CN" sz="2000" dirty="0" err="1">
                <a:latin typeface="+mn-ea"/>
              </a:rPr>
              <a:t>table_name</a:t>
            </a:r>
            <a:r>
              <a:rPr lang="zh-CN" altLang="en-US" sz="2000" dirty="0">
                <a:latin typeface="+mn-ea"/>
              </a:rPr>
              <a:t>命令查看</a:t>
            </a:r>
          </a:p>
          <a:p>
            <a:pPr lvl="1"/>
            <a:r>
              <a:rPr lang="zh-CN" altLang="en-US" sz="2000" dirty="0">
                <a:latin typeface="+mn-ea"/>
              </a:rPr>
              <a:t>创建外部表命令添加一个</a:t>
            </a:r>
            <a:r>
              <a:rPr lang="en-US" altLang="zh-CN" sz="2000" dirty="0">
                <a:latin typeface="+mn-ea"/>
              </a:rPr>
              <a:t>external</a:t>
            </a:r>
            <a:r>
              <a:rPr lang="zh-CN" altLang="en-US" sz="2000" dirty="0">
                <a:latin typeface="+mn-ea"/>
              </a:rPr>
              <a:t>即可，即</a:t>
            </a:r>
            <a:r>
              <a:rPr lang="en-US" altLang="zh-CN" sz="2000" dirty="0">
                <a:latin typeface="+mn-ea"/>
              </a:rPr>
              <a:t>create external table xxx (xxx)</a:t>
            </a:r>
          </a:p>
          <a:p>
            <a:pPr lvl="1"/>
            <a:r>
              <a:rPr lang="zh-CN" altLang="en-US" sz="2000" dirty="0">
                <a:latin typeface="+mn-ea"/>
              </a:rPr>
              <a:t>外部表指向的数据发生变化的时候会自动更新，不用特殊处理</a:t>
            </a:r>
            <a:endParaRPr lang="en-US" altLang="zh-CN" sz="2000" dirty="0" smtClean="0">
              <a:latin typeface="+mn-ea"/>
            </a:endParaRPr>
          </a:p>
          <a:p>
            <a:pPr lvl="1"/>
            <a:endParaRPr lang="en-US" altLang="zh-CN" sz="2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791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Hive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重要概念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340768"/>
            <a:ext cx="6931496" cy="525658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n-ea"/>
              </a:rPr>
              <a:t>分区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有些时候数据是有组织的，比方按日期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类型等分类，而查询数据的时候也经常只关心部分数据，比方说我只想查</a:t>
            </a:r>
            <a:r>
              <a:rPr lang="en-US" altLang="zh-CN" sz="2000" dirty="0">
                <a:latin typeface="+mn-ea"/>
              </a:rPr>
              <a:t>2017</a:t>
            </a:r>
            <a:r>
              <a:rPr lang="zh-CN" altLang="en-US" sz="2000" dirty="0">
                <a:latin typeface="+mn-ea"/>
              </a:rPr>
              <a:t>年</a:t>
            </a:r>
            <a:r>
              <a:rPr lang="en-US" altLang="zh-CN" sz="2000" dirty="0">
                <a:latin typeface="+mn-ea"/>
              </a:rPr>
              <a:t>8</a:t>
            </a:r>
            <a:r>
              <a:rPr lang="zh-CN" altLang="en-US" sz="2000" dirty="0">
                <a:latin typeface="+mn-ea"/>
              </a:rPr>
              <a:t>月</a:t>
            </a:r>
            <a:r>
              <a:rPr lang="en-US" altLang="zh-CN" sz="2000" dirty="0">
                <a:latin typeface="+mn-ea"/>
              </a:rPr>
              <a:t>8</a:t>
            </a:r>
            <a:r>
              <a:rPr lang="zh-CN" altLang="en-US" sz="2000" dirty="0">
                <a:latin typeface="+mn-ea"/>
              </a:rPr>
              <a:t>号，此时可以创建分区，查询具体某一天的数据时，不需要扫描全部目录，所以会明显优化性能</a:t>
            </a:r>
          </a:p>
          <a:p>
            <a:pPr lvl="1"/>
            <a:r>
              <a:rPr lang="zh-CN" altLang="en-US" sz="2000" dirty="0">
                <a:latin typeface="+mn-ea"/>
              </a:rPr>
              <a:t>一个</a:t>
            </a:r>
            <a:r>
              <a:rPr lang="en-US" altLang="zh-CN" sz="2000" dirty="0">
                <a:latin typeface="+mn-ea"/>
              </a:rPr>
              <a:t>Hive</a:t>
            </a:r>
            <a:r>
              <a:rPr lang="zh-CN" altLang="en-US" sz="2000" dirty="0">
                <a:latin typeface="+mn-ea"/>
              </a:rPr>
              <a:t>表在</a:t>
            </a:r>
            <a:r>
              <a:rPr lang="en-US" altLang="zh-CN" sz="2000" dirty="0">
                <a:latin typeface="+mn-ea"/>
              </a:rPr>
              <a:t>HDFS</a:t>
            </a:r>
            <a:r>
              <a:rPr lang="zh-CN" altLang="en-US" sz="2000" dirty="0">
                <a:latin typeface="+mn-ea"/>
              </a:rPr>
              <a:t>上是有一个对应的目录来存储数据，普通表的数据直接存储在这个目录下，而分区表数据存储时，是再划分子目录来存储的</a:t>
            </a:r>
          </a:p>
          <a:p>
            <a:pPr lvl="1"/>
            <a:r>
              <a:rPr lang="zh-CN" altLang="en-US" sz="2000" dirty="0">
                <a:latin typeface="+mn-ea"/>
              </a:rPr>
              <a:t>使用</a:t>
            </a:r>
            <a:r>
              <a:rPr lang="en-US" altLang="zh-CN" sz="2000" dirty="0" err="1">
                <a:latin typeface="+mn-ea"/>
              </a:rPr>
              <a:t>partioned</a:t>
            </a:r>
            <a:r>
              <a:rPr lang="en-US" altLang="zh-CN" sz="2000" dirty="0">
                <a:latin typeface="+mn-ea"/>
              </a:rPr>
              <a:t> by (xxx)</a:t>
            </a:r>
            <a:r>
              <a:rPr lang="zh-CN" altLang="en-US" sz="2000" dirty="0">
                <a:latin typeface="+mn-ea"/>
              </a:rPr>
              <a:t>来创建表的分区</a:t>
            </a:r>
            <a:endParaRPr lang="en-US" altLang="zh-CN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677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Hive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重要概念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340768"/>
            <a:ext cx="6931496" cy="5256584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n-ea"/>
              </a:rPr>
              <a:t>分桶</a:t>
            </a:r>
            <a:endParaRPr lang="en-US" altLang="zh-CN" sz="2800" b="1" dirty="0" smtClean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分桶是相对分区进行更细粒度的划分。分桶将整个数据内容安装某列属性值的</a:t>
            </a:r>
            <a:r>
              <a:rPr lang="en-US" altLang="zh-CN" sz="2000" dirty="0">
                <a:latin typeface="+mn-ea"/>
              </a:rPr>
              <a:t>hash</a:t>
            </a:r>
            <a:r>
              <a:rPr lang="zh-CN" altLang="en-US" sz="2000" dirty="0">
                <a:latin typeface="+mn-ea"/>
              </a:rPr>
              <a:t>值进行区分，按照取模结果对数据分桶。如取模结果相同的数据记录存放到一个文件。</a:t>
            </a:r>
          </a:p>
          <a:p>
            <a:pPr lvl="1"/>
            <a:r>
              <a:rPr lang="zh-CN" altLang="en-US" sz="2000" dirty="0">
                <a:latin typeface="+mn-ea"/>
              </a:rPr>
              <a:t>桶表也是一种用于优化查询而设计的表类型。创建通表时，指定桶的个数、分桶的依据字段，</a:t>
            </a:r>
            <a:r>
              <a:rPr lang="en-US" altLang="zh-CN" sz="2000" dirty="0">
                <a:latin typeface="+mn-ea"/>
              </a:rPr>
              <a:t>hive</a:t>
            </a:r>
            <a:r>
              <a:rPr lang="zh-CN" altLang="en-US" sz="2000" dirty="0">
                <a:latin typeface="+mn-ea"/>
              </a:rPr>
              <a:t>就可以自动将数据分桶存储。查询时只需要遍历一个桶里的数据，或者遍历部分桶，这样就提高了查询</a:t>
            </a:r>
            <a:r>
              <a:rPr lang="zh-CN" altLang="en-US" sz="2000" dirty="0" smtClean="0">
                <a:latin typeface="+mn-ea"/>
              </a:rPr>
              <a:t>效率</a:t>
            </a:r>
            <a:endParaRPr lang="en-US" altLang="zh-CN" sz="2000" dirty="0" smtClean="0">
              <a:latin typeface="+mn-ea"/>
            </a:endParaRPr>
          </a:p>
          <a:p>
            <a:pPr lvl="1"/>
            <a:r>
              <a:rPr lang="en-US" altLang="zh-CN" sz="2000" dirty="0"/>
              <a:t>clustered by (</a:t>
            </a:r>
            <a:r>
              <a:rPr lang="en-US" altLang="zh-CN" sz="2000" dirty="0" err="1"/>
              <a:t>user_id</a:t>
            </a:r>
            <a:r>
              <a:rPr lang="en-US" altLang="zh-CN" sz="2000" dirty="0"/>
              <a:t>) sorted by(</a:t>
            </a:r>
            <a:r>
              <a:rPr lang="en-US" altLang="zh-CN" sz="2000" dirty="0" err="1"/>
              <a:t>leads_id</a:t>
            </a:r>
            <a:r>
              <a:rPr lang="en-US" altLang="zh-CN" sz="2000" dirty="0"/>
              <a:t>) into 10 buckets</a:t>
            </a:r>
            <a:endParaRPr lang="en-US" altLang="zh-CN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085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smtClean="0">
                <a:latin typeface="宋体" panose="02010600030101010101" pitchFamily="2" charset="-122"/>
              </a:rPr>
              <a:t>Hive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操作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——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写入数据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35696" y="1268760"/>
            <a:ext cx="6931496" cy="5328592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从本地文件系统中导</a:t>
            </a:r>
            <a:r>
              <a:rPr lang="zh-CN" altLang="en-US" sz="2800" b="1" dirty="0" smtClean="0"/>
              <a:t>入</a:t>
            </a:r>
            <a:endParaRPr lang="zh-CN" altLang="en-US" sz="2800" dirty="0" smtClean="0"/>
          </a:p>
          <a:p>
            <a:pPr lvl="1"/>
            <a:r>
              <a:rPr lang="en-US" altLang="zh-CN" sz="2000" dirty="0" smtClean="0"/>
              <a:t>load data local </a:t>
            </a:r>
            <a:r>
              <a:rPr lang="en-US" altLang="zh-CN" sz="2000" dirty="0" err="1" smtClean="0"/>
              <a:t>inpath</a:t>
            </a:r>
            <a:r>
              <a:rPr lang="en-US" altLang="zh-CN" sz="2000" dirty="0" smtClean="0"/>
              <a:t> 'xxx.txt' into table xxx</a:t>
            </a:r>
            <a:r>
              <a:rPr lang="zh-CN" altLang="en-US" sz="2000" dirty="0" smtClean="0"/>
              <a:t>；</a:t>
            </a:r>
            <a:endParaRPr lang="en-US" altLang="zh-CN" sz="2400" dirty="0" smtClean="0"/>
          </a:p>
          <a:p>
            <a:pPr lvl="1"/>
            <a:endParaRPr lang="zh-CN" altLang="en-US" sz="2400" dirty="0"/>
          </a:p>
          <a:p>
            <a:r>
              <a:rPr lang="zh-CN" altLang="en-US" sz="2800" b="1" dirty="0"/>
              <a:t>从</a:t>
            </a:r>
            <a:r>
              <a:rPr lang="en-US" altLang="zh-CN" sz="2800" b="1" dirty="0"/>
              <a:t>HDFS</a:t>
            </a:r>
            <a:r>
              <a:rPr lang="zh-CN" altLang="en-US" sz="2800" b="1" dirty="0"/>
              <a:t>上导</a:t>
            </a:r>
            <a:r>
              <a:rPr lang="zh-CN" altLang="en-US" sz="2800" b="1" dirty="0" smtClean="0"/>
              <a:t>入</a:t>
            </a:r>
            <a:endParaRPr lang="zh-CN" altLang="en-US" sz="2800" dirty="0"/>
          </a:p>
          <a:p>
            <a:pPr lvl="1"/>
            <a:r>
              <a:rPr lang="en-US" altLang="zh-CN" sz="2000" dirty="0"/>
              <a:t>load data </a:t>
            </a:r>
            <a:r>
              <a:rPr lang="en-US" altLang="zh-CN" sz="2000" dirty="0" err="1"/>
              <a:t>inpath</a:t>
            </a:r>
            <a:r>
              <a:rPr lang="en-US" altLang="zh-CN" sz="2000" dirty="0"/>
              <a:t> '/home/xxx/add.txt' into table xxx</a:t>
            </a:r>
          </a:p>
          <a:p>
            <a:pPr lvl="1"/>
            <a:r>
              <a:rPr lang="en-US" altLang="zh-CN" sz="2000" dirty="0"/>
              <a:t>alter table </a:t>
            </a:r>
            <a:r>
              <a:rPr lang="en-US" altLang="zh-CN" sz="2000" dirty="0" err="1"/>
              <a:t>db.access_log</a:t>
            </a:r>
            <a:r>
              <a:rPr lang="en-US" altLang="zh-CN" sz="2000" dirty="0"/>
              <a:t> add partition (</a:t>
            </a:r>
            <a:r>
              <a:rPr lang="en-US" altLang="zh-CN" sz="2000" dirty="0" err="1"/>
              <a:t>dt</a:t>
            </a:r>
            <a:r>
              <a:rPr lang="en-US" altLang="zh-CN" sz="2000" dirty="0" smtClean="0"/>
              <a:t>=‘2020-06-01') </a:t>
            </a:r>
            <a:r>
              <a:rPr lang="en-US" altLang="zh-CN" sz="2000" dirty="0"/>
              <a:t>location '</a:t>
            </a:r>
            <a:r>
              <a:rPr lang="en-US" altLang="zh-CN" sz="2000" dirty="0" err="1"/>
              <a:t>hdfs</a:t>
            </a:r>
            <a:r>
              <a:rPr lang="en-US" altLang="zh-CN" sz="2000" dirty="0"/>
              <a:t>://ns/hive/warehouse/</a:t>
            </a:r>
            <a:r>
              <a:rPr lang="en-US" altLang="zh-CN" sz="2000" dirty="0" err="1"/>
              <a:t>access_log</a:t>
            </a:r>
            <a:r>
              <a:rPr lang="en-US" altLang="zh-CN" sz="2000" dirty="0"/>
              <a:t>/</a:t>
            </a:r>
            <a:r>
              <a:rPr lang="en-US" altLang="zh-CN" sz="2000" dirty="0" err="1"/>
              <a:t>dt</a:t>
            </a:r>
            <a:r>
              <a:rPr lang="en-US" altLang="zh-CN" sz="2000" dirty="0" smtClean="0"/>
              <a:t>=</a:t>
            </a:r>
            <a:r>
              <a:rPr lang="en-US" altLang="zh-CN" sz="2000" dirty="0"/>
              <a:t> 2020-06-01 </a:t>
            </a:r>
            <a:r>
              <a:rPr lang="en-US" altLang="zh-CN" sz="2000" dirty="0" smtClean="0"/>
              <a:t>';</a:t>
            </a:r>
            <a:endParaRPr lang="en-US" altLang="zh-CN" sz="2400" dirty="0" smtClean="0"/>
          </a:p>
          <a:p>
            <a:pPr lvl="1"/>
            <a:endParaRPr lang="en-US" altLang="zh-CN" sz="2400" dirty="0"/>
          </a:p>
          <a:p>
            <a:r>
              <a:rPr lang="zh-CN" altLang="en-US" sz="2800" b="1" dirty="0" smtClean="0"/>
              <a:t>查询结果导入</a:t>
            </a:r>
            <a:endParaRPr lang="zh-CN" altLang="en-US" sz="2800" dirty="0"/>
          </a:p>
          <a:p>
            <a:pPr lvl="1"/>
            <a:r>
              <a:rPr lang="en-US" altLang="zh-CN" sz="2000" dirty="0"/>
              <a:t>insert overwrite table db.log_v2 partition(</a:t>
            </a:r>
            <a:r>
              <a:rPr lang="en-US" altLang="zh-CN" sz="2000" dirty="0" err="1"/>
              <a:t>dt</a:t>
            </a:r>
            <a:r>
              <a:rPr lang="en-US" altLang="zh-CN" sz="2000" dirty="0" smtClean="0"/>
              <a:t>=‘2020-06-01') </a:t>
            </a:r>
            <a:r>
              <a:rPr lang="en-US" altLang="zh-CN" sz="2000" dirty="0"/>
              <a:t>select </a:t>
            </a:r>
            <a:r>
              <a:rPr lang="en-US" altLang="zh-CN" sz="2000" dirty="0" err="1"/>
              <a:t>uid,model,key,value,time</a:t>
            </a:r>
            <a:r>
              <a:rPr lang="en-US" altLang="zh-CN" sz="2000" dirty="0"/>
              <a:t> from db.log where </a:t>
            </a:r>
            <a:r>
              <a:rPr lang="en-US" altLang="zh-CN" sz="2000" dirty="0" err="1"/>
              <a:t>dt</a:t>
            </a:r>
            <a:r>
              <a:rPr lang="en-US" altLang="zh-CN" sz="2000" dirty="0" smtClean="0"/>
              <a:t>=‘2020-06-01';</a:t>
            </a:r>
          </a:p>
        </p:txBody>
      </p:sp>
    </p:spTree>
    <p:extLst>
      <p:ext uri="{BB962C8B-B14F-4D97-AF65-F5344CB8AC3E}">
        <p14:creationId xmlns:p14="http://schemas.microsoft.com/office/powerpoint/2010/main" val="100512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123728" y="152400"/>
            <a:ext cx="6105872" cy="914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200" b="1" dirty="0" err="1" smtClean="0">
                <a:latin typeface="宋体" panose="02010600030101010101" pitchFamily="2" charset="-122"/>
              </a:rPr>
              <a:t>HiveSQL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7704" y="1268760"/>
            <a:ext cx="6931496" cy="4896544"/>
          </a:xfrm>
        </p:spPr>
        <p:txBody>
          <a:bodyPr>
            <a:normAutofit/>
          </a:bodyPr>
          <a:lstStyle/>
          <a:p>
            <a:r>
              <a:rPr lang="en-US" altLang="zh-CN" sz="2800" b="1" dirty="0" err="1" smtClean="0"/>
              <a:t>HiveSQL</a:t>
            </a:r>
            <a:endParaRPr lang="en-US" altLang="zh-CN" sz="2800" b="1" dirty="0" smtClean="0"/>
          </a:p>
          <a:p>
            <a:pPr lvl="1"/>
            <a:r>
              <a:rPr lang="zh-CN" altLang="en-US" sz="2200" dirty="0" smtClean="0"/>
              <a:t>与关系型</a:t>
            </a:r>
            <a:r>
              <a:rPr lang="zh-CN" altLang="en-US" sz="2200" dirty="0"/>
              <a:t>数据库的</a:t>
            </a:r>
            <a:r>
              <a:rPr lang="en-US" altLang="zh-CN" sz="2200" dirty="0"/>
              <a:t>SQL </a:t>
            </a:r>
            <a:r>
              <a:rPr lang="zh-CN" altLang="en-US" sz="2200" dirty="0"/>
              <a:t>略有不同，但支持了绝大多数的语句如</a:t>
            </a:r>
            <a:r>
              <a:rPr lang="en-US" altLang="zh-CN" sz="2200" dirty="0"/>
              <a:t>DDL</a:t>
            </a:r>
            <a:r>
              <a:rPr lang="zh-CN" altLang="en-US" sz="2200" dirty="0"/>
              <a:t>、</a:t>
            </a:r>
            <a:r>
              <a:rPr lang="en-US" altLang="zh-CN" sz="2200" dirty="0"/>
              <a:t>DML </a:t>
            </a:r>
            <a:r>
              <a:rPr lang="zh-CN" altLang="en-US" sz="2200" dirty="0"/>
              <a:t>以及常见的聚合函数、连接查询、条件查询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  <a:p>
            <a:pPr lvl="1"/>
            <a:r>
              <a:rPr lang="en-US" altLang="zh-CN" sz="2200" dirty="0" smtClean="0"/>
              <a:t>HIVE</a:t>
            </a:r>
            <a:r>
              <a:rPr lang="zh-CN" altLang="en-US" sz="2200" dirty="0"/>
              <a:t>不适合用于</a:t>
            </a:r>
            <a:r>
              <a:rPr lang="zh-CN" altLang="en-US" sz="2200" dirty="0" smtClean="0"/>
              <a:t>联机</a:t>
            </a:r>
            <a:r>
              <a:rPr lang="en-US" altLang="zh-CN" sz="2200" dirty="0" smtClean="0"/>
              <a:t>(online</a:t>
            </a:r>
            <a:r>
              <a:rPr lang="en-US" altLang="zh-CN" sz="2200" dirty="0"/>
              <a:t>)</a:t>
            </a:r>
            <a:r>
              <a:rPr lang="zh-CN" altLang="en-US" sz="2200" dirty="0"/>
              <a:t>事务处理，也不提供实时查询功能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  <a:p>
            <a:pPr lvl="1"/>
            <a:r>
              <a:rPr lang="zh-CN" altLang="en-US" sz="2200" dirty="0" smtClean="0"/>
              <a:t>适合</a:t>
            </a:r>
            <a:r>
              <a:rPr lang="zh-CN" altLang="en-US" sz="2200" dirty="0"/>
              <a:t>应用在基于大量不可变数据的批处理作业。</a:t>
            </a:r>
          </a:p>
          <a:p>
            <a:pPr marL="457200" lvl="1" indent="0">
              <a:buNone/>
            </a:pPr>
            <a:endParaRPr lang="en-US" altLang="zh-CN" sz="2400" b="1" dirty="0" smtClean="0"/>
          </a:p>
          <a:p>
            <a:r>
              <a:rPr lang="zh-CN" altLang="en-US" sz="2400" b="1" dirty="0" smtClean="0"/>
              <a:t>具体命令可以自行查询资料</a:t>
            </a: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22380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南京大学软件学院模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8765</TotalTime>
  <Words>5007</Words>
  <Application>Microsoft Office PowerPoint</Application>
  <PresentationFormat>全屏显示(4:3)</PresentationFormat>
  <Paragraphs>868</Paragraphs>
  <Slides>80</Slides>
  <Notes>77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88" baseType="lpstr">
      <vt:lpstr>Helvetica Light</vt:lpstr>
      <vt:lpstr>宋体</vt:lpstr>
      <vt:lpstr>宋体</vt:lpstr>
      <vt:lpstr>Arial</vt:lpstr>
      <vt:lpstr>Calibri</vt:lpstr>
      <vt:lpstr>Helvetica</vt:lpstr>
      <vt:lpstr>Wingdings</vt:lpstr>
      <vt:lpstr>南京大学软件学院模版</vt:lpstr>
      <vt:lpstr>批数据集成</vt:lpstr>
      <vt:lpstr>批数据集成</vt:lpstr>
      <vt:lpstr>批数据集成简介</vt:lpstr>
      <vt:lpstr>批数据集成</vt:lpstr>
      <vt:lpstr>特征</vt:lpstr>
      <vt:lpstr>特征</vt:lpstr>
      <vt:lpstr>基本问题</vt:lpstr>
      <vt:lpstr>基本问题</vt:lpstr>
      <vt:lpstr>框架</vt:lpstr>
      <vt:lpstr>案例</vt:lpstr>
      <vt:lpstr>批数据集成</vt:lpstr>
      <vt:lpstr>采集、迁移工具</vt:lpstr>
      <vt:lpstr>Sqoop</vt:lpstr>
      <vt:lpstr>Sqoop简介</vt:lpstr>
      <vt:lpstr>Sqoop简介</vt:lpstr>
      <vt:lpstr>Sqoop简介</vt:lpstr>
      <vt:lpstr>Sqoop简介</vt:lpstr>
      <vt:lpstr>Sqoop原理</vt:lpstr>
      <vt:lpstr>Sqoop原理</vt:lpstr>
      <vt:lpstr>Sqoop使用</vt:lpstr>
      <vt:lpstr>Sqoop使用</vt:lpstr>
      <vt:lpstr>Sqoop使用</vt:lpstr>
      <vt:lpstr>Sqoop使用</vt:lpstr>
      <vt:lpstr>Sqoop使用</vt:lpstr>
      <vt:lpstr>Sqoop使用</vt:lpstr>
      <vt:lpstr>Flume</vt:lpstr>
      <vt:lpstr>Flume简介</vt:lpstr>
      <vt:lpstr>Flume简介</vt:lpstr>
      <vt:lpstr>Flume原理——基本概念</vt:lpstr>
      <vt:lpstr>Flume原理——基本概念</vt:lpstr>
      <vt:lpstr>Flume原理——基本概念</vt:lpstr>
      <vt:lpstr>Flume原理——基本概念</vt:lpstr>
      <vt:lpstr>Flume原理——基本概念</vt:lpstr>
      <vt:lpstr>Flume原理——数据流</vt:lpstr>
      <vt:lpstr>Flume原理——数据流</vt:lpstr>
      <vt:lpstr>Flume原理——数据流</vt:lpstr>
      <vt:lpstr>Flume使用</vt:lpstr>
      <vt:lpstr>Flume使用</vt:lpstr>
      <vt:lpstr>Flume使用</vt:lpstr>
      <vt:lpstr>批数据集成</vt:lpstr>
      <vt:lpstr>ETL</vt:lpstr>
      <vt:lpstr>ETL 简介</vt:lpstr>
      <vt:lpstr>ETL 应用</vt:lpstr>
      <vt:lpstr>ETL 过程</vt:lpstr>
      <vt:lpstr>ETL 过程</vt:lpstr>
      <vt:lpstr>ETL 过程</vt:lpstr>
      <vt:lpstr>ETL 工具</vt:lpstr>
      <vt:lpstr>ETL 注意事项</vt:lpstr>
      <vt:lpstr>批数据集成</vt:lpstr>
      <vt:lpstr>数据存储</vt:lpstr>
      <vt:lpstr>文件存储系统HDFS</vt:lpstr>
      <vt:lpstr>HDFS简介</vt:lpstr>
      <vt:lpstr>HDFS简介</vt:lpstr>
      <vt:lpstr>HDFS简介</vt:lpstr>
      <vt:lpstr>HDFS简介</vt:lpstr>
      <vt:lpstr>HDFS简介</vt:lpstr>
      <vt:lpstr>HDFS简介</vt:lpstr>
      <vt:lpstr>HDFS文件管理</vt:lpstr>
      <vt:lpstr>存储方式</vt:lpstr>
      <vt:lpstr>存储方式——概述</vt:lpstr>
      <vt:lpstr>存储方式——行存储</vt:lpstr>
      <vt:lpstr>存储方式——列存储</vt:lpstr>
      <vt:lpstr>存储方式——对比</vt:lpstr>
      <vt:lpstr>存储方式——对比</vt:lpstr>
      <vt:lpstr>数据仓库及Hive</vt:lpstr>
      <vt:lpstr>数据仓库简介</vt:lpstr>
      <vt:lpstr>数据仓库基本架构</vt:lpstr>
      <vt:lpstr>数据仓库基本架构</vt:lpstr>
      <vt:lpstr>数据仓库基本架构</vt:lpstr>
      <vt:lpstr>数据仓库基本架构</vt:lpstr>
      <vt:lpstr>数据仓库基本架构</vt:lpstr>
      <vt:lpstr>数据仓库基本架构</vt:lpstr>
      <vt:lpstr>Hive简介</vt:lpstr>
      <vt:lpstr>Hive简介</vt:lpstr>
      <vt:lpstr>Hive重要概念</vt:lpstr>
      <vt:lpstr>Hive重要概念</vt:lpstr>
      <vt:lpstr>Hive重要概念</vt:lpstr>
      <vt:lpstr>Hive重要概念</vt:lpstr>
      <vt:lpstr>Hive操作——写入数据</vt:lpstr>
      <vt:lpstr>HiveSQL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应用集成概述</dc:title>
  <cp:lastModifiedBy>liufeng</cp:lastModifiedBy>
  <cp:revision>351</cp:revision>
  <dcterms:modified xsi:type="dcterms:W3CDTF">2022-03-18T07:37:48Z</dcterms:modified>
</cp:coreProperties>
</file>