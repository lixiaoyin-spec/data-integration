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3" r:id="rId9"/>
    <p:sldId id="264" r:id="rId10"/>
    <p:sldId id="267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69" r:id="rId21"/>
    <p:sldId id="270" r:id="rId22"/>
    <p:sldId id="271" r:id="rId23"/>
    <p:sldId id="272" r:id="rId24"/>
    <p:sldId id="273" r:id="rId25"/>
    <p:sldId id="275" r:id="rId26"/>
    <p:sldId id="276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202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DDE62-5909-44D9-83B1-032C8D4F70AC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BB2A-668C-40C9-9B70-EA56AF13D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92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ABB2A-668C-40C9-9B70-EA56AF13D5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433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ABB2A-668C-40C9-9B70-EA56AF13D5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364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83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830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526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884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193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568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665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076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76198-4CF3-446F-B204-6B1848582D6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173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 l="-53000" r="-5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2024/5/14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5C7E1-A3B1-449B-806E-F7ABE7F49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21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3EDF8-8923-4962-AF79-3FE71FED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集成学习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D5089E-B723-4F0C-B36F-DDFDFDF52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21257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概念：通过构建并结合多个学习器来完成学习任务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一般结构：先产生一组“个体学习器”，再用某种策略将他们结合起来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FF8E85A-56FF-4A08-92E1-4128D0A92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544" y="3171045"/>
            <a:ext cx="6589451" cy="368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7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04B16-428A-431C-AD3E-9440E7E27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841"/>
            <a:ext cx="10515600" cy="2869204"/>
          </a:xfrm>
        </p:spPr>
        <p:txBody>
          <a:bodyPr/>
          <a:lstStyle/>
          <a:p>
            <a:r>
              <a:rPr lang="zh-CN" altLang="en-US" dirty="0"/>
              <a:t>个体学习器通常由一个现有的学习算法从训练数据产生</a:t>
            </a:r>
            <a:endParaRPr lang="en-US" altLang="zh-CN" dirty="0"/>
          </a:p>
          <a:p>
            <a:r>
              <a:rPr lang="en-US" altLang="zh-CN" dirty="0" err="1"/>
              <a:t>e.g</a:t>
            </a:r>
            <a:r>
              <a:rPr lang="zh-CN" altLang="en-US" dirty="0"/>
              <a:t>：决策树、神经网络、支持向量机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同质学习器（基学习器）：集成只包含同种类型的个体学习器</a:t>
            </a:r>
            <a:endParaRPr lang="en-US" altLang="zh-CN" dirty="0"/>
          </a:p>
          <a:p>
            <a:r>
              <a:rPr lang="zh-CN" altLang="en-US" dirty="0"/>
              <a:t>异质学习器（组件学习器）：集成包含不同类型的个体学习器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959669-4CD0-4D7D-BF90-B8E53A16F3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544" y="3171045"/>
            <a:ext cx="6589451" cy="368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08A7B-24AF-413A-A672-7B2EDC24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结合策略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E7A98-415F-4F46-AE4F-597201433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投票法</a:t>
            </a:r>
            <a:r>
              <a:rPr lang="en-US" altLang="zh-CN" dirty="0"/>
              <a:t>——</a:t>
            </a:r>
            <a:r>
              <a:rPr lang="zh-CN" altLang="en-US" dirty="0"/>
              <a:t>适用于分类模型，预测结果为一个类别，“少数服从多数”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均值法</a:t>
            </a:r>
            <a:r>
              <a:rPr lang="en-US" altLang="zh-CN" dirty="0"/>
              <a:t>——</a:t>
            </a:r>
            <a:r>
              <a:rPr lang="zh-CN" altLang="en-US" dirty="0"/>
              <a:t>适用于回归模型，预测结果为一个数值，采用加权平均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学习法</a:t>
            </a:r>
            <a:r>
              <a:rPr lang="en-US" altLang="zh-CN" dirty="0"/>
              <a:t>——</a:t>
            </a:r>
            <a:r>
              <a:rPr lang="zh-CN" altLang="en-US" dirty="0"/>
              <a:t>用另一个集成学习来进行结合</a:t>
            </a:r>
          </a:p>
        </p:txBody>
      </p:sp>
    </p:spTree>
    <p:extLst>
      <p:ext uri="{BB962C8B-B14F-4D97-AF65-F5344CB8AC3E}">
        <p14:creationId xmlns:p14="http://schemas.microsoft.com/office/powerpoint/2010/main" val="38188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E061D-3B5C-4F99-86CD-3712813BF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为什么要进行集成？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107E9-0DC3-4747-9423-36B4FF5A4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305668"/>
          </a:xfrm>
        </p:spPr>
        <p:txBody>
          <a:bodyPr>
            <a:normAutofit/>
          </a:bodyPr>
          <a:lstStyle/>
          <a:p>
            <a:r>
              <a:rPr lang="zh-CN" altLang="en-US" dirty="0"/>
              <a:t>三个臭皮匠，顶个诸葛亮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集成学习通过将多个学习器进行结合，常可获得比单一学习器显著优越的泛化特征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对“弱学习器”尤其明显</a:t>
            </a:r>
            <a:endParaRPr lang="en-US" altLang="zh-CN" dirty="0"/>
          </a:p>
          <a:p>
            <a:pPr algn="l"/>
            <a:endParaRPr lang="en-US" altLang="zh-CN" sz="1800" b="1" i="0" u="none" strike="noStrike" baseline="0" dirty="0">
              <a:solidFill>
                <a:srgbClr val="FF0000"/>
              </a:solidFill>
              <a:latin typeface="MicrosoftYaHei-Bold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E0F8DC2-7D9B-4091-A3AA-A713B06B2072}"/>
              </a:ext>
            </a:extLst>
          </p:cNvPr>
          <p:cNvCxnSpPr>
            <a:cxnSpLocks/>
          </p:cNvCxnSpPr>
          <p:nvPr/>
        </p:nvCxnSpPr>
        <p:spPr>
          <a:xfrm>
            <a:off x="2610035" y="4722920"/>
            <a:ext cx="2627790" cy="89702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6613EA6-3D95-4F38-963A-A75258E60723}"/>
              </a:ext>
            </a:extLst>
          </p:cNvPr>
          <p:cNvSpPr txBox="1"/>
          <p:nvPr/>
        </p:nvSpPr>
        <p:spPr>
          <a:xfrm>
            <a:off x="5340656" y="5375976"/>
            <a:ext cx="5072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泛化性能略优于随机猜测的学习器</a:t>
            </a:r>
            <a:endParaRPr lang="en-US" altLang="zh-CN" sz="2000" dirty="0"/>
          </a:p>
          <a:p>
            <a:r>
              <a:rPr lang="zh-CN" altLang="en-US" sz="2000" dirty="0"/>
              <a:t>例如在二分问题上精度略高于</a:t>
            </a:r>
            <a:r>
              <a:rPr lang="en-US" altLang="zh-CN" sz="2000" dirty="0"/>
              <a:t>50%</a:t>
            </a:r>
            <a:r>
              <a:rPr lang="zh-CN" altLang="en-US" sz="2000" dirty="0"/>
              <a:t>的分类器</a:t>
            </a:r>
          </a:p>
        </p:txBody>
      </p:sp>
    </p:spTree>
    <p:extLst>
      <p:ext uri="{BB962C8B-B14F-4D97-AF65-F5344CB8AC3E}">
        <p14:creationId xmlns:p14="http://schemas.microsoft.com/office/powerpoint/2010/main" val="4256687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FA5D2-FA0A-43A0-814B-134348AF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集成会更好吗？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60AD54-FAAD-447B-9D14-43F9D7959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566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        在一般经验中，如果把好坏不等的东西掺到一起，那么通常的结果会是比最坏的要好一些，比最好的要坏一些，集成学习把多个学习器结合起来，如何能获得比最好的单一学习器更好的性能呢？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e.g. </a:t>
            </a:r>
            <a:r>
              <a:rPr lang="zh-CN" altLang="en-US" sz="2000" dirty="0"/>
              <a:t>在二分类任务中，假定三个分类器在三个测试样本的投票表现如下图所示，其中√表示分类正确，</a:t>
            </a:r>
            <a:r>
              <a:rPr lang="en-US" altLang="zh-CN" sz="2000" dirty="0"/>
              <a:t>×</a:t>
            </a:r>
            <a:r>
              <a:rPr lang="zh-CN" altLang="en-US" sz="2000" dirty="0"/>
              <a:t>表示分类错误，集成学习的结果通过“投票法”产生。</a:t>
            </a:r>
            <a:endParaRPr lang="en-US" altLang="zh-CN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C72DA6-B5FD-4EB1-BED1-0330225BC66E}"/>
              </a:ext>
            </a:extLst>
          </p:cNvPr>
          <p:cNvSpPr txBox="1"/>
          <p:nvPr/>
        </p:nvSpPr>
        <p:spPr>
          <a:xfrm>
            <a:off x="7625918" y="4903284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每个分类器都只有</a:t>
            </a:r>
            <a:r>
              <a:rPr lang="en-US" altLang="zh-CN" sz="2000" dirty="0">
                <a:solidFill>
                  <a:srgbClr val="FF0000"/>
                </a:solidFill>
              </a:rPr>
              <a:t>66.7%</a:t>
            </a:r>
            <a:r>
              <a:rPr lang="zh-CN" altLang="en-US" sz="2000" dirty="0"/>
              <a:t>的精度</a:t>
            </a:r>
            <a:endParaRPr lang="en-US" altLang="zh-CN" sz="2000" dirty="0"/>
          </a:p>
          <a:p>
            <a:r>
              <a:rPr lang="zh-CN" altLang="en-US" sz="2000" dirty="0"/>
              <a:t>但集成学习却达到了</a:t>
            </a:r>
            <a:r>
              <a:rPr lang="en-US" altLang="zh-CN" sz="2000" dirty="0">
                <a:solidFill>
                  <a:srgbClr val="FF0000"/>
                </a:solidFill>
              </a:rPr>
              <a:t>100%</a:t>
            </a:r>
            <a:r>
              <a:rPr lang="zh-CN" altLang="en-US" sz="2000" dirty="0"/>
              <a:t>！！！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7DC64AF-741C-4C8B-9284-6B92CE7C7142}"/>
              </a:ext>
            </a:extLst>
          </p:cNvPr>
          <p:cNvSpPr/>
          <p:nvPr/>
        </p:nvSpPr>
        <p:spPr>
          <a:xfrm>
            <a:off x="6196614" y="5003972"/>
            <a:ext cx="1206623" cy="506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89C62C-60E5-4585-BE8A-AF2F7D66D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31" y="4001294"/>
            <a:ext cx="4759853" cy="25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9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D9C16E-2D22-4830-80D1-BEAF738B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集成会更好吗？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03CA86D5-F4AB-4EE1-A171-5AD6C38303F2}"/>
              </a:ext>
            </a:extLst>
          </p:cNvPr>
          <p:cNvSpPr/>
          <p:nvPr/>
        </p:nvSpPr>
        <p:spPr>
          <a:xfrm>
            <a:off x="5814875" y="2399899"/>
            <a:ext cx="1206623" cy="506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D33BE5-626B-4C80-8D7B-49D20CCEB86A}"/>
              </a:ext>
            </a:extLst>
          </p:cNvPr>
          <p:cNvSpPr txBox="1"/>
          <p:nvPr/>
        </p:nvSpPr>
        <p:spPr>
          <a:xfrm>
            <a:off x="7548978" y="2299210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分类器</a:t>
            </a:r>
            <a:r>
              <a:rPr lang="zh-CN" altLang="en-US" sz="2000" dirty="0">
                <a:solidFill>
                  <a:srgbClr val="FF0000"/>
                </a:solidFill>
              </a:rPr>
              <a:t>没有差别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集成学习</a:t>
            </a:r>
            <a:r>
              <a:rPr lang="zh-CN" altLang="en-US" sz="2000" dirty="0">
                <a:solidFill>
                  <a:srgbClr val="FF0000"/>
                </a:solidFill>
              </a:rPr>
              <a:t>不起作用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0606162E-06AC-4884-95C6-B04EA2E357B1}"/>
              </a:ext>
            </a:extLst>
          </p:cNvPr>
          <p:cNvSpPr/>
          <p:nvPr/>
        </p:nvSpPr>
        <p:spPr>
          <a:xfrm>
            <a:off x="5814874" y="4809921"/>
            <a:ext cx="1206623" cy="5065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3CC210-A730-4403-9268-730278FD3367}"/>
              </a:ext>
            </a:extLst>
          </p:cNvPr>
          <p:cNvSpPr txBox="1"/>
          <p:nvPr/>
        </p:nvSpPr>
        <p:spPr>
          <a:xfrm>
            <a:off x="7548978" y="4809921"/>
            <a:ext cx="39505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分类器</a:t>
            </a:r>
            <a:r>
              <a:rPr lang="zh-CN" altLang="en-US" sz="2000" dirty="0">
                <a:solidFill>
                  <a:srgbClr val="FF0000"/>
                </a:solidFill>
              </a:rPr>
              <a:t>效果太差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集成学习</a:t>
            </a:r>
            <a:r>
              <a:rPr lang="zh-CN" altLang="en-US" sz="2000" dirty="0">
                <a:solidFill>
                  <a:srgbClr val="FF0000"/>
                </a:solidFill>
              </a:rPr>
              <a:t>起负作用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BE9C05-7A97-4B48-A7A2-22FFE6422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01" y="1506351"/>
            <a:ext cx="4344093" cy="22992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08F907-F278-4913-A342-10152BD2C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01" y="4014256"/>
            <a:ext cx="4344093" cy="229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30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07B87-57F0-4148-8A89-A5D15047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准确性与多样性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好而不同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BDAF61-8837-4214-8CAE-466B6C0B0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结论：在基学习器的误差相互独立的前提下，随着集成中个体分类器数目的增加，集成的错误率将指数级下降，最终趋向于零。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在现实任务中，个体学习器是为了解决同一个问题训练出来的，他们显然不可能相互独立！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“准确性”与“多样性”本身就存在冲突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如何产生“好而不同”的个体学习器，恰是集成学习研究的</a:t>
            </a:r>
            <a:r>
              <a:rPr lang="zh-CN" altLang="en-US" dirty="0">
                <a:solidFill>
                  <a:srgbClr val="FF0000"/>
                </a:solidFill>
              </a:rPr>
              <a:t>核心</a:t>
            </a:r>
          </a:p>
        </p:txBody>
      </p:sp>
    </p:spTree>
    <p:extLst>
      <p:ext uri="{BB962C8B-B14F-4D97-AF65-F5344CB8AC3E}">
        <p14:creationId xmlns:p14="http://schemas.microsoft.com/office/powerpoint/2010/main" val="273796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41485-E187-4F66-8CF6-8F15ED7F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两类集成学习方法</a:t>
            </a:r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B9091553-AC5A-4C55-866D-2857E4DFB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237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个体学习器间存在强依赖关系，必须串行生成的序列化方法</a:t>
            </a:r>
            <a:r>
              <a:rPr lang="en-US" altLang="zh-CN" sz="2400" dirty="0"/>
              <a:t>——Boosting</a:t>
            </a:r>
          </a:p>
          <a:p>
            <a:endParaRPr lang="en-US" altLang="zh-CN" sz="2400" dirty="0"/>
          </a:p>
          <a:p>
            <a:r>
              <a:rPr lang="zh-CN" altLang="en-US" sz="2400" dirty="0"/>
              <a:t>个体学习器间不存在强依赖关系，可同时生成的并行化方法</a:t>
            </a:r>
            <a:r>
              <a:rPr lang="en-US" altLang="zh-CN" sz="2400" dirty="0"/>
              <a:t>——Bagging</a:t>
            </a:r>
            <a:endParaRPr lang="zh-CN" altLang="en-US" sz="2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1DE4B6A-7308-4FBE-B1BE-218AC76C3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907" y="3203360"/>
            <a:ext cx="6865398" cy="343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74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6C668-4400-45EF-9E54-4CF34000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Bagging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CCE9E-76A1-451B-8C85-91B82B544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一个扩展变体：随机森林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简单概括一下就是，通过随机选取样本或者随机选取属性，并行地训练一些差异性较大并且优秀的基学习器（如采用决策树），然后进行结合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8736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89225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决策树的生成算法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937E86E8-CE78-403F-9441-4922E287726C}"/>
              </a:ext>
            </a:extLst>
          </p:cNvPr>
          <p:cNvSpPr txBox="1"/>
          <p:nvPr/>
        </p:nvSpPr>
        <p:spPr>
          <a:xfrm>
            <a:off x="1473693" y="1057730"/>
            <a:ext cx="987742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ID3</a:t>
            </a:r>
            <a:r>
              <a:rPr lang="zh-CN" altLang="en-US" dirty="0"/>
              <a:t>：选择信息增益最大的特征进行分裂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C4.5</a:t>
            </a:r>
            <a:r>
              <a:rPr lang="zh-CN" altLang="en-US" dirty="0"/>
              <a:t>：以信息增益率作为分类标准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/>
              <a:t>CART</a:t>
            </a:r>
            <a:r>
              <a:rPr lang="zh-CN" altLang="en-US" dirty="0"/>
              <a:t>：以基尼系数作为分裂规则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</a:t>
            </a:r>
            <a:endParaRPr lang="zh-CN" altLang="en-US" dirty="0"/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1475D9B7-0822-43FB-99E2-DB1AA3CD3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814" y="1887047"/>
            <a:ext cx="2752381" cy="36190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872E8AF3-C9B8-43E5-A037-95C1C8A92C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35" r="8129"/>
          <a:stretch/>
        </p:blipFill>
        <p:spPr>
          <a:xfrm>
            <a:off x="6664025" y="1372091"/>
            <a:ext cx="2476190" cy="704762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70EC732D-F087-4991-B5F6-259232640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869" y="2195503"/>
            <a:ext cx="2476190" cy="619048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A179938B-2784-4854-BA09-D8616222B4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9853" y="3643388"/>
            <a:ext cx="2952381" cy="561905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1075C963-FE06-42A5-BC0C-8D0C09B737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8707" y="3581520"/>
            <a:ext cx="2780952" cy="666667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2F5664A1-EB42-4AFD-AED6-56684BB5AC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5398" y="5616765"/>
            <a:ext cx="2895238" cy="666667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FB48143C-C214-460C-A07E-AD6CCCB811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4803" y="5635220"/>
            <a:ext cx="2847619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1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89225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决策树的优缺点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937E86E8-CE78-403F-9441-4922E287726C}"/>
              </a:ext>
            </a:extLst>
          </p:cNvPr>
          <p:cNvSpPr txBox="1"/>
          <p:nvPr/>
        </p:nvSpPr>
        <p:spPr>
          <a:xfrm>
            <a:off x="1473693" y="1724480"/>
            <a:ext cx="94403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优点</a:t>
            </a:r>
            <a:r>
              <a:rPr lang="zh-CN" altLang="en-US" dirty="0"/>
              <a:t>：易于理解，模型具有可读性；构造简单，分类速度快。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缺点</a:t>
            </a:r>
            <a:r>
              <a:rPr lang="zh-CN" altLang="en-US" dirty="0"/>
              <a:t>：泛化能力差，模型容易过度拟合；对噪声数据比较敏感，分类效果不稳定。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73377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77573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Bagging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算法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DE2B9D2-7CDD-4509-8D5D-BE55F66C4AD2}"/>
              </a:ext>
            </a:extLst>
          </p:cNvPr>
          <p:cNvSpPr txBox="1"/>
          <p:nvPr/>
        </p:nvSpPr>
        <p:spPr>
          <a:xfrm>
            <a:off x="1473693" y="1324430"/>
            <a:ext cx="944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Bagging</a:t>
            </a:r>
            <a:r>
              <a:rPr lang="zh-CN" altLang="en-US" dirty="0"/>
              <a:t>（</a:t>
            </a:r>
            <a:r>
              <a:rPr lang="en-US" altLang="zh-CN" dirty="0"/>
              <a:t>Bootstrap aggregating</a:t>
            </a:r>
            <a:r>
              <a:rPr lang="zh-CN" altLang="en-US" dirty="0"/>
              <a:t>，引导聚集算法），也叫装袋算法，是一种集成学习方法。核心思想是，从总体样本中多次随机抽取一部分样本，分别训练几个不同的模型，然后让所有模型独立的处理待分类数据，最后由各个模型的分类结果投票得到最终结果。</a:t>
            </a:r>
            <a:endParaRPr lang="en-US" altLang="zh-CN" dirty="0"/>
          </a:p>
        </p:txBody>
      </p:sp>
      <p:graphicFrame>
        <p:nvGraphicFramePr>
          <p:cNvPr id="63" name="表格 63">
            <a:extLst>
              <a:ext uri="{FF2B5EF4-FFF2-40B4-BE49-F238E27FC236}">
                <a16:creationId xmlns:a16="http://schemas.microsoft.com/office/drawing/2014/main" id="{91970FB0-0A42-40ED-A4A4-49F3BE8FC454}"/>
              </a:ext>
            </a:extLst>
          </p:cNvPr>
          <p:cNvGraphicFramePr>
            <a:graphicFrameLocks noGrp="1"/>
          </p:cNvGraphicFramePr>
          <p:nvPr/>
        </p:nvGraphicFramePr>
        <p:xfrm>
          <a:off x="1867589" y="4177584"/>
          <a:ext cx="87242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5832031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49103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46449780"/>
                    </a:ext>
                  </a:extLst>
                </a:gridCol>
                <a:gridCol w="916432">
                  <a:extLst>
                    <a:ext uri="{9D8B030D-6E8A-4147-A177-3AD203B41FA5}">
                      <a16:colId xmlns:a16="http://schemas.microsoft.com/office/drawing/2014/main" val="299542365"/>
                    </a:ext>
                  </a:extLst>
                </a:gridCol>
                <a:gridCol w="1405854">
                  <a:extLst>
                    <a:ext uri="{9D8B030D-6E8A-4147-A177-3AD203B41FA5}">
                      <a16:colId xmlns:a16="http://schemas.microsoft.com/office/drawing/2014/main" val="28089320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84197614"/>
                    </a:ext>
                  </a:extLst>
                </a:gridCol>
                <a:gridCol w="1757353">
                  <a:extLst>
                    <a:ext uri="{9D8B030D-6E8A-4147-A177-3AD203B41FA5}">
                      <a16:colId xmlns:a16="http://schemas.microsoft.com/office/drawing/2014/main" val="2470449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胸痛类型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血压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…………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最大心率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是否有心脏病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67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0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99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98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191320"/>
                  </a:ext>
                </a:extLst>
              </a:tr>
            </a:tbl>
          </a:graphicData>
        </a:graphic>
      </p:graphicFrame>
      <p:sp>
        <p:nvSpPr>
          <p:cNvPr id="66" name="左大括号 65">
            <a:extLst>
              <a:ext uri="{FF2B5EF4-FFF2-40B4-BE49-F238E27FC236}">
                <a16:creationId xmlns:a16="http://schemas.microsoft.com/office/drawing/2014/main" id="{B07816CC-DFCC-4DA8-AF24-BDE76FF69BD7}"/>
              </a:ext>
            </a:extLst>
          </p:cNvPr>
          <p:cNvSpPr/>
          <p:nvPr/>
        </p:nvSpPr>
        <p:spPr>
          <a:xfrm>
            <a:off x="1381125" y="4551543"/>
            <a:ext cx="442500" cy="149335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05D1C37-89D2-43AD-ADAA-39D6BE1F1BB4}"/>
              </a:ext>
            </a:extLst>
          </p:cNvPr>
          <p:cNvSpPr txBox="1"/>
          <p:nvPr/>
        </p:nvSpPr>
        <p:spPr>
          <a:xfrm>
            <a:off x="332044" y="5120090"/>
            <a:ext cx="1154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</a:t>
            </a:r>
            <a:r>
              <a:rPr lang="en-US" altLang="zh-CN" dirty="0">
                <a:solidFill>
                  <a:srgbClr val="FF0000"/>
                </a:solidFill>
              </a:rPr>
              <a:t>270</a:t>
            </a:r>
            <a:r>
              <a:rPr lang="zh-CN" altLang="en-US" dirty="0"/>
              <a:t>条</a:t>
            </a: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7AF34132-0B9A-4579-899C-77B0A11063A9}"/>
              </a:ext>
            </a:extLst>
          </p:cNvPr>
          <p:cNvCxnSpPr>
            <a:cxnSpLocks/>
          </p:cNvCxnSpPr>
          <p:nvPr/>
        </p:nvCxnSpPr>
        <p:spPr>
          <a:xfrm flipV="1">
            <a:off x="8695659" y="3992222"/>
            <a:ext cx="836009" cy="178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8918E204-724B-4FAF-88B2-33E1082FABD4}"/>
              </a:ext>
            </a:extLst>
          </p:cNvPr>
          <p:cNvSpPr txBox="1"/>
          <p:nvPr/>
        </p:nvSpPr>
        <p:spPr>
          <a:xfrm>
            <a:off x="9530311" y="3780105"/>
            <a:ext cx="1154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</a:t>
            </a:r>
            <a:r>
              <a:rPr lang="en-US" altLang="zh-CN" dirty="0">
                <a:solidFill>
                  <a:srgbClr val="FF0000"/>
                </a:solidFill>
              </a:rPr>
              <a:t>13</a:t>
            </a:r>
            <a:r>
              <a:rPr lang="zh-CN" altLang="en-US" dirty="0"/>
              <a:t>个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59FC6C71-D102-4D2F-B5C9-84B4D53EA270}"/>
              </a:ext>
            </a:extLst>
          </p:cNvPr>
          <p:cNvSpPr txBox="1"/>
          <p:nvPr/>
        </p:nvSpPr>
        <p:spPr>
          <a:xfrm>
            <a:off x="1469568" y="2433708"/>
            <a:ext cx="9440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Bagging</a:t>
            </a:r>
            <a:r>
              <a:rPr lang="zh-CN" altLang="en-US" dirty="0"/>
              <a:t>算法可以用于决策树分类。举个例子，比如我们现在要通过人的身体指标，预测这个人有没有心脏病。数据样本如表格所示，共有</a:t>
            </a:r>
            <a:r>
              <a:rPr lang="en-US" altLang="zh-CN" dirty="0"/>
              <a:t>13</a:t>
            </a:r>
            <a:r>
              <a:rPr lang="zh-CN" altLang="en-US" dirty="0"/>
              <a:t>个特征，分别是年龄、性别、胸痛类型、血压、血清胆固醇、空腹血糖是否大于</a:t>
            </a:r>
            <a:r>
              <a:rPr lang="en-US" altLang="zh-CN" dirty="0"/>
              <a:t>120</a:t>
            </a:r>
            <a:r>
              <a:rPr lang="zh-CN" altLang="en-US" dirty="0"/>
              <a:t>、心电图类型、是否有心绞痛、</a:t>
            </a:r>
            <a:r>
              <a:rPr lang="en-US" altLang="zh-CN" dirty="0"/>
              <a:t>ST</a:t>
            </a:r>
            <a:r>
              <a:rPr lang="zh-CN" altLang="en-US" dirty="0"/>
              <a:t>凹陷、</a:t>
            </a:r>
            <a:r>
              <a:rPr lang="en-US" altLang="zh-CN" dirty="0"/>
              <a:t>ST</a:t>
            </a:r>
            <a:r>
              <a:rPr lang="zh-CN" altLang="en-US" dirty="0"/>
              <a:t>峰值斜率、</a:t>
            </a:r>
            <a:r>
              <a:rPr lang="en-US" altLang="zh-CN" dirty="0"/>
              <a:t> </a:t>
            </a:r>
            <a:r>
              <a:rPr lang="en-US" altLang="zh-CN" dirty="0" err="1"/>
              <a:t>thal</a:t>
            </a:r>
            <a:r>
              <a:rPr lang="zh-CN" altLang="en-US" dirty="0"/>
              <a:t>、荧光染色的主要血管数、最大心率。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58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/>
      <p:bldP spid="87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79700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Bagging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算法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937E86E8-CE78-403F-9441-4922E287726C}"/>
              </a:ext>
            </a:extLst>
          </p:cNvPr>
          <p:cNvSpPr txBox="1"/>
          <p:nvPr/>
        </p:nvSpPr>
        <p:spPr>
          <a:xfrm>
            <a:off x="1473693" y="1324430"/>
            <a:ext cx="94403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决策树算法：用总样本的</a:t>
            </a:r>
            <a:r>
              <a:rPr lang="zh-CN" altLang="en-US" b="1" dirty="0"/>
              <a:t>全部</a:t>
            </a:r>
            <a:r>
              <a:rPr lang="en-US" altLang="zh-CN" b="1" dirty="0"/>
              <a:t>270</a:t>
            </a:r>
            <a:r>
              <a:rPr lang="zh-CN" altLang="en-US" b="1" dirty="0"/>
              <a:t>条</a:t>
            </a:r>
            <a:r>
              <a:rPr lang="zh-CN" altLang="en-US" dirty="0"/>
              <a:t>数据构建一棵树，得到单分类器，进行预测。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基于决策树的</a:t>
            </a:r>
            <a:r>
              <a:rPr lang="en-US" altLang="zh-CN" dirty="0"/>
              <a:t>Bagging</a:t>
            </a:r>
            <a:r>
              <a:rPr lang="zh-CN" altLang="en-US" dirty="0"/>
              <a:t>算法：比如设置取总样本的</a:t>
            </a:r>
            <a:r>
              <a:rPr lang="en-US" altLang="zh-CN" dirty="0"/>
              <a:t>2/3</a:t>
            </a:r>
            <a:r>
              <a:rPr lang="zh-CN" altLang="en-US" dirty="0"/>
              <a:t>，</a:t>
            </a:r>
            <a:r>
              <a:rPr lang="zh-CN" altLang="en-US" b="1" dirty="0"/>
              <a:t>随机且有放回</a:t>
            </a:r>
            <a:r>
              <a:rPr lang="zh-CN" altLang="en-US" dirty="0"/>
              <a:t>地抽取</a:t>
            </a:r>
            <a:r>
              <a:rPr lang="en-US" altLang="zh-CN" dirty="0"/>
              <a:t>180</a:t>
            </a:r>
            <a:r>
              <a:rPr lang="zh-CN" altLang="en-US" dirty="0"/>
              <a:t>条数据，构建一棵决策树；重复以上步骤</a:t>
            </a:r>
            <a:r>
              <a:rPr lang="en-US" altLang="zh-CN" dirty="0"/>
              <a:t>10</a:t>
            </a:r>
            <a:r>
              <a:rPr lang="zh-CN" altLang="en-US" dirty="0"/>
              <a:t>次，得到</a:t>
            </a:r>
            <a:r>
              <a:rPr lang="en-US" altLang="zh-CN" dirty="0"/>
              <a:t>10</a:t>
            </a:r>
            <a:r>
              <a:rPr lang="zh-CN" altLang="en-US" dirty="0"/>
              <a:t>棵决策树，对这</a:t>
            </a:r>
            <a:r>
              <a:rPr lang="en-US" altLang="zh-CN" dirty="0"/>
              <a:t>10</a:t>
            </a:r>
            <a:r>
              <a:rPr lang="zh-CN" altLang="en-US" dirty="0"/>
              <a:t>棵树的分类结果进行多数投票，得到最终分类结果。</a:t>
            </a:r>
            <a:endParaRPr lang="en-US" altLang="zh-CN" dirty="0"/>
          </a:p>
          <a:p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为什么要随机？</a:t>
            </a:r>
            <a:endParaRPr lang="en-US" altLang="zh-CN" dirty="0"/>
          </a:p>
          <a:p>
            <a:pPr lvl="1"/>
            <a:r>
              <a:rPr lang="zh-CN" altLang="en-US" dirty="0"/>
              <a:t>     因为如果不随机，每棵树的训练集相同，那么训练出的树都完全一样，这样就没有</a:t>
            </a:r>
            <a:r>
              <a:rPr lang="en-US" altLang="zh-CN" dirty="0"/>
              <a:t>bagging</a:t>
            </a:r>
            <a:r>
              <a:rPr lang="zh-CN" altLang="en-US" dirty="0"/>
              <a:t>的必要。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为什么是有放回的？</a:t>
            </a:r>
            <a:r>
              <a:rPr lang="en-US" altLang="zh-CN" dirty="0"/>
              <a:t>   </a:t>
            </a:r>
          </a:p>
          <a:p>
            <a:pPr lvl="1"/>
            <a:r>
              <a:rPr lang="en-US" altLang="zh-CN" dirty="0"/>
              <a:t>     </a:t>
            </a:r>
            <a:r>
              <a:rPr lang="zh-CN" altLang="en-US" dirty="0"/>
              <a:t>否则每棵树都是有偏的，最后分类偏差很大。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      Bagging</a:t>
            </a:r>
            <a:r>
              <a:rPr lang="zh-CN" altLang="en-US" dirty="0"/>
              <a:t>算法是一个可以减少泛化误差的非常强大可靠的算法，原因在于不同的模型独立处理数据，通常不会产生完全相同的误差，提高了系统的抗噪能力，使得分类准确率和稳定性得到提高（可以理解为三个臭皮匠顶过诸葛亮）。几乎任何机器学习算法都可以从集成方法中大幅获益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102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77573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随机森林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DE2B9D2-7CDD-4509-8D5D-BE55F66C4AD2}"/>
              </a:ext>
            </a:extLst>
          </p:cNvPr>
          <p:cNvSpPr txBox="1"/>
          <p:nvPr/>
        </p:nvSpPr>
        <p:spPr>
          <a:xfrm>
            <a:off x="1473693" y="1324430"/>
            <a:ext cx="94403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随机森林（</a:t>
            </a:r>
            <a:r>
              <a:rPr lang="en-US" altLang="zh-CN" dirty="0"/>
              <a:t>Random Forest</a:t>
            </a:r>
            <a:r>
              <a:rPr lang="zh-CN" altLang="en-US" dirty="0"/>
              <a:t>）是以决策树作为基学习器的学习算法，是一种基于树模型的</a:t>
            </a:r>
            <a:r>
              <a:rPr lang="en-US" altLang="zh-CN" dirty="0"/>
              <a:t>Bagging</a:t>
            </a:r>
            <a:r>
              <a:rPr lang="zh-CN" altLang="en-US" dirty="0"/>
              <a:t>的优化版本。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森林：树的集合。</a:t>
            </a: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随机：是在</a:t>
            </a:r>
            <a:r>
              <a:rPr lang="en-US" altLang="zh-CN" dirty="0"/>
              <a:t>Bagging</a:t>
            </a:r>
            <a:r>
              <a:rPr lang="zh-CN" altLang="en-US" dirty="0"/>
              <a:t>随机抽取样本的基础上，再随机地抽取特征，构建决策树。</a:t>
            </a:r>
            <a:endParaRPr lang="en-US" altLang="zh-CN" dirty="0"/>
          </a:p>
          <a:p>
            <a:pPr lvl="1"/>
            <a:r>
              <a:rPr lang="zh-CN" altLang="en-US" dirty="0"/>
              <a:t>     例如每个样本的特征维度是</a:t>
            </a:r>
            <a:r>
              <a:rPr lang="en-US" altLang="zh-CN" dirty="0"/>
              <a:t>M</a:t>
            </a:r>
            <a:r>
              <a:rPr lang="zh-CN" altLang="en-US" dirty="0"/>
              <a:t>，我们指定一个常数</a:t>
            </a:r>
            <a:r>
              <a:rPr lang="en-US" altLang="zh-CN" dirty="0"/>
              <a:t>m&lt;&lt;M</a:t>
            </a:r>
            <a:r>
              <a:rPr lang="zh-CN" altLang="en-US" dirty="0"/>
              <a:t>，随机地从</a:t>
            </a:r>
            <a:r>
              <a:rPr lang="en-US" altLang="zh-CN" dirty="0"/>
              <a:t>M</a:t>
            </a:r>
            <a:r>
              <a:rPr lang="zh-CN" altLang="en-US" dirty="0"/>
              <a:t>个特征中选取</a:t>
            </a:r>
            <a:r>
              <a:rPr lang="en-US" altLang="zh-CN" dirty="0"/>
              <a:t>m</a:t>
            </a:r>
            <a:r>
              <a:rPr lang="zh-CN" altLang="en-US" dirty="0"/>
              <a:t>个特征构成一个特征子集，由样本子集和特征子集构建单棵决策树。</a:t>
            </a:r>
          </a:p>
        </p:txBody>
      </p:sp>
    </p:spTree>
    <p:extLst>
      <p:ext uri="{BB962C8B-B14F-4D97-AF65-F5344CB8AC3E}">
        <p14:creationId xmlns:p14="http://schemas.microsoft.com/office/powerpoint/2010/main" val="794709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77573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随机森林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DE2B9D2-7CDD-4509-8D5D-BE55F66C4AD2}"/>
              </a:ext>
            </a:extLst>
          </p:cNvPr>
          <p:cNvSpPr txBox="1"/>
          <p:nvPr/>
        </p:nvSpPr>
        <p:spPr>
          <a:xfrm>
            <a:off x="1364836" y="3044372"/>
            <a:ext cx="99127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</a:t>
            </a:r>
            <a:r>
              <a:rPr lang="zh-CN" altLang="en-US" dirty="0"/>
              <a:t>基于</a:t>
            </a:r>
            <a:r>
              <a:rPr lang="en-US" altLang="zh-CN" dirty="0"/>
              <a:t>Bagging</a:t>
            </a:r>
            <a:r>
              <a:rPr lang="zh-CN" altLang="en-US" dirty="0"/>
              <a:t>的树模型：随机且有放回的抽取</a:t>
            </a:r>
            <a:r>
              <a:rPr lang="en-US" altLang="zh-CN" dirty="0"/>
              <a:t>2/3</a:t>
            </a:r>
            <a:r>
              <a:rPr lang="zh-CN" altLang="en-US" dirty="0"/>
              <a:t>的样本数据（</a:t>
            </a:r>
            <a:r>
              <a:rPr lang="en-US" altLang="zh-CN" dirty="0"/>
              <a:t>180</a:t>
            </a:r>
            <a:r>
              <a:rPr lang="zh-CN" altLang="en-US" dirty="0"/>
              <a:t>条），结合全部特征（</a:t>
            </a:r>
            <a:r>
              <a:rPr lang="en-US" altLang="zh-CN" dirty="0"/>
              <a:t>13</a:t>
            </a:r>
            <a:r>
              <a:rPr lang="zh-CN" altLang="en-US" dirty="0"/>
              <a:t>个）构建单棵决策树，重复多次，最后多数投票。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随机森林：随机且有放回的抽取</a:t>
            </a:r>
            <a:r>
              <a:rPr lang="en-US" altLang="zh-CN" dirty="0"/>
              <a:t>2/3</a:t>
            </a:r>
            <a:r>
              <a:rPr lang="zh-CN" altLang="en-US" dirty="0"/>
              <a:t>的样本数据（</a:t>
            </a:r>
            <a:r>
              <a:rPr lang="en-US" altLang="zh-CN" dirty="0"/>
              <a:t>180</a:t>
            </a:r>
            <a:r>
              <a:rPr lang="zh-CN" altLang="en-US" dirty="0"/>
              <a:t>条），随机选择</a:t>
            </a:r>
            <a:r>
              <a:rPr lang="en-US" altLang="zh-CN" dirty="0"/>
              <a:t>4</a:t>
            </a:r>
            <a:r>
              <a:rPr lang="zh-CN" altLang="en-US" dirty="0"/>
              <a:t>个特征，构建单棵决策树，重复多次，最后多数投票。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目的：降低特征的维度，进一步防止模型过度拟合。</a:t>
            </a:r>
            <a:endParaRPr lang="en-US" altLang="zh-CN" dirty="0"/>
          </a:p>
        </p:txBody>
      </p:sp>
      <p:graphicFrame>
        <p:nvGraphicFramePr>
          <p:cNvPr id="80" name="表格 63">
            <a:extLst>
              <a:ext uri="{FF2B5EF4-FFF2-40B4-BE49-F238E27FC236}">
                <a16:creationId xmlns:a16="http://schemas.microsoft.com/office/drawing/2014/main" id="{B48C8B28-0229-441E-88EB-8B510156ED7D}"/>
              </a:ext>
            </a:extLst>
          </p:cNvPr>
          <p:cNvGraphicFramePr>
            <a:graphicFrameLocks noGrp="1"/>
          </p:cNvGraphicFramePr>
          <p:nvPr/>
        </p:nvGraphicFramePr>
        <p:xfrm>
          <a:off x="1867589" y="813900"/>
          <a:ext cx="87242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58320310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449103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46449780"/>
                    </a:ext>
                  </a:extLst>
                </a:gridCol>
                <a:gridCol w="916432">
                  <a:extLst>
                    <a:ext uri="{9D8B030D-6E8A-4147-A177-3AD203B41FA5}">
                      <a16:colId xmlns:a16="http://schemas.microsoft.com/office/drawing/2014/main" val="299542365"/>
                    </a:ext>
                  </a:extLst>
                </a:gridCol>
                <a:gridCol w="1405854">
                  <a:extLst>
                    <a:ext uri="{9D8B030D-6E8A-4147-A177-3AD203B41FA5}">
                      <a16:colId xmlns:a16="http://schemas.microsoft.com/office/drawing/2014/main" val="28089320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084197614"/>
                    </a:ext>
                  </a:extLst>
                </a:gridCol>
                <a:gridCol w="1757353">
                  <a:extLst>
                    <a:ext uri="{9D8B030D-6E8A-4147-A177-3AD203B41FA5}">
                      <a16:colId xmlns:a16="http://schemas.microsoft.com/office/drawing/2014/main" val="2470449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胸痛类型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血压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…………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最大心率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是否有心脏病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67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0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997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170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98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191320"/>
                  </a:ext>
                </a:extLst>
              </a:tr>
            </a:tbl>
          </a:graphicData>
        </a:graphic>
      </p:graphicFrame>
      <p:sp>
        <p:nvSpPr>
          <p:cNvPr id="81" name="左大括号 80">
            <a:extLst>
              <a:ext uri="{FF2B5EF4-FFF2-40B4-BE49-F238E27FC236}">
                <a16:creationId xmlns:a16="http://schemas.microsoft.com/office/drawing/2014/main" id="{D9891F99-A2F9-4DD1-A453-0B7BB6B9DFBB}"/>
              </a:ext>
            </a:extLst>
          </p:cNvPr>
          <p:cNvSpPr/>
          <p:nvPr/>
        </p:nvSpPr>
        <p:spPr>
          <a:xfrm>
            <a:off x="1381125" y="1187859"/>
            <a:ext cx="442500" cy="149335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685F39B-8149-4821-81D8-C4C365A2AB83}"/>
              </a:ext>
            </a:extLst>
          </p:cNvPr>
          <p:cNvSpPr txBox="1"/>
          <p:nvPr/>
        </p:nvSpPr>
        <p:spPr>
          <a:xfrm>
            <a:off x="332044" y="1756406"/>
            <a:ext cx="1154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</a:t>
            </a:r>
            <a:r>
              <a:rPr lang="en-US" altLang="zh-CN" dirty="0">
                <a:solidFill>
                  <a:srgbClr val="FF0000"/>
                </a:solidFill>
              </a:rPr>
              <a:t>270</a:t>
            </a:r>
            <a:r>
              <a:rPr lang="zh-CN" altLang="en-US" dirty="0"/>
              <a:t>条</a:t>
            </a: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829F2478-3A24-4E62-B6B6-509A7381C25B}"/>
              </a:ext>
            </a:extLst>
          </p:cNvPr>
          <p:cNvCxnSpPr>
            <a:cxnSpLocks/>
          </p:cNvCxnSpPr>
          <p:nvPr/>
        </p:nvCxnSpPr>
        <p:spPr>
          <a:xfrm flipV="1">
            <a:off x="8695659" y="628538"/>
            <a:ext cx="836009" cy="178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34881CFA-5062-4008-8A60-AC23168CD161}"/>
              </a:ext>
            </a:extLst>
          </p:cNvPr>
          <p:cNvSpPr txBox="1"/>
          <p:nvPr/>
        </p:nvSpPr>
        <p:spPr>
          <a:xfrm>
            <a:off x="9530311" y="416421"/>
            <a:ext cx="1154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共</a:t>
            </a:r>
            <a:r>
              <a:rPr lang="en-US" altLang="zh-CN" dirty="0">
                <a:solidFill>
                  <a:srgbClr val="FF0000"/>
                </a:solidFill>
              </a:rPr>
              <a:t>13</a:t>
            </a:r>
            <a:r>
              <a:rPr lang="zh-CN" altLang="en-US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261267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595156" cy="612864"/>
            <a:chOff x="767557" y="271524"/>
            <a:chExt cx="3595156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77573"/>
              <a:ext cx="3486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随机森林分类效果的影响因素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DE2B9D2-7CDD-4509-8D5D-BE55F66C4AD2}"/>
              </a:ext>
            </a:extLst>
          </p:cNvPr>
          <p:cNvSpPr txBox="1"/>
          <p:nvPr/>
        </p:nvSpPr>
        <p:spPr>
          <a:xfrm>
            <a:off x="1473693" y="1324430"/>
            <a:ext cx="94403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森林中任意两棵树的相关性：相关性越大，森林错误率越大；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森林中每棵树的分类能力：每棵树的分类能力越强，整个森林的错误率越低。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r>
              <a:rPr lang="zh-CN" altLang="en-US" dirty="0"/>
              <a:t>     </a:t>
            </a:r>
            <a:r>
              <a:rPr lang="zh-CN" altLang="en-US" b="1" dirty="0"/>
              <a:t>减少</a:t>
            </a:r>
            <a:r>
              <a:rPr lang="zh-CN" altLang="en-US" dirty="0"/>
              <a:t>特征选择个数</a:t>
            </a:r>
            <a:r>
              <a:rPr lang="en-US" altLang="zh-CN" dirty="0"/>
              <a:t>m</a:t>
            </a:r>
            <a:r>
              <a:rPr lang="zh-CN" altLang="en-US" dirty="0"/>
              <a:t>，树的相关性和分类能力都会</a:t>
            </a:r>
            <a:r>
              <a:rPr lang="zh-CN" altLang="en-US" b="1" dirty="0"/>
              <a:t>降低</a:t>
            </a:r>
            <a:r>
              <a:rPr lang="zh-CN" altLang="en-US" dirty="0"/>
              <a:t>；</a:t>
            </a:r>
            <a:r>
              <a:rPr lang="zh-CN" altLang="en-US" b="1" dirty="0"/>
              <a:t>增大</a:t>
            </a:r>
            <a:r>
              <a:rPr lang="en-US" altLang="zh-CN" dirty="0"/>
              <a:t>m</a:t>
            </a:r>
            <a:r>
              <a:rPr lang="zh-CN" altLang="en-US" dirty="0"/>
              <a:t>，树的相关性和分类能力都会</a:t>
            </a:r>
            <a:r>
              <a:rPr lang="zh-CN" altLang="en-US" b="1" dirty="0"/>
              <a:t>增高</a:t>
            </a:r>
            <a:r>
              <a:rPr lang="zh-CN" altLang="en-US" dirty="0"/>
              <a:t>。所以</a:t>
            </a:r>
            <a:r>
              <a:rPr lang="en-US" altLang="zh-CN" dirty="0"/>
              <a:t>m</a:t>
            </a:r>
            <a:r>
              <a:rPr lang="zh-CN" altLang="en-US" dirty="0"/>
              <a:t>是随机森林中非常重要的参数，一个关键问题就是如何选择最优的</a:t>
            </a:r>
            <a:r>
              <a:rPr lang="en-US" altLang="zh-CN" dirty="0"/>
              <a:t>m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53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595156" cy="612864"/>
            <a:chOff x="767557" y="271524"/>
            <a:chExt cx="3595156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77573"/>
              <a:ext cx="34860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OOB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DE2B9D2-7CDD-4509-8D5D-BE55F66C4AD2}"/>
              </a:ext>
            </a:extLst>
          </p:cNvPr>
          <p:cNvSpPr txBox="1"/>
          <p:nvPr/>
        </p:nvSpPr>
        <p:spPr>
          <a:xfrm>
            <a:off x="1473693" y="1378860"/>
            <a:ext cx="944032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选择最优的</a:t>
            </a:r>
            <a:r>
              <a:rPr lang="en-US" altLang="zh-CN" dirty="0"/>
              <a:t>m</a:t>
            </a:r>
            <a:r>
              <a:rPr lang="zh-CN" altLang="en-US" dirty="0"/>
              <a:t>，需要多次取值计算生成森林的误差。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      随机森林的误差可以使用</a:t>
            </a:r>
            <a:r>
              <a:rPr lang="en-US" altLang="zh-CN" dirty="0"/>
              <a:t>OOB</a:t>
            </a:r>
            <a:r>
              <a:rPr lang="zh-CN" altLang="en-US" dirty="0"/>
              <a:t>（</a:t>
            </a:r>
            <a:r>
              <a:rPr lang="en-US" altLang="zh-CN" dirty="0"/>
              <a:t>out-of-bag</a:t>
            </a:r>
            <a:r>
              <a:rPr lang="zh-CN" altLang="en-US" dirty="0"/>
              <a:t>，袋外数据）来计算。比如每次随机抽取</a:t>
            </a:r>
            <a:r>
              <a:rPr lang="en-US" altLang="zh-CN" dirty="0"/>
              <a:t>2/3</a:t>
            </a:r>
            <a:r>
              <a:rPr lang="zh-CN" altLang="en-US" dirty="0"/>
              <a:t>的数据构造决策树，那么还剩下</a:t>
            </a:r>
            <a:r>
              <a:rPr lang="en-US" altLang="zh-CN" dirty="0"/>
              <a:t>1/3</a:t>
            </a:r>
            <a:r>
              <a:rPr lang="zh-CN" altLang="en-US" dirty="0"/>
              <a:t>的数据没有参与决策树的建立，这</a:t>
            </a:r>
            <a:r>
              <a:rPr lang="en-US" altLang="zh-CN" dirty="0"/>
              <a:t>1/3</a:t>
            </a:r>
            <a:r>
              <a:rPr lang="zh-CN" altLang="en-US" dirty="0"/>
              <a:t>数据就叫袋外数据。它可以取代测试集来估计模型的误差。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OOB</a:t>
            </a:r>
            <a:r>
              <a:rPr lang="zh-CN" altLang="en-US" dirty="0"/>
              <a:t>计算误差的方式如下：</a:t>
            </a:r>
            <a:endParaRPr lang="en-US" altLang="zh-CN" dirty="0"/>
          </a:p>
          <a:p>
            <a:pPr marL="1257300" lvl="2" indent="-342900">
              <a:buFont typeface="+mj-lt"/>
              <a:buAutoNum type="arabicPeriod"/>
            </a:pPr>
            <a:r>
              <a:rPr lang="zh-CN" altLang="en-US" dirty="0"/>
              <a:t>对每个样本，计算把它作为</a:t>
            </a:r>
            <a:r>
              <a:rPr lang="en-US" altLang="zh-CN" dirty="0"/>
              <a:t>OOB</a:t>
            </a:r>
            <a:r>
              <a:rPr lang="zh-CN" altLang="en-US" dirty="0"/>
              <a:t>样本的树对它的分类情况（约</a:t>
            </a:r>
            <a:r>
              <a:rPr lang="en-US" altLang="zh-CN" dirty="0"/>
              <a:t>1/3</a:t>
            </a:r>
            <a:r>
              <a:rPr lang="zh-CN" altLang="en-US" dirty="0"/>
              <a:t>的树）；</a:t>
            </a:r>
          </a:p>
          <a:p>
            <a:pPr marL="1257300" lvl="2" indent="-342900">
              <a:buFont typeface="+mj-lt"/>
              <a:buAutoNum type="arabicPeriod"/>
            </a:pPr>
            <a:r>
              <a:rPr lang="zh-CN" altLang="en-US" dirty="0"/>
              <a:t>然后以简单多数投票作为该样本的分类结果；</a:t>
            </a:r>
          </a:p>
          <a:p>
            <a:pPr marL="1257300" lvl="2" indent="-342900">
              <a:buFont typeface="+mj-lt"/>
              <a:buAutoNum type="arabicPeriod"/>
            </a:pPr>
            <a:r>
              <a:rPr lang="zh-CN" altLang="en-US" dirty="0"/>
              <a:t>最后用误分个数占样本总数的比率作为随机森林的</a:t>
            </a:r>
            <a:r>
              <a:rPr lang="en-US" altLang="zh-CN" dirty="0"/>
              <a:t>OOB</a:t>
            </a:r>
            <a:r>
              <a:rPr lang="zh-CN" altLang="en-US" dirty="0"/>
              <a:t>误分率。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en-US" dirty="0"/>
              <a:t>优点：使用</a:t>
            </a:r>
            <a:r>
              <a:rPr lang="en-US" altLang="zh-CN" dirty="0"/>
              <a:t>OOB</a:t>
            </a:r>
            <a:r>
              <a:rPr lang="zh-CN" altLang="en-US" dirty="0"/>
              <a:t>计算随机森林的误差已经被证明是无偏的，所以可以不用准备单独的测试集数据或者进行交叉验证。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776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7376039" y="2695091"/>
            <a:ext cx="310223" cy="7028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7759497" y="2536164"/>
            <a:ext cx="625191" cy="358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338599" y="2036484"/>
            <a:ext cx="830007" cy="531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6096002" y="3126188"/>
            <a:ext cx="438017" cy="2201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  <a:stCxn id="38" idx="6"/>
          </p:cNvCxnSpPr>
          <p:nvPr/>
        </p:nvCxnSpPr>
        <p:spPr>
          <a:xfrm flipV="1">
            <a:off x="3458899" y="3397943"/>
            <a:ext cx="1277462" cy="32019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/>
            <a:stCxn id="44" idx="6"/>
          </p:cNvCxnSpPr>
          <p:nvPr/>
        </p:nvCxnSpPr>
        <p:spPr>
          <a:xfrm>
            <a:off x="2647765" y="3423497"/>
            <a:ext cx="748340" cy="2823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4750593" y="3414667"/>
            <a:ext cx="767432" cy="6617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5619211" y="3346326"/>
            <a:ext cx="397187" cy="70232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458858" y="2373867"/>
            <a:ext cx="188687" cy="711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720116" y="3070553"/>
            <a:ext cx="595085" cy="391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  <a:stCxn id="21" idx="2"/>
          </p:cNvCxnSpPr>
          <p:nvPr/>
        </p:nvCxnSpPr>
        <p:spPr>
          <a:xfrm>
            <a:off x="8796303" y="3718142"/>
            <a:ext cx="823949" cy="66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  <a:endCxn id="21" idx="6"/>
          </p:cNvCxnSpPr>
          <p:nvPr/>
        </p:nvCxnSpPr>
        <p:spPr>
          <a:xfrm flipV="1">
            <a:off x="8115302" y="3718142"/>
            <a:ext cx="538199" cy="69498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7353302" y="3445058"/>
            <a:ext cx="742950" cy="96806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043941" y="1981982"/>
            <a:ext cx="714925" cy="4529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4426138" y="2040891"/>
            <a:ext cx="614743" cy="5273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859842" y="2128256"/>
            <a:ext cx="510834" cy="21828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 flipH="1">
            <a:off x="9168606" y="19467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 flipH="1">
            <a:off x="82448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 flipH="1">
            <a:off x="8653501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 flipH="1">
            <a:off x="8139151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椭圆 22"/>
          <p:cNvSpPr/>
          <p:nvPr/>
        </p:nvSpPr>
        <p:spPr>
          <a:xfrm flipH="1">
            <a:off x="7844121" y="1907025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4" name="椭圆 23"/>
          <p:cNvSpPr/>
          <p:nvPr/>
        </p:nvSpPr>
        <p:spPr>
          <a:xfrm flipH="1">
            <a:off x="10293810" y="2872020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5" name="椭圆 24"/>
          <p:cNvSpPr/>
          <p:nvPr/>
        </p:nvSpPr>
        <p:spPr>
          <a:xfrm flipH="1">
            <a:off x="7659991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6" name="椭圆 25"/>
          <p:cNvSpPr/>
          <p:nvPr/>
        </p:nvSpPr>
        <p:spPr>
          <a:xfrm flipH="1">
            <a:off x="9493061" y="3747251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7" name="椭圆 26"/>
          <p:cNvSpPr/>
          <p:nvPr/>
        </p:nvSpPr>
        <p:spPr>
          <a:xfrm flipH="1">
            <a:off x="8695659" y="4601588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8" name="椭圆 27"/>
          <p:cNvSpPr/>
          <p:nvPr/>
        </p:nvSpPr>
        <p:spPr>
          <a:xfrm flipH="1">
            <a:off x="6370676" y="22751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9" name="椭圆 28"/>
          <p:cNvSpPr/>
          <p:nvPr/>
        </p:nvSpPr>
        <p:spPr>
          <a:xfrm flipH="1">
            <a:off x="6939444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0" name="椭圆 29"/>
          <p:cNvSpPr/>
          <p:nvPr/>
        </p:nvSpPr>
        <p:spPr>
          <a:xfrm flipH="1">
            <a:off x="7066444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1" name="椭圆 30"/>
          <p:cNvSpPr/>
          <p:nvPr/>
        </p:nvSpPr>
        <p:spPr>
          <a:xfrm flipH="1">
            <a:off x="6472276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2" name="椭圆 31"/>
          <p:cNvSpPr/>
          <p:nvPr/>
        </p:nvSpPr>
        <p:spPr>
          <a:xfrm flipH="1">
            <a:off x="7991605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椭圆 32"/>
          <p:cNvSpPr/>
          <p:nvPr/>
        </p:nvSpPr>
        <p:spPr>
          <a:xfrm flipH="1">
            <a:off x="7177565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4" name="椭圆 33"/>
          <p:cNvSpPr/>
          <p:nvPr/>
        </p:nvSpPr>
        <p:spPr>
          <a:xfrm flipH="1">
            <a:off x="7634479" y="4808572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5" name="椭圆 34"/>
          <p:cNvSpPr/>
          <p:nvPr/>
        </p:nvSpPr>
        <p:spPr>
          <a:xfrm flipH="1">
            <a:off x="9273325" y="2936236"/>
            <a:ext cx="258343" cy="25834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6" name="椭圆 35"/>
          <p:cNvSpPr/>
          <p:nvPr/>
        </p:nvSpPr>
        <p:spPr>
          <a:xfrm flipH="1">
            <a:off x="1948919" y="3122533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3617532" y="245548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3316097" y="3646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2821120" y="22263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3830447" y="14750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281681" y="1663512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4816379" y="133044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273017" y="2541970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2468373" y="3333801"/>
            <a:ext cx="179392" cy="17939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737953" y="2006367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018220" y="19088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891220" y="461391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497322" y="4027741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3946298" y="4344763"/>
            <a:ext cx="174497" cy="17449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5328345" y="3001170"/>
            <a:ext cx="189366" cy="18936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4684799" y="3334296"/>
            <a:ext cx="250036" cy="2500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2881794" y="4107238"/>
            <a:ext cx="142802" cy="142802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3" name="椭圆 52"/>
          <p:cNvSpPr/>
          <p:nvPr/>
        </p:nvSpPr>
        <p:spPr>
          <a:xfrm flipH="1">
            <a:off x="5953829" y="1074394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4058042" y="3837486"/>
            <a:ext cx="154736" cy="15473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 flipH="1">
            <a:off x="5931590" y="3184050"/>
            <a:ext cx="250036" cy="25003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6" name="椭圆 55"/>
          <p:cNvSpPr/>
          <p:nvPr/>
        </p:nvSpPr>
        <p:spPr>
          <a:xfrm flipH="1">
            <a:off x="6566517" y="3001281"/>
            <a:ext cx="214413" cy="214413"/>
          </a:xfrm>
          <a:prstGeom prst="ellipse">
            <a:avLst/>
          </a:prstGeom>
          <a:solidFill>
            <a:srgbClr val="F7F7F7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6216884" y="4761535"/>
            <a:ext cx="218908" cy="218908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7039536" y="1481082"/>
            <a:ext cx="208552" cy="208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cxnSp>
        <p:nvCxnSpPr>
          <p:cNvPr id="59" name="直接连接符 58"/>
          <p:cNvCxnSpPr>
            <a:cxnSpLocks/>
            <a:endCxn id="40" idx="3"/>
          </p:cNvCxnSpPr>
          <p:nvPr/>
        </p:nvCxnSpPr>
        <p:spPr>
          <a:xfrm flipV="1">
            <a:off x="2953195" y="1596930"/>
            <a:ext cx="898165" cy="6520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cxnSpLocks/>
            <a:stCxn id="43" idx="0"/>
            <a:endCxn id="40" idx="5"/>
          </p:cNvCxnSpPr>
          <p:nvPr/>
        </p:nvCxnSpPr>
        <p:spPr>
          <a:xfrm flipH="1" flipV="1">
            <a:off x="3952336" y="1596930"/>
            <a:ext cx="410377" cy="94504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0" y="-19050"/>
            <a:ext cx="12192000" cy="6858000"/>
          </a:xfrm>
          <a:prstGeom prst="rect">
            <a:avLst/>
          </a:prstGeom>
          <a:solidFill>
            <a:srgbClr val="ECECEC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A26E16C-4BFC-47EA-88C2-A0A4F86DA12E}"/>
              </a:ext>
            </a:extLst>
          </p:cNvPr>
          <p:cNvGrpSpPr/>
          <p:nvPr/>
        </p:nvGrpSpPr>
        <p:grpSpPr>
          <a:xfrm>
            <a:off x="767557" y="271524"/>
            <a:ext cx="3404400" cy="612864"/>
            <a:chOff x="767557" y="271524"/>
            <a:chExt cx="3404400" cy="612864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71907B32-C549-42A2-A439-B8F354C1A1AA}"/>
                </a:ext>
              </a:extLst>
            </p:cNvPr>
            <p:cNvSpPr txBox="1"/>
            <p:nvPr/>
          </p:nvSpPr>
          <p:spPr>
            <a:xfrm>
              <a:off x="876640" y="389225"/>
              <a:ext cx="32953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随机森林的优缺点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736223F1-26A5-41BA-B481-07AF825BEE3F}"/>
                </a:ext>
              </a:extLst>
            </p:cNvPr>
            <p:cNvSpPr/>
            <p:nvPr/>
          </p:nvSpPr>
          <p:spPr>
            <a:xfrm>
              <a:off x="767557" y="271524"/>
              <a:ext cx="90035" cy="612864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FB4C8CB-130E-4494-B163-BB717B603756}"/>
              </a:ext>
            </a:extLst>
          </p:cNvPr>
          <p:cNvGrpSpPr/>
          <p:nvPr/>
        </p:nvGrpSpPr>
        <p:grpSpPr>
          <a:xfrm rot="15532708">
            <a:off x="273083" y="1190122"/>
            <a:ext cx="694476" cy="565057"/>
            <a:chOff x="189132" y="3432549"/>
            <a:chExt cx="990433" cy="805861"/>
          </a:xfrm>
        </p:grpSpPr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71CE41D8-948C-4493-B7FE-D719C9BE1CD2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692E7BA-E7C1-432C-8D2D-20EB0D7F7F1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97363127-DB98-4CDB-8801-2B6E8CD89787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0328CD4C-F990-4199-8069-BB86E9E80FE8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86375189-DFD1-46C0-A537-76679C81D684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0E27BEED-4987-4BCD-AD19-20B999CFFF6B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0BC68C6-87E1-4F36-8614-3922148534AC}"/>
              </a:ext>
            </a:extLst>
          </p:cNvPr>
          <p:cNvGrpSpPr/>
          <p:nvPr/>
        </p:nvGrpSpPr>
        <p:grpSpPr>
          <a:xfrm rot="10245300">
            <a:off x="10476938" y="5647410"/>
            <a:ext cx="694476" cy="565057"/>
            <a:chOff x="189132" y="3432549"/>
            <a:chExt cx="990433" cy="805861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B930C9AB-9892-4E95-8108-D940F9FB109D}"/>
                </a:ext>
              </a:extLst>
            </p:cNvPr>
            <p:cNvCxnSpPr/>
            <p:nvPr/>
          </p:nvCxnSpPr>
          <p:spPr>
            <a:xfrm rot="11174285" flipH="1">
              <a:off x="311114" y="3515865"/>
              <a:ext cx="190563" cy="638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ACFC6557-19A3-4AFE-A9F0-1AC99064E6EB}"/>
                </a:ext>
              </a:extLst>
            </p:cNvPr>
            <p:cNvCxnSpPr/>
            <p:nvPr/>
          </p:nvCxnSpPr>
          <p:spPr>
            <a:xfrm rot="11174285" flipH="1">
              <a:off x="262523" y="3881807"/>
              <a:ext cx="860986" cy="33164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C5F047D2-7ED6-45EB-97A7-99B47515BEF5}"/>
                </a:ext>
              </a:extLst>
            </p:cNvPr>
            <p:cNvCxnSpPr/>
            <p:nvPr/>
          </p:nvCxnSpPr>
          <p:spPr>
            <a:xfrm rot="11174285">
              <a:off x="550844" y="3476915"/>
              <a:ext cx="587028" cy="45504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5335B5C1-72BE-4A9B-9210-68F943C04D2E}"/>
                </a:ext>
              </a:extLst>
            </p:cNvPr>
            <p:cNvSpPr/>
            <p:nvPr/>
          </p:nvSpPr>
          <p:spPr>
            <a:xfrm rot="11174285">
              <a:off x="1067390" y="3905787"/>
              <a:ext cx="112175" cy="11217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C773E185-2D42-4E43-905E-8DA65630703B}"/>
                </a:ext>
              </a:extLst>
            </p:cNvPr>
            <p:cNvSpPr/>
            <p:nvPr/>
          </p:nvSpPr>
          <p:spPr>
            <a:xfrm rot="11174285">
              <a:off x="189132" y="4082061"/>
              <a:ext cx="156349" cy="15634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35FCCB15-AFC4-4986-9E84-EBD871902458}"/>
                </a:ext>
              </a:extLst>
            </p:cNvPr>
            <p:cNvSpPr/>
            <p:nvPr/>
          </p:nvSpPr>
          <p:spPr>
            <a:xfrm rot="11174285">
              <a:off x="520660" y="3432549"/>
              <a:ext cx="89295" cy="89295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937E86E8-CE78-403F-9441-4922E287726C}"/>
              </a:ext>
            </a:extLst>
          </p:cNvPr>
          <p:cNvSpPr txBox="1"/>
          <p:nvPr/>
        </p:nvSpPr>
        <p:spPr>
          <a:xfrm>
            <a:off x="1473693" y="1724480"/>
            <a:ext cx="94403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优点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257300" lvl="2" indent="-342900">
              <a:buFont typeface="+mj-lt"/>
              <a:buAutoNum type="arabicPeriod"/>
            </a:pPr>
            <a:r>
              <a:rPr lang="zh-CN" altLang="en-US" dirty="0"/>
              <a:t>在数据集上表现良好，对噪声数据和缺省值不敏感，准确性和稳定性都比较高；</a:t>
            </a:r>
            <a:endParaRPr lang="en-US" altLang="zh-CN" dirty="0"/>
          </a:p>
          <a:p>
            <a:pPr marL="1257300" lvl="2" indent="-342900">
              <a:buFont typeface="+mj-lt"/>
              <a:buAutoNum type="arabicPeriod"/>
            </a:pPr>
            <a:r>
              <a:rPr lang="zh-CN" altLang="en-US" dirty="0"/>
              <a:t>能够处理高维度数据，不用做特征的降维处理；</a:t>
            </a:r>
            <a:endParaRPr lang="en-US" altLang="zh-CN" dirty="0"/>
          </a:p>
          <a:p>
            <a:pPr marL="1257300" lvl="2" indent="-342900">
              <a:buFont typeface="+mj-lt"/>
              <a:buAutoNum type="arabicPeriod"/>
            </a:pPr>
            <a:r>
              <a:rPr lang="zh-CN" altLang="en-US" dirty="0"/>
              <a:t>随机抽取样本、随机选择特征保证了随机性，所以每棵树都最大可能的进行生长，不剪枝也不容易出现过拟合。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/>
              <a:t>缺点</a:t>
            </a:r>
            <a:r>
              <a:rPr lang="zh-CN" altLang="en-US" dirty="0"/>
              <a:t>：模型复杂，构建和处理速度慢。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1815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38FF3-FE12-46CB-940A-2A5865A41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Boosting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2351451-39F3-4376-82EA-16F07ED3A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272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一族可将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弱学习器</a:t>
                </a:r>
                <a:r>
                  <a:rPr lang="zh-CN" altLang="en-US" sz="2400" dirty="0"/>
                  <a:t>提升为强学习器的算法</a:t>
                </a:r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举个例子，样本分布如下：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Y = G(x)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   1,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&lt;2.5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&gt;2.5</m:t>
                            </m:r>
                          </m:e>
                        </m:eqAr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       </m:t>
                    </m:r>
                  </m:oMath>
                </a14:m>
                <a:r>
                  <a:rPr lang="en-US" altLang="zh-CN" sz="2400" dirty="0"/>
                  <a:t>Y = G(x)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   1,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&lt;8.5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&gt;8.5</m:t>
                            </m:r>
                          </m:e>
                        </m:eqAr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       </m:t>
                    </m:r>
                  </m:oMath>
                </a14:m>
                <a:r>
                  <a:rPr lang="en-US" altLang="zh-CN" sz="2400" dirty="0"/>
                  <a:t>Y = G(x)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&lt;5.5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   1,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&gt;5.5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2351451-39F3-4376-82EA-16F07ED3A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2729"/>
              </a:xfrm>
              <a:blipFill>
                <a:blip r:embed="rId2"/>
                <a:stretch>
                  <a:fillRect l="-812" t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A58DDEC-E3AE-4BA9-BE96-6147DC63A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57174"/>
            <a:ext cx="8003959" cy="1382088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E01BC7A2-793F-4797-8E27-A6D9EC6C2F81}"/>
              </a:ext>
            </a:extLst>
          </p:cNvPr>
          <p:cNvSpPr/>
          <p:nvPr/>
        </p:nvSpPr>
        <p:spPr>
          <a:xfrm>
            <a:off x="2299316" y="1616491"/>
            <a:ext cx="1384917" cy="901592"/>
          </a:xfrm>
          <a:prstGeom prst="ellipse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1B2D3C-4FCC-4EE5-B1F7-260884EACA6C}"/>
              </a:ext>
            </a:extLst>
          </p:cNvPr>
          <p:cNvSpPr txBox="1"/>
          <p:nvPr/>
        </p:nvSpPr>
        <p:spPr>
          <a:xfrm>
            <a:off x="3577701" y="2401269"/>
            <a:ext cx="2157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略优于随机猜测</a:t>
            </a:r>
          </a:p>
        </p:txBody>
      </p:sp>
    </p:spTree>
    <p:extLst>
      <p:ext uri="{BB962C8B-B14F-4D97-AF65-F5344CB8AC3E}">
        <p14:creationId xmlns:p14="http://schemas.microsoft.com/office/powerpoint/2010/main" val="4212391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11B8A-1CC0-4008-8C7B-8A063B40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Boosting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7064F-8586-49B3-9125-DC0FFCA48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4973"/>
          </a:xfrm>
        </p:spPr>
        <p:txBody>
          <a:bodyPr/>
          <a:lstStyle/>
          <a:p>
            <a:r>
              <a:rPr lang="zh-CN" altLang="en-US" dirty="0"/>
              <a:t>基本框架：先从初始训练集训练出一个基学习器，再根据基学习器的表现对训练样本分布进行调整，使得先前基学习器做错的训练样本在后续受到更多关注，然后基于调整后的样本分布来训练下一个基学习器；如此重复进行，直至基学习器数目达到实现指定的值</a:t>
            </a:r>
            <a:r>
              <a:rPr lang="en-US" altLang="zh-CN" dirty="0"/>
              <a:t>T</a:t>
            </a:r>
            <a:r>
              <a:rPr lang="zh-CN" altLang="en-US" dirty="0"/>
              <a:t>，最终将这</a:t>
            </a:r>
            <a:r>
              <a:rPr lang="en-US" altLang="zh-CN" dirty="0"/>
              <a:t>T</a:t>
            </a:r>
            <a:r>
              <a:rPr lang="zh-CN" altLang="en-US" dirty="0"/>
              <a:t>个基学习器进行加权结合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典型算法：</a:t>
            </a:r>
            <a:r>
              <a:rPr lang="en-US" altLang="zh-CN" dirty="0" err="1"/>
              <a:t>Adaboost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上一轮分错的样本权重提高，分对的样本权重降低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indent="0">
              <a:buNone/>
            </a:pPr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pPr marL="0" indent="0">
              <a:buNone/>
            </a:pPr>
            <a:endParaRPr lang="zh-CN" alt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2807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2F831-8396-4CCB-8103-BF48DC2A3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1427A1-403B-4F73-9049-43316CFB8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数据集共有10条数据，根据x的输入得到的y可以分类两类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ea typeface="PingFang SC"/>
              </a:rPr>
              <a:t> 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即y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=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1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（正类）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与y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=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 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  <a:ea typeface="PingFang SC"/>
              </a:rPr>
              <a:t>-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1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（负类）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pPr marL="0" indent="0">
              <a:buNone/>
            </a:pP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ea typeface="PingFang SC"/>
            </a:endParaRP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我们每一轮使用最简单的决策树桩来构建基分类器，即每轮设定一个阈值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θ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，只要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x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&lt;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in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MathJax_Math-italic"/>
              </a:rPr>
              <a:t>θ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，就判定为正类(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或负类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)，x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&gt;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θ就判定为负类(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或正类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 SC"/>
              </a:rPr>
              <a:t>)。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8E1272-A104-439C-AAD9-7D24A7779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003959" cy="138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499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4C06-CA49-4A8A-83DE-A391AB1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en-US" altLang="zh-CN" dirty="0"/>
              <a:t> </a:t>
            </a:r>
            <a:r>
              <a:rPr lang="zh-CN" altLang="en-US" dirty="0"/>
              <a:t>第一轮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先赋予每个样本初始权重</a:t>
                </a:r>
                <a:r>
                  <a:rPr lang="en-US" altLang="zh-CN" dirty="0"/>
                  <a:t>w1(x)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{0.1,0.1,……,0.1}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对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θ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取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-0.5,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0.5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,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.……,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9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.5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,</a:t>
                </a:r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计算这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22</a:t>
                </a:r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种分类方法的错误率，取最小</a:t>
                </a:r>
                <a:endParaRPr lang="en-US" altLang="zh-CN" dirty="0">
                  <a:solidFill>
                    <a:srgbClr val="333333"/>
                  </a:solidFill>
                  <a:latin typeface="Arial" panose="020B0604020202020204" pitchFamily="34" charset="0"/>
                  <a:ea typeface="MathJax_Math-italic"/>
                </a:endParaRPr>
              </a:p>
              <a:p>
                <a:endParaRPr lang="en-US" altLang="zh-CN" dirty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  <a:p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第一轮基分类器</a:t>
                </a:r>
                <a:r>
                  <a:rPr lang="en-US" altLang="zh-CN" dirty="0"/>
                  <a:t>Y1 = G1(x)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&lt;2.5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&gt;2.5</m:t>
                            </m:r>
                          </m:e>
                        </m:eqAr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错误率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1 = 0.3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0FBAEF9-DFE8-42A6-B5A1-DD4BFAC35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63343"/>
            <a:ext cx="8990936" cy="181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56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4C06-CA49-4A8A-83DE-A391AB1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en-US" altLang="zh-CN" dirty="0"/>
              <a:t> </a:t>
            </a:r>
            <a:r>
              <a:rPr lang="zh-CN" altLang="en-US" dirty="0"/>
              <a:t>第一轮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第一轮分类器的系数</a:t>
                </a:r>
                <a:r>
                  <a:rPr lang="el-GR" altLang="zh-CN" dirty="0"/>
                  <a:t>α</a:t>
                </a:r>
                <a:r>
                  <a:rPr lang="en-US" altLang="zh-CN" dirty="0"/>
                  <a:t>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n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ε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dirty="0"/>
                          <m:t>ε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zh-CN" dirty="0"/>
                  <a:t> =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0.4236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更新样本权重分布：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预测错误的样本权重变高，预测正确的样本权重变低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0FBAEF9-DFE8-42A6-B5A1-DD4BFAC35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54877"/>
            <a:ext cx="8990936" cy="18115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C693251-EBCC-47C9-80B4-1731B8367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202" y="4156135"/>
            <a:ext cx="4519891" cy="13469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C7A597-D7E9-4F01-921C-16E8B4195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4083897"/>
            <a:ext cx="6242237" cy="27930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AA41DE-8981-4EDA-AD43-227189299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683" y="4141693"/>
            <a:ext cx="5881513" cy="235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4C06-CA49-4A8A-83DE-A391AB1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en-US" altLang="zh-CN" dirty="0"/>
              <a:t> </a:t>
            </a:r>
            <a:r>
              <a:rPr lang="zh-CN" altLang="en-US" dirty="0"/>
              <a:t>第二轮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更新权重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再次对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θ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取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-0.5,0.5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,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.……,9.5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,</a:t>
                </a:r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计算这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22</a:t>
                </a:r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种分类方法的错误率，取最小</a:t>
                </a:r>
                <a:endParaRPr lang="en-US" altLang="zh-CN" dirty="0">
                  <a:solidFill>
                    <a:srgbClr val="333333"/>
                  </a:solidFill>
                  <a:latin typeface="Arial" panose="020B0604020202020204" pitchFamily="34" charset="0"/>
                  <a:ea typeface="MathJax_Math-italic"/>
                </a:endParaRPr>
              </a:p>
              <a:p>
                <a:endParaRPr lang="en-US" altLang="zh-CN" dirty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  <a:p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第二轮基分类器</a:t>
                </a:r>
                <a:r>
                  <a:rPr lang="en-US" altLang="zh-CN" dirty="0"/>
                  <a:t>Y2 = G2(x)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&lt;8.5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&gt;8.5</m:t>
                            </m:r>
                          </m:e>
                        </m:eqAr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错误率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2 = 0.214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E2912C15-89DF-46E7-8D75-79F89465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392590"/>
            <a:ext cx="9964967" cy="15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78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4C06-CA49-4A8A-83DE-A391AB1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en-US" altLang="zh-CN" dirty="0"/>
              <a:t> </a:t>
            </a:r>
            <a:r>
              <a:rPr lang="zh-CN" altLang="en-US" dirty="0"/>
              <a:t>第二轮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第二轮分类器的系数</a:t>
                </a:r>
                <a:r>
                  <a:rPr lang="el-GR" altLang="zh-CN" dirty="0"/>
                  <a:t>α</a:t>
                </a:r>
                <a:r>
                  <a:rPr lang="en-US" altLang="zh-CN" dirty="0"/>
                  <a:t>2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n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ε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dirty="0"/>
                          <m:t>ε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/>
                  <a:t> =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0.6496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再次更新样本权重分布：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4C693251-EBCC-47C9-80B4-1731B8367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048" y="4760892"/>
            <a:ext cx="4519891" cy="13469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AAF970-E277-4291-8F9C-4D160765F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9"/>
            <a:ext cx="10604117" cy="162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33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4C06-CA49-4A8A-83DE-A391AB1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en-US" altLang="zh-CN" dirty="0"/>
              <a:t> </a:t>
            </a:r>
            <a:r>
              <a:rPr lang="zh-CN" altLang="en-US" dirty="0"/>
              <a:t>第三轮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更新权重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再次对</a:t>
                </a:r>
                <a:r>
                  <a:rPr kumimoji="0" lang="zh-CN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θ</a:t>
                </a:r>
                <a:r>
                  <a:rPr kumimoji="0" lang="zh-CN" altLang="en-US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取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-0.5,0.5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,</a:t>
                </a:r>
                <a:r>
                  <a:rPr kumimoji="0" lang="en-US" altLang="zh-CN" b="0" i="0" u="none" strike="noStrike" cap="none" normalizeH="0" baseline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latin typeface="Arial" panose="020B0604020202020204" pitchFamily="34" charset="0"/>
                    <a:ea typeface="MathJax_Math-italic"/>
                  </a:rPr>
                  <a:t>.……,9.5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,</a:t>
                </a:r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计算这</a:t>
                </a:r>
                <a:r>
                  <a:rPr lang="en-US" altLang="zh-CN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22</a:t>
                </a:r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  <a:ea typeface="MathJax_Math-italic"/>
                  </a:rPr>
                  <a:t>种分类方法的错误率，取最小</a:t>
                </a:r>
                <a:endParaRPr lang="en-US" altLang="zh-CN" dirty="0">
                  <a:solidFill>
                    <a:srgbClr val="333333"/>
                  </a:solidFill>
                  <a:latin typeface="Arial" panose="020B0604020202020204" pitchFamily="34" charset="0"/>
                  <a:ea typeface="MathJax_Math-italic"/>
                </a:endParaRPr>
              </a:p>
              <a:p>
                <a:endParaRPr lang="en-US" altLang="zh-CN" dirty="0">
                  <a:solidFill>
                    <a:srgbClr val="333333"/>
                  </a:solidFill>
                  <a:latin typeface="Arial" panose="020B0604020202020204" pitchFamily="34" charset="0"/>
                </a:endParaRPr>
              </a:p>
              <a:p>
                <a:r>
                  <a:rPr lang="zh-CN" altLang="en-US" dirty="0">
                    <a:solidFill>
                      <a:srgbClr val="333333"/>
                    </a:solidFill>
                    <a:latin typeface="Arial" panose="020B0604020202020204" pitchFamily="34" charset="0"/>
                  </a:rPr>
                  <a:t>第三轮基分类器</a:t>
                </a:r>
                <a:r>
                  <a:rPr lang="en-US" altLang="zh-CN" dirty="0"/>
                  <a:t>Y3 = G3(x)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&lt;5.5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   1,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&gt;5.5</m:t>
                            </m:r>
                          </m:e>
                        </m:eqAr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错误率</a:t>
                </a:r>
                <a:r>
                  <a:rPr lang="el-GR" altLang="zh-CN" dirty="0"/>
                  <a:t>ε</a:t>
                </a:r>
                <a:r>
                  <a:rPr lang="en-US" altLang="zh-CN" dirty="0"/>
                  <a:t>3 = 0.182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4D94AE3-C337-4368-872E-E8551597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2676"/>
            <a:ext cx="10207548" cy="1568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23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54C06-CA49-4A8A-83DE-A391AB1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r>
              <a:rPr lang="en-US" altLang="zh-CN" dirty="0"/>
              <a:t> </a:t>
            </a:r>
            <a:r>
              <a:rPr lang="zh-CN" altLang="en-US" dirty="0"/>
              <a:t>第三轮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第三轮分类器的系数</a:t>
                </a:r>
                <a:r>
                  <a:rPr lang="el-GR" altLang="zh-CN" dirty="0"/>
                  <a:t>α</a:t>
                </a:r>
                <a:r>
                  <a:rPr lang="en-US" altLang="zh-CN" dirty="0"/>
                  <a:t>3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n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nor/>
                          </m:rPr>
                          <a:rPr lang="el-GR" altLang="zh-CN" dirty="0"/>
                          <m:t>ε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altLang="zh-CN" dirty="0"/>
                          <m:t>ε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/>
                  <a:t> =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0.752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基分类器构造停止（什么时候停？）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E3524A-4903-4E47-AE4E-F759EBB50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57C74AE-6D56-4235-AD2F-12781AA79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91211"/>
            <a:ext cx="10257505" cy="256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11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90CF9A-65E8-4727-9C6E-CFBCB905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最终结果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1C784F-1423-42E3-AECF-9CEA50FDA0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sz="2400" dirty="0"/>
                  <a:t>Y1 = G1(x)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   1, 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&lt;2.5</m:t>
                            </m:r>
                          </m:e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&gt;2.5</m:t>
                            </m:r>
                          </m:e>
                        </m:eqAr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Y2 = G2(x)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   1,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&lt;8.5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&gt;8.5</m:t>
                            </m:r>
                          </m:e>
                        </m:eqAr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Y3 = G3(x)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−1, 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&lt;5.5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   1,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&gt;5.5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el-GR" altLang="zh-CN" sz="2400" dirty="0"/>
                  <a:t>α</a:t>
                </a:r>
                <a:r>
                  <a:rPr lang="en-US" altLang="zh-CN" sz="2400" dirty="0"/>
                  <a:t>1 = 0.4236, </a:t>
                </a:r>
                <a:r>
                  <a:rPr lang="el-GR" altLang="zh-CN" sz="2400" dirty="0"/>
                  <a:t>α</a:t>
                </a:r>
                <a:r>
                  <a:rPr lang="en-US" altLang="zh-CN" sz="2400" dirty="0"/>
                  <a:t>2 =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0.6496,</a:t>
                </a:r>
                <a:r>
                  <a:rPr lang="zh-CN" altLang="en-US" sz="2400" dirty="0"/>
                  <a:t> </a:t>
                </a:r>
                <a:r>
                  <a:rPr lang="el-GR" altLang="zh-CN" sz="2400" dirty="0"/>
                  <a:t>α</a:t>
                </a:r>
                <a:r>
                  <a:rPr lang="en-US" altLang="zh-CN" sz="2400" dirty="0"/>
                  <a:t> =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0.752</a:t>
                </a:r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F(x) = sign( </a:t>
                </a:r>
                <a:r>
                  <a:rPr lang="el-GR" altLang="zh-CN" sz="2400" dirty="0"/>
                  <a:t>α</a:t>
                </a:r>
                <a:r>
                  <a:rPr lang="en-US" altLang="zh-CN" sz="2400" dirty="0"/>
                  <a:t>1·G1(x) + </a:t>
                </a:r>
                <a:r>
                  <a:rPr lang="el-GR" altLang="zh-CN" sz="2400" dirty="0"/>
                  <a:t>α</a:t>
                </a:r>
                <a:r>
                  <a:rPr lang="en-US" altLang="zh-CN" sz="2400" dirty="0"/>
                  <a:t>2·G2(x) + </a:t>
                </a:r>
                <a:r>
                  <a:rPr lang="el-GR" altLang="zh-CN" sz="2400" dirty="0"/>
                  <a:t>α</a:t>
                </a:r>
                <a:r>
                  <a:rPr lang="en-US" altLang="zh-CN" sz="2400" dirty="0"/>
                  <a:t>3·G3(x) )	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准确率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100%</a:t>
                </a:r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1C784F-1423-42E3-AECF-9CEA50FDA0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02B7F97-24FF-4C0E-BA33-0C86574C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10683"/>
            <a:ext cx="8325892" cy="206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50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BD02F-F32E-4C47-A1DB-47FB3A28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Adaboost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5D95E5-86D8-4C03-99FF-E84E716FE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b="0" i="0" dirty="0">
                <a:solidFill>
                  <a:srgbClr val="333333"/>
                </a:solidFill>
                <a:effectLst/>
                <a:latin typeface="PingFang SC"/>
              </a:rPr>
              <a:t>        在训练过程中，每个新的模型都会基于前一个模型的表现结果进行调整，这也就是为什么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PingFang SC"/>
              </a:rPr>
              <a:t>AdaBoost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PingFang SC"/>
              </a:rPr>
              <a:t>是自适应（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PingFang SC"/>
              </a:rPr>
              <a:t>adaptive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PingFang SC"/>
              </a:rPr>
              <a:t>）的原因，即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PingFang SC"/>
              </a:rPr>
              <a:t>AdaBoost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PingFang SC"/>
              </a:rPr>
              <a:t>可以自动适应每个基学习器的准确率。</a:t>
            </a:r>
            <a:endParaRPr lang="en-US" altLang="zh-CN" sz="2400" b="0" i="0" dirty="0">
              <a:solidFill>
                <a:srgbClr val="333333"/>
              </a:solidFill>
              <a:effectLst/>
              <a:latin typeface="PingFang SC"/>
            </a:endParaRPr>
          </a:p>
          <a:p>
            <a:endParaRPr lang="en-US" altLang="zh-CN" dirty="0">
              <a:solidFill>
                <a:srgbClr val="333333"/>
              </a:solidFill>
              <a:latin typeface="PingFang SC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94A53C-22A1-4723-AAAF-88CEF777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79" y="2826623"/>
            <a:ext cx="10416925" cy="366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79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8037E-5F4D-4FF6-AA21-54D6105D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Boosting</a:t>
            </a:r>
            <a:r>
              <a:rPr lang="zh-CN" altLang="en-US" dirty="0"/>
              <a:t>与</a:t>
            </a:r>
            <a:r>
              <a:rPr lang="en-US" altLang="zh-CN" dirty="0"/>
              <a:t>Bagging</a:t>
            </a:r>
            <a:r>
              <a:rPr lang="zh-CN" altLang="en-US" dirty="0"/>
              <a:t>比较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91A836-CF04-478E-AEFB-C991BAD5D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954" y="1775534"/>
            <a:ext cx="10700507" cy="4509856"/>
          </a:xfrm>
        </p:spPr>
      </p:pic>
    </p:spTree>
    <p:extLst>
      <p:ext uri="{BB962C8B-B14F-4D97-AF65-F5344CB8AC3E}">
        <p14:creationId xmlns:p14="http://schemas.microsoft.com/office/powerpoint/2010/main" val="573524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B9DEE48-6B5A-4B23-A56F-65B7B54D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zh-CN" altLang="en-US" sz="5400" dirty="0"/>
              <a:t>谢谢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640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2218</Words>
  <Application>Microsoft Office PowerPoint</Application>
  <PresentationFormat>宽屏</PresentationFormat>
  <Paragraphs>316</Paragraphs>
  <Slides>32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MicrosoftYaHei-Bold</vt:lpstr>
      <vt:lpstr>PingFang SC</vt:lpstr>
      <vt:lpstr>等线</vt:lpstr>
      <vt:lpstr>微软雅黑</vt:lpstr>
      <vt:lpstr>Arial</vt:lpstr>
      <vt:lpstr>Calibri</vt:lpstr>
      <vt:lpstr>Cambria Math</vt:lpstr>
      <vt:lpstr>Wingdings</vt:lpstr>
      <vt:lpstr>Office 主题</vt:lpstr>
      <vt:lpstr>集成学习</vt:lpstr>
      <vt:lpstr>集成学习</vt:lpstr>
      <vt:lpstr>PowerPoint 演示文稿</vt:lpstr>
      <vt:lpstr>结合策略</vt:lpstr>
      <vt:lpstr>为什么要进行集成？</vt:lpstr>
      <vt:lpstr>集成会更好吗？</vt:lpstr>
      <vt:lpstr>集成会更好吗？</vt:lpstr>
      <vt:lpstr>准确性与多样性——好而不同</vt:lpstr>
      <vt:lpstr>两类集成学习方法</vt:lpstr>
      <vt:lpstr>Bagging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Boosting</vt:lpstr>
      <vt:lpstr>Boosting</vt:lpstr>
      <vt:lpstr>Adaboost</vt:lpstr>
      <vt:lpstr>Adaboost 第一轮</vt:lpstr>
      <vt:lpstr>Adaboost 第一轮</vt:lpstr>
      <vt:lpstr>Adaboost 第二轮</vt:lpstr>
      <vt:lpstr>Adaboost 第二轮</vt:lpstr>
      <vt:lpstr>Adaboost 第三轮</vt:lpstr>
      <vt:lpstr>Adaboost 第三轮</vt:lpstr>
      <vt:lpstr>最终结果</vt:lpstr>
      <vt:lpstr>Adaboost</vt:lpstr>
      <vt:lpstr>Boosting与Bagging比较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Boosting简介</dc:title>
  <dc:creator>苏振华</dc:creator>
  <cp:lastModifiedBy>lf</cp:lastModifiedBy>
  <cp:revision>50</cp:revision>
  <dcterms:created xsi:type="dcterms:W3CDTF">2021-03-15T13:48:13Z</dcterms:created>
  <dcterms:modified xsi:type="dcterms:W3CDTF">2024-05-14T10:09:04Z</dcterms:modified>
</cp:coreProperties>
</file>